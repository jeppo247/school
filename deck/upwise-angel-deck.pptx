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Jesse, founder of Upwise. In the next ten minutes I want to show you a business that I think is the clearest consumer opportunity in Australian education in a generation. Let's start with the problem every Australian parent already knows.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Imagine a parent sitting at the kitchen table. Their Year 3 child hands them a report card that says 'Developing — needs additional support.' They call the school. The teacher is managing 28 kids with one aide and has no time for intervention. This isn't hypothetical. 35% of Australian parents already pay for tutoring to close the gap. They're not buying ambition. They're buying reassurance that their child won't be left behind.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what this slide is not. It's not a hockey-stick forecast or a TAM calculation from a McKinsey report. It's the money Australian parents are spending right now, today, on supplemental learning that isn't built for them. Our job is redirection, not creation.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Bloom's 2-Sigma Problem, 1984: one-on-one mastery tutoring produces outcomes that classroom teaching can't match. We've known this for forty years. We couldn't do anything about it because one tutor per child wasn't economical. That changed, quietly, in the last eighteen months.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a day. Adaptive. Mastery-based. The kid can't jump ahead until they've actually understood. Which means every session builds on solid ground — no accumulating gaps.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deliberate bet. We're not replacing parents. We're not replacing teachers. We're giving parents the one thing they've always lacked: a map. What to say when their child is stuck. What to reinforce at dinner. Where the real gap is. The research — Bloom, Kulik, RAND, the 2025 meta-analysis — consistently finds the strongest outcomes come from AI-plus-human, not AI-alone.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credibility isn't 'we built an AI.' Our credibility is a forty-year research lineage that four generations of learning scientists agree on. Upwise is the first Australian operationalisation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the quadrant Upwise sits in. Now look at how empty it is. Not because it's a bad quadrant — because no Australian incumbent has built for it. Cluey is losing money doing 1:1 human. Kumon is still running physical franchises in 2026. The IXLs and Mathletics of the world won't even look at you as a parent. That's our wedge.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17,000 families. In a country with 1.52 million primary-age households, of which 380,000 already pay for tutoring. This is not a moonshot. This is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parent we've spoken to has the same question: is it safe? Is it just more screen time? Is it going to replace me as the parent? Our answer, on each: closed system, twenty minutes, parent-guided. Not a chatbot. Not an ad-driven app. Not a babysitter.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Founder to draft based on actual numbers. Include: waitlist size + growth rate, CAC / organic acquisition from waitlist campaigns, paid or organic channel tests, beta / early-user signals (session engagement, retention, parent NPS), LOIs, teacher/school conversations, advisor endorsements, press or inbound interest. Be honest — angels reward precision about early signals more than puffed-up vanity metrics.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Founder-specific. Include: founder bio (1–2 lines) why you can build this, any co-founders (name, role, one-line credential), any advisors or angel commitments already (edtech, consumer subscription, AU education), key hires planned with this round. Angels invest in people. Be specific about why you, why now, why this.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ask. Here's what it funds. Here's what you get back — not in dollar terms, though I'm happy to walk through projections. In impact terms, this funds the build and the first 12 months of disciplined growth. A generation of Australian kids that don't fall behind. That's the thing worth building.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457200" y="2286000"/>
            <a:ext cx="8229600" cy="1371600"/>
          </a:xfrm>
          <a:prstGeom prst="rect">
            <a:avLst/>
          </a:prstGeom>
          <a:noFill/>
        </p:spPr>
        <p:txBody>
          <a:bodyPr wrap="square">
            <a:spAutoFit/>
          </a:bodyPr>
          <a:lstStyle/>
          <a:p>
            <a:pPr>
              <a:defRPr sz="6600" b="1">
                <a:solidFill>
                  <a:srgbClr val="FAFAFA"/>
                </a:solidFill>
              </a:defRPr>
            </a:pPr>
            <a:r>
              <a:t>Upwise</a:t>
            </a:r>
          </a:p>
        </p:txBody>
      </p:sp>
      <p:sp>
        <p:nvSpPr>
          <p:cNvPr id="3" name="TextBox 2"/>
          <p:cNvSpPr txBox="1"/>
          <p:nvPr/>
        </p:nvSpPr>
        <p:spPr>
          <a:xfrm>
            <a:off x="457200" y="3840480"/>
            <a:ext cx="8229600" cy="1828800"/>
          </a:xfrm>
          <a:prstGeom prst="rect">
            <a:avLst/>
          </a:prstGeom>
          <a:noFill/>
        </p:spPr>
        <p:txBody>
          <a:bodyPr wrap="square">
            <a:spAutoFit/>
          </a:bodyPr>
          <a:lstStyle/>
          <a:p>
            <a:pPr>
              <a:lnSpc>
                <a:spcPct val="130000"/>
              </a:lnSpc>
              <a:defRPr sz="2800">
                <a:solidFill>
                  <a:srgbClr val="E1EEFA"/>
                </a:solidFill>
              </a:defRPr>
            </a:pPr>
            <a:r>
              <a:t>Strong foundations in maths and English — built session by session.</a:t>
            </a:r>
          </a:p>
        </p:txBody>
      </p:sp>
      <p:sp>
        <p:nvSpPr>
          <p:cNvPr id="4" name="TextBox 3"/>
          <p:cNvSpPr txBox="1"/>
          <p:nvPr/>
        </p:nvSpPr>
        <p:spPr>
          <a:xfrm>
            <a:off x="457200" y="6217920"/>
            <a:ext cx="8229600" cy="731520"/>
          </a:xfrm>
          <a:prstGeom prst="rect">
            <a:avLst/>
          </a:prstGeom>
          <a:noFill/>
        </p:spPr>
        <p:txBody>
          <a:bodyPr wrap="none">
            <a:spAutoFit/>
          </a:bodyPr>
          <a:lstStyle/>
          <a:p>
            <a:pPr>
              <a:defRPr sz="1200">
                <a:solidFill>
                  <a:srgbClr val="B4BEC8"/>
                </a:solidFill>
              </a:defRPr>
            </a:pPr>
            <a:r>
              <a:t>Jesse [Last Name], Founder · April 2026 · upwise.com.au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548640"/>
          </a:xfrm>
          <a:prstGeom prst="rect">
            <a:avLst/>
          </a:prstGeom>
          <a:noFill/>
        </p:spPr>
        <p:txBody>
          <a:bodyPr wrap="square">
            <a:spAutoFit/>
          </a:bodyPr>
          <a:lstStyle/>
          <a:p>
            <a:pPr>
              <a:defRPr sz="2400" b="1">
                <a:solidFill>
                  <a:srgbClr val="FAFAFA"/>
                </a:solidFill>
              </a:defRPr>
            </a:pPr>
            <a:r>
              <a:t>The Problem: Kitchen Table</a:t>
            </a:r>
          </a:p>
        </p:txBody>
      </p:sp>
      <p:sp>
        <p:nvSpPr>
          <p:cNvPr id="4" name="TextBox 3"/>
          <p:cNvSpPr txBox="1"/>
          <p:nvPr/>
        </p:nvSpPr>
        <p:spPr>
          <a:xfrm>
            <a:off x="914400" y="1188720"/>
            <a:ext cx="3200400" cy="1828800"/>
          </a:xfrm>
          <a:prstGeom prst="rect">
            <a:avLst/>
          </a:prstGeom>
          <a:noFill/>
        </p:spPr>
        <p:txBody>
          <a:bodyPr wrap="square">
            <a:spAutoFit/>
          </a:bodyPr>
          <a:lstStyle/>
          <a:p>
            <a:pPr>
              <a:defRPr sz="6000" b="1">
                <a:solidFill>
                  <a:srgbClr val="F96167"/>
                </a:solidFill>
              </a:defRPr>
            </a:pPr>
            <a:r>
              <a:t>42%</a:t>
            </a:r>
          </a:p>
        </p:txBody>
      </p:sp>
      <p:sp>
        <p:nvSpPr>
          <p:cNvPr id="5" name="TextBox 4"/>
          <p:cNvSpPr txBox="1"/>
          <p:nvPr/>
        </p:nvSpPr>
        <p:spPr>
          <a:xfrm>
            <a:off x="914400" y="2926080"/>
            <a:ext cx="3200400" cy="548640"/>
          </a:xfrm>
          <a:prstGeom prst="rect">
            <a:avLst/>
          </a:prstGeom>
          <a:noFill/>
        </p:spPr>
        <p:txBody>
          <a:bodyPr wrap="none">
            <a:spAutoFit/>
          </a:bodyPr>
          <a:lstStyle/>
          <a:p>
            <a:pPr>
              <a:defRPr sz="1300" b="1">
                <a:solidFill>
                  <a:srgbClr val="475569"/>
                </a:solidFill>
              </a:defRPr>
            </a:pPr>
            <a:r>
              <a:t>of Australian schools teach with qualified teacher shortage</a:t>
            </a:r>
          </a:p>
        </p:txBody>
      </p:sp>
      <p:sp>
        <p:nvSpPr>
          <p:cNvPr id="6" name="TextBox 5"/>
          <p:cNvSpPr txBox="1"/>
          <p:nvPr/>
        </p:nvSpPr>
        <p:spPr>
          <a:xfrm>
            <a:off x="4572000" y="1188720"/>
            <a:ext cx="4114800" cy="4114800"/>
          </a:xfrm>
          <a:prstGeom prst="rect">
            <a:avLst/>
          </a:prstGeom>
          <a:noFill/>
        </p:spPr>
        <p:txBody>
          <a:bodyPr wrap="square">
            <a:spAutoFit/>
          </a:bodyPr>
          <a:lstStyle/>
          <a:p>
            <a:pPr>
              <a:lnSpc>
                <a:spcPct val="120000"/>
              </a:lnSpc>
              <a:spcBef>
                <a:spcPts val="600"/>
              </a:spcBef>
              <a:spcAft>
                <a:spcPts val="1000"/>
              </a:spcAft>
              <a:defRPr sz="1400">
                <a:solidFill>
                  <a:srgbClr val="475569"/>
                </a:solidFill>
              </a:defRPr>
            </a:pPr>
            <a:r>
              <a:t>82% of primary teachers report their job damages their mental health</a:t>
            </a:r>
          </a:p>
          <a:p>
            <a:pPr>
              <a:lnSpc>
                <a:spcPct val="120000"/>
              </a:lnSpc>
              <a:spcBef>
                <a:spcPts val="600"/>
              </a:spcBef>
              <a:spcAft>
                <a:spcPts val="1000"/>
              </a:spcAft>
              <a:defRPr sz="1400">
                <a:solidFill>
                  <a:srgbClr val="475569"/>
                </a:solidFill>
              </a:defRPr>
            </a:pPr>
            <a:r>
              <a:t>1 in 3 Year 3 students below literacy proficiency</a:t>
            </a:r>
          </a:p>
          <a:p>
            <a:pPr>
              <a:lnSpc>
                <a:spcPct val="120000"/>
              </a:lnSpc>
              <a:spcBef>
                <a:spcPts val="600"/>
              </a:spcBef>
              <a:spcAft>
                <a:spcPts val="1000"/>
              </a:spcAft>
              <a:defRPr sz="1400">
                <a:solidFill>
                  <a:srgbClr val="475569"/>
                </a:solidFill>
              </a:defRPr>
            </a:pPr>
            <a:r>
              <a:t>Victoria's A$1.2B catch-up program 'did not significantly improve outcomes' — Auditor-General, 2024. The problem isn't money. It's the delivery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548640"/>
          </a:xfrm>
          <a:prstGeom prst="rect">
            <a:avLst/>
          </a:prstGeom>
          <a:noFill/>
        </p:spPr>
        <p:txBody>
          <a:bodyPr wrap="square">
            <a:spAutoFit/>
          </a:bodyPr>
          <a:lstStyle/>
          <a:p>
            <a:pPr>
              <a:defRPr sz="2400" b="1">
                <a:solidFill>
                  <a:srgbClr val="FAFAFA"/>
                </a:solidFill>
              </a:defRPr>
            </a:pPr>
            <a:r>
              <a:t>The Market: Parents Are Already Paying</a:t>
            </a:r>
          </a:p>
        </p:txBody>
      </p:sp>
      <p:sp>
        <p:nvSpPr>
          <p:cNvPr id="4" name="TextBox 3"/>
          <p:cNvSpPr txBox="1"/>
          <p:nvPr/>
        </p:nvSpPr>
        <p:spPr>
          <a:xfrm>
            <a:off x="640080" y="1097280"/>
            <a:ext cx="7863840" cy="4389120"/>
          </a:xfrm>
          <a:prstGeom prst="rect">
            <a:avLst/>
          </a:prstGeom>
          <a:noFill/>
        </p:spPr>
        <p:txBody>
          <a:bodyPr wrap="square">
            <a:spAutoFit/>
          </a:bodyPr>
          <a:lstStyle/>
          <a:p>
            <a:pPr>
              <a:lnSpc>
                <a:spcPct val="130000"/>
              </a:lnSpc>
              <a:spcBef>
                <a:spcPts val="800"/>
              </a:spcBef>
              <a:spcAft>
                <a:spcPts val="1200"/>
              </a:spcAft>
              <a:defRPr sz="1600">
                <a:solidFill>
                  <a:srgbClr val="475569"/>
                </a:solidFill>
              </a:defRPr>
            </a:pPr>
            <a:r>
              <a:t>A$2.2 billion tutoring market in Australia — nearly doubled in 5 years</a:t>
            </a:r>
          </a:p>
          <a:p>
            <a:pPr>
              <a:lnSpc>
                <a:spcPct val="130000"/>
              </a:lnSpc>
              <a:spcBef>
                <a:spcPts val="800"/>
              </a:spcBef>
              <a:spcAft>
                <a:spcPts val="1200"/>
              </a:spcAft>
              <a:defRPr sz="1600">
                <a:solidFill>
                  <a:srgbClr val="475569"/>
                </a:solidFill>
              </a:defRPr>
            </a:pPr>
            <a:r>
              <a:t>35% of Australian parents pay for tutoring. 18% spend A$100–150 per week</a:t>
            </a:r>
          </a:p>
          <a:p>
            <a:pPr>
              <a:lnSpc>
                <a:spcPct val="130000"/>
              </a:lnSpc>
              <a:spcBef>
                <a:spcPts val="800"/>
              </a:spcBef>
              <a:spcAft>
                <a:spcPts val="1200"/>
              </a:spcAft>
              <a:defRPr sz="1600">
                <a:solidFill>
                  <a:srgbClr val="475569"/>
                </a:solidFill>
              </a:defRPr>
            </a:pPr>
            <a:r>
              <a:t>Kumon: A$160/month per subject (A$3,840/year for Maths + English)</a:t>
            </a:r>
          </a:p>
          <a:p>
            <a:pPr>
              <a:lnSpc>
                <a:spcPct val="130000"/>
              </a:lnSpc>
              <a:spcBef>
                <a:spcPts val="800"/>
              </a:spcBef>
              <a:spcAft>
                <a:spcPts val="1200"/>
              </a:spcAft>
              <a:defRPr sz="1600">
                <a:solidFill>
                  <a:srgbClr val="475569"/>
                </a:solidFill>
              </a:defRPr>
            </a:pPr>
            <a:r>
              <a:t>Cluey: A$45–70/hour for 1:1 online tutors</a:t>
            </a:r>
          </a:p>
          <a:p>
            <a:pPr>
              <a:lnSpc>
                <a:spcPct val="130000"/>
              </a:lnSpc>
              <a:spcBef>
                <a:spcPts val="800"/>
              </a:spcBef>
              <a:spcAft>
                <a:spcPts val="1200"/>
              </a:spcAft>
              <a:defRPr sz="1600">
                <a:solidFill>
                  <a:srgbClr val="475569"/>
                </a:solidFill>
              </a:defRPr>
            </a:pPr>
            <a:r>
              <a:t>Upwise redirects this spend toward a model that actually scales</a:t>
            </a:r>
          </a:p>
        </p:txBody>
      </p:sp>
      <p:sp>
        <p:nvSpPr>
          <p:cNvPr id="5" name="TextBox 4"/>
          <p:cNvSpPr txBox="1"/>
          <p:nvPr/>
        </p:nvSpPr>
        <p:spPr>
          <a:xfrm>
            <a:off x="457200" y="5669280"/>
            <a:ext cx="8229600" cy="640080"/>
          </a:xfrm>
          <a:prstGeom prst="rect">
            <a:avLst/>
          </a:prstGeom>
          <a:noFill/>
        </p:spPr>
        <p:txBody>
          <a:bodyPr wrap="none">
            <a:spAutoFit/>
          </a:bodyPr>
          <a:lstStyle/>
          <a:p>
            <a:pPr>
              <a:defRPr sz="1100" i="1">
                <a:solidFill>
                  <a:srgbClr val="78828C"/>
                </a:solidFill>
              </a:defRPr>
            </a:pPr>
            <a:r>
              <a:t>Note: This is money Australian parents are spending right now, today.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548640"/>
          </a:xfrm>
          <a:prstGeom prst="rect">
            <a:avLst/>
          </a:prstGeom>
          <a:noFill/>
        </p:spPr>
        <p:txBody>
          <a:bodyPr wrap="square">
            <a:spAutoFit/>
          </a:bodyPr>
          <a:lstStyle/>
          <a:p>
            <a:pPr>
              <a:defRPr sz="2400" b="1">
                <a:solidFill>
                  <a:srgbClr val="FAFAFA"/>
                </a:solidFill>
              </a:defRPr>
            </a:pPr>
            <a:r>
              <a:t>Why Now: Three Forces Converging</a:t>
            </a:r>
          </a:p>
        </p:txBody>
      </p:sp>
      <p:sp>
        <p:nvSpPr>
          <p:cNvPr id="4" name="TextBox 3"/>
          <p:cNvSpPr txBox="1"/>
          <p:nvPr/>
        </p:nvSpPr>
        <p:spPr>
          <a:xfrm>
            <a:off x="640080" y="1097280"/>
            <a:ext cx="7863840" cy="4389120"/>
          </a:xfrm>
          <a:prstGeom prst="rect">
            <a:avLst/>
          </a:prstGeom>
          <a:noFill/>
        </p:spPr>
        <p:txBody>
          <a:bodyPr wrap="square">
            <a:spAutoFit/>
          </a:bodyPr>
          <a:lstStyle/>
          <a:p>
            <a:pPr>
              <a:lnSpc>
                <a:spcPct val="130000"/>
              </a:lnSpc>
              <a:spcBef>
                <a:spcPts val="800"/>
              </a:spcBef>
              <a:spcAft>
                <a:spcPts val="1200"/>
              </a:spcAft>
              <a:defRPr sz="1600">
                <a:solidFill>
                  <a:srgbClr val="475569"/>
                </a:solidFill>
              </a:defRPr>
            </a:pPr>
            <a:r>
              <a:t>1. The science: Benjamin Bloom proved 1:1 mastery tutoring produces +2.0 standard deviations (98th percentile vs classroom average)</a:t>
            </a:r>
          </a:p>
          <a:p>
            <a:pPr>
              <a:lnSpc>
                <a:spcPct val="130000"/>
              </a:lnSpc>
              <a:spcBef>
                <a:spcPts val="800"/>
              </a:spcBef>
              <a:spcAft>
                <a:spcPts val="1200"/>
              </a:spcAft>
              <a:defRPr sz="1600">
                <a:solidFill>
                  <a:srgbClr val="475569"/>
                </a:solidFill>
              </a:defRPr>
            </a:pPr>
            <a:r>
              <a:t>2. The economics: LLM inference costs collapsed 150–1000× in five years (A$60/M tokens → A$0.40–A$2.50)</a:t>
            </a:r>
          </a:p>
          <a:p>
            <a:pPr>
              <a:lnSpc>
                <a:spcPct val="130000"/>
              </a:lnSpc>
              <a:spcBef>
                <a:spcPts val="800"/>
              </a:spcBef>
              <a:spcAft>
                <a:spcPts val="1200"/>
              </a:spcAft>
              <a:defRPr sz="1600">
                <a:solidFill>
                  <a:srgbClr val="475569"/>
                </a:solidFill>
              </a:defRPr>
            </a:pPr>
            <a:r>
              <a:t>3. The adoption: Parents normalised digital-first learning during lockdowns. Willingness to pay for purposeful screen education is at all-time highs</a:t>
            </a:r>
          </a:p>
          <a:p>
            <a:pPr>
              <a:lnSpc>
                <a:spcPct val="130000"/>
              </a:lnSpc>
              <a:spcBef>
                <a:spcPts val="800"/>
              </a:spcBef>
              <a:spcAft>
                <a:spcPts val="1200"/>
              </a:spcAft>
              <a:defRPr sz="1600">
                <a:solidFill>
                  <a:srgbClr val="475569"/>
                </a:solidFill>
              </a:defRPr>
            </a:pPr>
            <a:r>
              <a:t>For 40 years, the 2-Sigma Problem was: we know it works, but can't afford it. That just 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548640"/>
          </a:xfrm>
          <a:prstGeom prst="rect">
            <a:avLst/>
          </a:prstGeom>
          <a:noFill/>
        </p:spPr>
        <p:txBody>
          <a:bodyPr wrap="square">
            <a:spAutoFit/>
          </a:bodyPr>
          <a:lstStyle/>
          <a:p>
            <a:pPr>
              <a:defRPr sz="2400" b="1">
                <a:solidFill>
                  <a:srgbClr val="FAFAFA"/>
                </a:solidFill>
              </a:defRPr>
            </a:pPr>
            <a:r>
              <a:t>What Upwise Does</a:t>
            </a:r>
          </a:p>
        </p:txBody>
      </p:sp>
      <p:sp>
        <p:nvSpPr>
          <p:cNvPr id="4" name="TextBox 3"/>
          <p:cNvSpPr txBox="1"/>
          <p:nvPr/>
        </p:nvSpPr>
        <p:spPr>
          <a:xfrm>
            <a:off x="640080" y="1097280"/>
            <a:ext cx="7863840" cy="4389120"/>
          </a:xfrm>
          <a:prstGeom prst="rect">
            <a:avLst/>
          </a:prstGeom>
          <a:noFill/>
        </p:spPr>
        <p:txBody>
          <a:bodyPr wrap="square">
            <a:spAutoFit/>
          </a:bodyPr>
          <a:lstStyle/>
          <a:p>
            <a:pPr>
              <a:lnSpc>
                <a:spcPct val="130000"/>
              </a:lnSpc>
              <a:spcBef>
                <a:spcPts val="800"/>
              </a:spcBef>
              <a:spcAft>
                <a:spcPts val="1200"/>
              </a:spcAft>
              <a:defRPr sz="1600">
                <a:solidFill>
                  <a:srgbClr val="475569"/>
                </a:solidFill>
              </a:defRPr>
            </a:pPr>
            <a:r>
              <a:t>Diagnose: Adaptive assessment pinpoints exact learning gaps</a:t>
            </a:r>
          </a:p>
          <a:p>
            <a:pPr>
              <a:lnSpc>
                <a:spcPct val="130000"/>
              </a:lnSpc>
              <a:spcBef>
                <a:spcPts val="800"/>
              </a:spcBef>
              <a:spcAft>
                <a:spcPts val="1200"/>
              </a:spcAft>
              <a:defRPr sz="1600">
                <a:solidFill>
                  <a:srgbClr val="475569"/>
                </a:solidFill>
              </a:defRPr>
            </a:pPr>
            <a:r>
              <a:t>Learn: 20 minutes a day. Questions stay in the 80% win-rate sweet spot — challenging enough to grow, easy enough to stay confident</a:t>
            </a:r>
          </a:p>
          <a:p>
            <a:pPr>
              <a:lnSpc>
                <a:spcPct val="130000"/>
              </a:lnSpc>
              <a:spcBef>
                <a:spcPts val="800"/>
              </a:spcBef>
              <a:spcAft>
                <a:spcPts val="1200"/>
              </a:spcAft>
              <a:defRPr sz="1600">
                <a:solidFill>
                  <a:srgbClr val="475569"/>
                </a:solidFill>
              </a:defRPr>
            </a:pPr>
            <a:r>
              <a:t>Master: Skills only lock in after proven mastery. Spaced repetition holds learning in long-term memory</a:t>
            </a:r>
          </a:p>
          <a:p>
            <a:pPr>
              <a:lnSpc>
                <a:spcPct val="130000"/>
              </a:lnSpc>
              <a:spcBef>
                <a:spcPts val="800"/>
              </a:spcBef>
              <a:spcAft>
                <a:spcPts val="1200"/>
              </a:spcAft>
              <a:defRPr sz="1600">
                <a:solidFill>
                  <a:srgbClr val="475569"/>
                </a:solidFill>
              </a:defRPr>
            </a:pPr>
            <a:r>
              <a:t>Scope: Maths, reading, writing, spelling, grammar. Prep–Year 6. ACARA-aligned.</a:t>
            </a:r>
          </a:p>
          <a:p>
            <a:pPr>
              <a:lnSpc>
                <a:spcPct val="130000"/>
              </a:lnSpc>
              <a:spcBef>
                <a:spcPts val="800"/>
              </a:spcBef>
              <a:spcAft>
                <a:spcPts val="1200"/>
              </a:spcAft>
              <a:defRPr sz="1600">
                <a:solidFill>
                  <a:srgbClr val="475569"/>
                </a:solidFill>
              </a:defRPr>
            </a:pPr>
            <a:r>
              <a:t>Pricing: A$39/month single child · A$59/month family (up to 4 children)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548640"/>
          </a:xfrm>
          <a:prstGeom prst="rect">
            <a:avLst/>
          </a:prstGeom>
          <a:noFill/>
        </p:spPr>
        <p:txBody>
          <a:bodyPr wrap="square">
            <a:spAutoFit/>
          </a:bodyPr>
          <a:lstStyle/>
          <a:p>
            <a:pPr>
              <a:defRPr sz="2400" b="1">
                <a:solidFill>
                  <a:srgbClr val="FAFAFA"/>
                </a:solidFill>
              </a:defRPr>
            </a:pPr>
            <a:r>
              <a:t>The Parent Layer: Our Differentiator</a:t>
            </a:r>
          </a:p>
        </p:txBody>
      </p:sp>
      <p:sp>
        <p:nvSpPr>
          <p:cNvPr id="4" name="TextBox 3"/>
          <p:cNvSpPr txBox="1"/>
          <p:nvPr/>
        </p:nvSpPr>
        <p:spPr>
          <a:xfrm>
            <a:off x="640080" y="1097280"/>
            <a:ext cx="7863840" cy="4389120"/>
          </a:xfrm>
          <a:prstGeom prst="rect">
            <a:avLst/>
          </a:prstGeom>
          <a:noFill/>
        </p:spPr>
        <p:txBody>
          <a:bodyPr wrap="square">
            <a:spAutoFit/>
          </a:bodyPr>
          <a:lstStyle/>
          <a:p>
            <a:pPr>
              <a:lnSpc>
                <a:spcPct val="130000"/>
              </a:lnSpc>
              <a:spcBef>
                <a:spcPts val="800"/>
              </a:spcBef>
              <a:spcAft>
                <a:spcPts val="1200"/>
              </a:spcAft>
              <a:defRPr sz="1600">
                <a:solidFill>
                  <a:srgbClr val="475569"/>
                </a:solidFill>
              </a:defRPr>
            </a:pPr>
            <a:r>
              <a:t>Research shows AI tutoring works best paired with a human guide — up to 2 standard deviations above classroom average</a:t>
            </a:r>
          </a:p>
          <a:p>
            <a:pPr>
              <a:lnSpc>
                <a:spcPct val="130000"/>
              </a:lnSpc>
              <a:spcBef>
                <a:spcPts val="800"/>
              </a:spcBef>
              <a:spcAft>
                <a:spcPts val="1200"/>
              </a:spcAft>
              <a:defRPr sz="1600">
                <a:solidFill>
                  <a:srgbClr val="475569"/>
                </a:solidFill>
              </a:defRPr>
            </a:pPr>
            <a:r>
              <a:t>Daily briefing before each session: what your child is working on, what to watch for</a:t>
            </a:r>
          </a:p>
          <a:p>
            <a:pPr>
              <a:lnSpc>
                <a:spcPct val="130000"/>
              </a:lnSpc>
              <a:spcBef>
                <a:spcPts val="800"/>
              </a:spcBef>
              <a:spcAft>
                <a:spcPts val="1200"/>
              </a:spcAft>
              <a:defRPr sz="1600">
                <a:solidFill>
                  <a:srgbClr val="475569"/>
                </a:solidFill>
              </a:defRPr>
            </a:pPr>
            <a:r>
              <a:t>Real-time nudges when they get stuck — with exact wording you can use</a:t>
            </a:r>
          </a:p>
          <a:p>
            <a:pPr>
              <a:lnSpc>
                <a:spcPct val="130000"/>
              </a:lnSpc>
              <a:spcBef>
                <a:spcPts val="800"/>
              </a:spcBef>
              <a:spcAft>
                <a:spcPts val="1200"/>
              </a:spcAft>
              <a:defRPr sz="1600">
                <a:solidFill>
                  <a:srgbClr val="475569"/>
                </a:solidFill>
              </a:defRPr>
            </a:pPr>
            <a:r>
              <a:t>Weekly reports clear enough to share with the classroom teacher</a:t>
            </a:r>
          </a:p>
          <a:p>
            <a:pPr>
              <a:lnSpc>
                <a:spcPct val="130000"/>
              </a:lnSpc>
              <a:spcBef>
                <a:spcPts val="800"/>
              </a:spcBef>
              <a:spcAft>
                <a:spcPts val="1200"/>
              </a:spcAft>
              <a:defRPr sz="1600">
                <a:solidFill>
                  <a:srgbClr val="475569"/>
                </a:solidFill>
              </a:defRPr>
            </a:pPr>
            <a:r>
              <a:t>Every incumbent (Kumon, Mathletics, IXL, Reading Eggs) treats parents as data recipients. None as the guide. This is the empty quadrant — where the research is strongest.</a:t>
            </a:r>
          </a:p>
        </p:txBody>
      </p:sp>
      <p:sp>
        <p:nvSpPr>
          <p:cNvPr id="5" name="TextBox 4"/>
          <p:cNvSpPr txBox="1"/>
          <p:nvPr/>
        </p:nvSpPr>
        <p:spPr>
          <a:xfrm>
            <a:off x="457200" y="5669280"/>
            <a:ext cx="8229600" cy="640080"/>
          </a:xfrm>
          <a:prstGeom prst="rect">
            <a:avLst/>
          </a:prstGeom>
          <a:noFill/>
        </p:spPr>
        <p:txBody>
          <a:bodyPr wrap="none">
            <a:spAutoFit/>
          </a:bodyPr>
          <a:lstStyle/>
          <a:p>
            <a:pPr>
              <a:defRPr sz="1100" i="1">
                <a:solidFill>
                  <a:srgbClr val="78828C"/>
                </a:solidFill>
              </a:defRPr>
            </a:pPr>
            <a:r>
              <a:t>No teaching degree required.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548640"/>
          </a:xfrm>
          <a:prstGeom prst="rect">
            <a:avLst/>
          </a:prstGeom>
          <a:noFill/>
        </p:spPr>
        <p:txBody>
          <a:bodyPr wrap="square">
            <a:spAutoFit/>
          </a:bodyPr>
          <a:lstStyle/>
          <a:p>
            <a:pPr>
              <a:defRPr sz="2400" b="1">
                <a:solidFill>
                  <a:srgbClr val="FAFAFA"/>
                </a:solidFill>
              </a:defRPr>
            </a:pPr>
            <a:r>
              <a:t>The Evidence: Four Decades, Four Studies</a:t>
            </a:r>
          </a:p>
        </p:txBody>
      </p:sp>
      <p:sp>
        <p:nvSpPr>
          <p:cNvPr id="4" name="TextBox 3"/>
          <p:cNvSpPr txBox="1"/>
          <p:nvPr/>
        </p:nvSpPr>
        <p:spPr>
          <a:xfrm>
            <a:off x="640080" y="1097280"/>
            <a:ext cx="7863840" cy="4389120"/>
          </a:xfrm>
          <a:prstGeom prst="rect">
            <a:avLst/>
          </a:prstGeom>
          <a:noFill/>
        </p:spPr>
        <p:txBody>
          <a:bodyPr wrap="square">
            <a:spAutoFit/>
          </a:bodyPr>
          <a:lstStyle/>
          <a:p>
            <a:pPr>
              <a:lnSpc>
                <a:spcPct val="130000"/>
              </a:lnSpc>
              <a:spcBef>
                <a:spcPts val="800"/>
              </a:spcBef>
              <a:spcAft>
                <a:spcPts val="1200"/>
              </a:spcAft>
              <a:defRPr sz="1600">
                <a:solidFill>
                  <a:srgbClr val="475569"/>
                </a:solidFill>
              </a:defRPr>
            </a:pPr>
            <a:r>
              <a:t>Bloom (1984): 1:1 mastery tutoring → +2.0 SD (98th percentile)</a:t>
            </a:r>
          </a:p>
          <a:p>
            <a:pPr>
              <a:lnSpc>
                <a:spcPct val="130000"/>
              </a:lnSpc>
              <a:spcBef>
                <a:spcPts val="800"/>
              </a:spcBef>
              <a:spcAft>
                <a:spcPts val="1200"/>
              </a:spcAft>
              <a:defRPr sz="1600">
                <a:solidFill>
                  <a:srgbClr val="475569"/>
                </a:solidFill>
              </a:defRPr>
            </a:pPr>
            <a:r>
              <a:t>Kulik &amp; Kulik (1990): Meta-analysis of 108 mastery learning studies → +0.4–0.64 SD</a:t>
            </a:r>
          </a:p>
          <a:p>
            <a:pPr>
              <a:lnSpc>
                <a:spcPct val="130000"/>
              </a:lnSpc>
              <a:spcBef>
                <a:spcPts val="800"/>
              </a:spcBef>
              <a:spcAft>
                <a:spcPts val="1200"/>
              </a:spcAft>
              <a:defRPr sz="1600">
                <a:solidFill>
                  <a:srgbClr val="475569"/>
                </a:solidFill>
              </a:defRPr>
            </a:pPr>
            <a:r>
              <a:t>RAND / Carnegie (2014): Cognitive Tutor Algebra RCT → +0.43 SD improvement</a:t>
            </a:r>
          </a:p>
          <a:p>
            <a:pPr>
              <a:lnSpc>
                <a:spcPct val="130000"/>
              </a:lnSpc>
              <a:spcBef>
                <a:spcPts val="800"/>
              </a:spcBef>
              <a:spcAft>
                <a:spcPts val="1200"/>
              </a:spcAft>
              <a:defRPr sz="1600">
                <a:solidFill>
                  <a:srgbClr val="475569"/>
                </a:solidFill>
              </a:defRPr>
            </a:pPr>
            <a:r>
              <a:t>Systematic Review (2025): 48 AI tutoring studies — consistent gains, strongest with human guide</a:t>
            </a:r>
          </a:p>
          <a:p>
            <a:pPr>
              <a:lnSpc>
                <a:spcPct val="130000"/>
              </a:lnSpc>
              <a:spcBef>
                <a:spcPts val="800"/>
              </a:spcBef>
              <a:spcAft>
                <a:spcPts val="1200"/>
              </a:spcAft>
              <a:defRPr sz="1600">
                <a:solidFill>
                  <a:srgbClr val="475569"/>
                </a:solidFill>
              </a:defRPr>
            </a:pPr>
            <a:r>
              <a:t>Upwise is the first Australian operationalisation of forty years of validated learning science.</a:t>
            </a:r>
          </a:p>
        </p:txBody>
      </p:sp>
      <p:sp>
        <p:nvSpPr>
          <p:cNvPr id="5" name="TextBox 4"/>
          <p:cNvSpPr txBox="1"/>
          <p:nvPr/>
        </p:nvSpPr>
        <p:spPr>
          <a:xfrm>
            <a:off x="457200" y="5669280"/>
            <a:ext cx="8229600" cy="640080"/>
          </a:xfrm>
          <a:prstGeom prst="rect">
            <a:avLst/>
          </a:prstGeom>
          <a:noFill/>
        </p:spPr>
        <p:txBody>
          <a:bodyPr wrap="none">
            <a:spAutoFit/>
          </a:bodyPr>
          <a:lstStyle/>
          <a:p>
            <a:pPr>
              <a:defRPr sz="1100" i="1">
                <a:solidFill>
                  <a:srgbClr val="78828C"/>
                </a:solidFill>
              </a:defRPr>
            </a:pPr>
            <a:r>
              <a:t>This isn't experimental. It's proven. Four times over.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7772400" cy="548640"/>
          </a:xfrm>
          <a:prstGeom prst="rect">
            <a:avLst/>
          </a:prstGeom>
          <a:noFill/>
        </p:spPr>
        <p:txBody>
          <a:bodyPr wrap="none">
            <a:spAutoFit/>
          </a:bodyPr>
          <a:lstStyle/>
          <a:p>
            <a:pPr>
              <a:defRPr sz="3200" b="1">
                <a:solidFill>
                  <a:srgbClr val="FAFAFA"/>
                </a:solidFill>
              </a:defRPr>
            </a:pPr>
            <a:r>
              <a:t>Competition: The Empty Quadrant</a:t>
            </a:r>
          </a:p>
        </p:txBody>
      </p:sp>
      <p:cxnSp>
        <p:nvCxnSpPr>
          <p:cNvPr id="4" name="Connector 3"/>
          <p:cNvCxnSpPr/>
          <p:nvPr/>
        </p:nvCxnSpPr>
        <p:spPr>
          <a:xfrm>
            <a:off x="914400" y="3154680.0"/>
            <a:ext cx="7315200" cy="0.0"/>
          </a:xfrm>
          <a:prstGeom prst="line">
            <a:avLst/>
          </a:prstGeom>
          <a:ln w="25400">
            <a:solidFill>
              <a:srgbClr val="47556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0.0" y="1097280"/>
            <a:ext cx="0.0" cy="4114800"/>
          </a:xfrm>
          <a:prstGeom prst="line">
            <a:avLst/>
          </a:prstGeom>
          <a:ln w="25400">
            <a:solidFill>
              <a:srgbClr val="47556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14400" y="3383280"/>
            <a:ext cx="1097280" cy="274320"/>
          </a:xfrm>
          <a:prstGeom prst="rect">
            <a:avLst/>
          </a:prstGeom>
          <a:noFill/>
        </p:spPr>
        <p:txBody>
          <a:bodyPr wrap="none">
            <a:spAutoFit/>
          </a:bodyPr>
          <a:lstStyle/>
          <a:p>
            <a:pPr algn="ctr">
              <a:defRPr sz="1000">
                <a:solidFill>
                  <a:srgbClr val="475569"/>
                </a:solidFill>
              </a:defRPr>
            </a:pPr>
            <a:r>
              <a:t>Breadth-first</a:t>
            </a:r>
          </a:p>
        </p:txBody>
      </p:sp>
      <p:sp>
        <p:nvSpPr>
          <p:cNvPr id="7" name="TextBox 6"/>
          <p:cNvSpPr txBox="1"/>
          <p:nvPr/>
        </p:nvSpPr>
        <p:spPr>
          <a:xfrm>
            <a:off x="7132320" y="3383280"/>
            <a:ext cx="1097280" cy="274320"/>
          </a:xfrm>
          <a:prstGeom prst="rect">
            <a:avLst/>
          </a:prstGeom>
          <a:noFill/>
        </p:spPr>
        <p:txBody>
          <a:bodyPr wrap="none">
            <a:spAutoFit/>
          </a:bodyPr>
          <a:lstStyle/>
          <a:p>
            <a:pPr algn="ctr">
              <a:defRPr sz="1000">
                <a:solidFill>
                  <a:srgbClr val="475569"/>
                </a:solidFill>
              </a:defRPr>
            </a:pPr>
            <a:r>
              <a:t>Mastery-based</a:t>
            </a:r>
          </a:p>
        </p:txBody>
      </p:sp>
      <p:sp>
        <p:nvSpPr>
          <p:cNvPr id="8" name="TextBox 7"/>
          <p:cNvSpPr txBox="1"/>
          <p:nvPr/>
        </p:nvSpPr>
        <p:spPr>
          <a:xfrm>
            <a:off x="3840480" y="4983480"/>
            <a:ext cx="1463040" cy="228600"/>
          </a:xfrm>
          <a:prstGeom prst="rect">
            <a:avLst/>
          </a:prstGeom>
          <a:noFill/>
        </p:spPr>
        <p:txBody>
          <a:bodyPr wrap="none">
            <a:spAutoFit/>
          </a:bodyPr>
          <a:lstStyle/>
          <a:p>
            <a:pPr algn="ctr">
              <a:defRPr sz="900">
                <a:solidFill>
                  <a:srgbClr val="475569"/>
                </a:solidFill>
              </a:defRPr>
            </a:pPr>
            <a:r>
              <a:t>Parent-invisible</a:t>
            </a:r>
          </a:p>
        </p:txBody>
      </p:sp>
      <p:sp>
        <p:nvSpPr>
          <p:cNvPr id="9" name="TextBox 8"/>
          <p:cNvSpPr txBox="1"/>
          <p:nvPr/>
        </p:nvSpPr>
        <p:spPr>
          <a:xfrm>
            <a:off x="3840480" y="822960"/>
            <a:ext cx="1463040" cy="228600"/>
          </a:xfrm>
          <a:prstGeom prst="rect">
            <a:avLst/>
          </a:prstGeom>
          <a:noFill/>
        </p:spPr>
        <p:txBody>
          <a:bodyPr wrap="none">
            <a:spAutoFit/>
          </a:bodyPr>
          <a:lstStyle/>
          <a:p>
            <a:pPr algn="ctr">
              <a:defRPr sz="900">
                <a:solidFill>
                  <a:srgbClr val="475569"/>
                </a:solidFill>
              </a:defRPr>
            </a:pPr>
            <a:r>
              <a:t>Parent-as-guide</a:t>
            </a:r>
          </a:p>
        </p:txBody>
      </p:sp>
      <p:sp>
        <p:nvSpPr>
          <p:cNvPr id="10" name="TextBox 9"/>
          <p:cNvSpPr txBox="1"/>
          <p:nvPr/>
        </p:nvSpPr>
        <p:spPr>
          <a:xfrm>
            <a:off x="1188720" y="3703320"/>
            <a:ext cx="2560320" cy="1097280"/>
          </a:xfrm>
          <a:prstGeom prst="rect">
            <a:avLst/>
          </a:prstGeom>
          <a:noFill/>
        </p:spPr>
        <p:txBody>
          <a:bodyPr wrap="square">
            <a:spAutoFit/>
          </a:bodyPr>
          <a:lstStyle/>
          <a:p>
            <a:pPr>
              <a:lnSpc>
                <a:spcPct val="110000"/>
              </a:lnSpc>
              <a:defRPr sz="900">
                <a:solidFill>
                  <a:srgbClr val="475569"/>
                </a:solidFill>
              </a:defRPr>
            </a:pPr>
            <a:r>
              <a:t>Kumon</a:t>
            </a:r>
            <a:br/>
            <a:r>
              <a:t>Cluey</a:t>
            </a:r>
            <a:br/>
            <a:r>
              <a:t>Matrix</a:t>
            </a:r>
            <a:br/>
            <a:r>
              <a:t>Kip McGrath</a:t>
            </a:r>
            <a:br/>
            <a:r>
              <a:t>Kinetic Education</a:t>
            </a:r>
          </a:p>
        </p:txBody>
      </p:sp>
      <p:sp>
        <p:nvSpPr>
          <p:cNvPr id="11" name="TextBox 10"/>
          <p:cNvSpPr txBox="1"/>
          <p:nvPr/>
        </p:nvSpPr>
        <p:spPr>
          <a:xfrm>
            <a:off x="5029200" y="3703320"/>
            <a:ext cx="2560320" cy="1097280"/>
          </a:xfrm>
          <a:prstGeom prst="rect">
            <a:avLst/>
          </a:prstGeom>
          <a:noFill/>
        </p:spPr>
        <p:txBody>
          <a:bodyPr wrap="square">
            <a:spAutoFit/>
          </a:bodyPr>
          <a:lstStyle/>
          <a:p>
            <a:pPr>
              <a:lnSpc>
                <a:spcPct val="110000"/>
              </a:lnSpc>
              <a:defRPr sz="900">
                <a:solidFill>
                  <a:srgbClr val="475569"/>
                </a:solidFill>
              </a:defRPr>
            </a:pPr>
            <a:r>
              <a:t>Mathspace</a:t>
            </a:r>
            <a:br/>
            <a:r>
              <a:t>Reading Eggs</a:t>
            </a:r>
            <a:br/>
            <a:r>
              <a:t>Mathletics</a:t>
            </a:r>
            <a:br/>
            <a:r>
              <a:t>Prodigy</a:t>
            </a:r>
            <a:br/>
            <a:r>
              <a:t>Matific</a:t>
            </a:r>
          </a:p>
        </p:txBody>
      </p:sp>
      <p:sp>
        <p:nvSpPr>
          <p:cNvPr id="12" name="TextBox 11"/>
          <p:cNvSpPr txBox="1"/>
          <p:nvPr/>
        </p:nvSpPr>
        <p:spPr>
          <a:xfrm>
            <a:off x="1188720" y="1371600"/>
            <a:ext cx="2560320" cy="1097280"/>
          </a:xfrm>
          <a:prstGeom prst="rect">
            <a:avLst/>
          </a:prstGeom>
          <a:noFill/>
        </p:spPr>
        <p:txBody>
          <a:bodyPr wrap="none">
            <a:spAutoFit/>
          </a:bodyPr>
          <a:lstStyle/>
          <a:p>
            <a:pPr>
              <a:defRPr sz="900" i="1">
                <a:solidFill>
                  <a:srgbClr val="B4B4B4"/>
                </a:solidFill>
              </a:defRPr>
            </a:pPr>
            <a:r>
              <a:t>(empty)</a:t>
            </a:r>
          </a:p>
        </p:txBody>
      </p:sp>
      <p:sp>
        <p:nvSpPr>
          <p:cNvPr id="13" name="Rectangle 12"/>
          <p:cNvSpPr/>
          <p:nvPr/>
        </p:nvSpPr>
        <p:spPr>
          <a:xfrm>
            <a:off x="4846320" y="1234440"/>
            <a:ext cx="2103120" cy="731520"/>
          </a:xfrm>
          <a:prstGeom prst="rect">
            <a:avLst/>
          </a:prstGeom>
          <a:solidFill>
            <a:srgbClr val="F96167"/>
          </a:solidFill>
          <a:ln w="19050">
            <a:solidFill>
              <a:srgbClr val="F961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0" y="1325880"/>
            <a:ext cx="1920240" cy="548640"/>
          </a:xfrm>
          <a:prstGeom prst="rect">
            <a:avLst/>
          </a:prstGeom>
          <a:noFill/>
        </p:spPr>
        <p:txBody>
          <a:bodyPr wrap="none">
            <a:spAutoFit/>
          </a:bodyPr>
          <a:lstStyle/>
          <a:p>
            <a:pPr algn="ctr">
              <a:defRPr sz="1400" b="1">
                <a:solidFill>
                  <a:srgbClr val="FAFAFA"/>
                </a:solidFill>
              </a:defRPr>
            </a:pPr>
            <a:r>
              <a:t>UPWISE</a:t>
            </a:r>
          </a:p>
        </p:txBody>
      </p:sp>
      <p:sp>
        <p:nvSpPr>
          <p:cNvPr id="15" name="TextBox 14"/>
          <p:cNvSpPr txBox="1"/>
          <p:nvPr/>
        </p:nvSpPr>
        <p:spPr>
          <a:xfrm>
            <a:off x="640080" y="5486400"/>
            <a:ext cx="7863840" cy="731520"/>
          </a:xfrm>
          <a:prstGeom prst="rect">
            <a:avLst/>
          </a:prstGeom>
          <a:noFill/>
        </p:spPr>
        <p:txBody>
          <a:bodyPr wrap="square">
            <a:spAutoFit/>
          </a:bodyPr>
          <a:lstStyle/>
          <a:p>
            <a:pPr>
              <a:defRPr sz="1000" i="1">
                <a:solidFill>
                  <a:srgbClr val="78828C"/>
                </a:solidFill>
              </a:defRPr>
            </a:pPr>
            <a:r>
              <a:t>Cluey FY25 loss: A$5.5M  |  No Australian incumbent owns parent-as-guide mastery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548640"/>
          </a:xfrm>
          <a:prstGeom prst="rect">
            <a:avLst/>
          </a:prstGeom>
          <a:noFill/>
        </p:spPr>
        <p:txBody>
          <a:bodyPr wrap="square">
            <a:spAutoFit/>
          </a:bodyPr>
          <a:lstStyle/>
          <a:p>
            <a:pPr>
              <a:defRPr sz="2400" b="1">
                <a:solidFill>
                  <a:srgbClr val="FAFAFA"/>
                </a:solidFill>
              </a:defRPr>
            </a:pPr>
            <a:r>
              <a:t>Business Model: Subscription, Software Margins</a:t>
            </a:r>
          </a:p>
        </p:txBody>
      </p:sp>
      <p:sp>
        <p:nvSpPr>
          <p:cNvPr id="4" name="TextBox 3"/>
          <p:cNvSpPr txBox="1"/>
          <p:nvPr/>
        </p:nvSpPr>
        <p:spPr>
          <a:xfrm>
            <a:off x="640080" y="1097280"/>
            <a:ext cx="7863840" cy="4389120"/>
          </a:xfrm>
          <a:prstGeom prst="rect">
            <a:avLst/>
          </a:prstGeom>
          <a:noFill/>
        </p:spPr>
        <p:txBody>
          <a:bodyPr wrap="square">
            <a:spAutoFit/>
          </a:bodyPr>
          <a:lstStyle/>
          <a:p>
            <a:pPr>
              <a:lnSpc>
                <a:spcPct val="130000"/>
              </a:lnSpc>
              <a:spcBef>
                <a:spcPts val="800"/>
              </a:spcBef>
              <a:spcAft>
                <a:spcPts val="1200"/>
              </a:spcAft>
              <a:defRPr sz="1600">
                <a:solidFill>
                  <a:srgbClr val="475569"/>
                </a:solidFill>
              </a:defRPr>
            </a:pPr>
            <a:r>
              <a:t>17,100 families at A$39/single + A$59/family blend = A$10M ARR</a:t>
            </a:r>
          </a:p>
          <a:p>
            <a:pPr>
              <a:lnSpc>
                <a:spcPct val="130000"/>
              </a:lnSpc>
              <a:spcBef>
                <a:spcPts val="800"/>
              </a:spcBef>
              <a:spcAft>
                <a:spcPts val="1200"/>
              </a:spcAft>
              <a:defRPr sz="1600">
                <a:solidFill>
                  <a:srgbClr val="475569"/>
                </a:solidFill>
              </a:defRPr>
            </a:pPr>
            <a:r>
              <a:t>That's just 1.1% of Australia's 1.52M primary-aged households</a:t>
            </a:r>
          </a:p>
          <a:p>
            <a:pPr>
              <a:lnSpc>
                <a:spcPct val="130000"/>
              </a:lnSpc>
              <a:spcBef>
                <a:spcPts val="800"/>
              </a:spcBef>
              <a:spcAft>
                <a:spcPts val="1200"/>
              </a:spcAft>
              <a:defRPr sz="1600">
                <a:solidFill>
                  <a:srgbClr val="475569"/>
                </a:solidFill>
              </a:defRPr>
            </a:pPr>
            <a:r>
              <a:t>Or 4.5% of the 380,000 households already paying for supplemental learning</a:t>
            </a:r>
          </a:p>
          <a:p>
            <a:pPr>
              <a:lnSpc>
                <a:spcPct val="130000"/>
              </a:lnSpc>
              <a:spcBef>
                <a:spcPts val="800"/>
              </a:spcBef>
              <a:spcAft>
                <a:spcPts val="1200"/>
              </a:spcAft>
              <a:defRPr sz="1600">
                <a:solidFill>
                  <a:srgbClr val="475569"/>
                </a:solidFill>
              </a:defRPr>
            </a:pPr>
            <a:r>
              <a:t>Software gross margins: 75–80% (LLM inference cost continues to fall)</a:t>
            </a:r>
          </a:p>
          <a:p>
            <a:pPr>
              <a:lnSpc>
                <a:spcPct val="130000"/>
              </a:lnSpc>
              <a:spcBef>
                <a:spcPts val="800"/>
              </a:spcBef>
              <a:spcAft>
                <a:spcPts val="1200"/>
              </a:spcAft>
              <a:defRPr sz="1600">
                <a:solidFill>
                  <a:srgbClr val="475569"/>
                </a:solidFill>
              </a:defRPr>
            </a:pPr>
            <a:r>
              <a:t>Comparable: 3P Learning (Mathletics) delivered A$110M global revenue on software. Mathspace bootstrapped profitable.</a:t>
            </a:r>
          </a:p>
        </p:txBody>
      </p:sp>
      <p:sp>
        <p:nvSpPr>
          <p:cNvPr id="5" name="TextBox 4"/>
          <p:cNvSpPr txBox="1"/>
          <p:nvPr/>
        </p:nvSpPr>
        <p:spPr>
          <a:xfrm>
            <a:off x="457200" y="5669280"/>
            <a:ext cx="8229600" cy="640080"/>
          </a:xfrm>
          <a:prstGeom prst="rect">
            <a:avLst/>
          </a:prstGeom>
          <a:noFill/>
        </p:spPr>
        <p:txBody>
          <a:bodyPr wrap="none">
            <a:spAutoFit/>
          </a:bodyPr>
          <a:lstStyle/>
          <a:p>
            <a:pPr>
              <a:defRPr sz="1100" i="1">
                <a:solidFill>
                  <a:srgbClr val="78828C"/>
                </a:solidFill>
              </a:defRPr>
            </a:pPr>
            <a:r>
              <a:t>17,000 families. In a country with 1.52M primary households, 380K already pay for tutoring.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548640"/>
          </a:xfrm>
          <a:prstGeom prst="rect">
            <a:avLst/>
          </a:prstGeom>
          <a:noFill/>
        </p:spPr>
        <p:txBody>
          <a:bodyPr wrap="square">
            <a:spAutoFit/>
          </a:bodyPr>
          <a:lstStyle/>
          <a:p>
            <a:pPr>
              <a:defRPr sz="2400" b="1">
                <a:solidFill>
                  <a:srgbClr val="FAFAFA"/>
                </a:solidFill>
              </a:defRPr>
            </a:pPr>
            <a:r>
              <a:t>Safety &amp; Trust</a:t>
            </a:r>
          </a:p>
        </p:txBody>
      </p:sp>
      <p:sp>
        <p:nvSpPr>
          <p:cNvPr id="4" name="TextBox 3"/>
          <p:cNvSpPr txBox="1"/>
          <p:nvPr/>
        </p:nvSpPr>
        <p:spPr>
          <a:xfrm>
            <a:off x="640080" y="1097280"/>
            <a:ext cx="7863840" cy="4389120"/>
          </a:xfrm>
          <a:prstGeom prst="rect">
            <a:avLst/>
          </a:prstGeom>
          <a:noFill/>
        </p:spPr>
        <p:txBody>
          <a:bodyPr wrap="square">
            <a:spAutoFit/>
          </a:bodyPr>
          <a:lstStyle/>
          <a:p>
            <a:pPr>
              <a:lnSpc>
                <a:spcPct val="130000"/>
              </a:lnSpc>
              <a:spcBef>
                <a:spcPts val="800"/>
              </a:spcBef>
              <a:spcAft>
                <a:spcPts val="1200"/>
              </a:spcAft>
              <a:defRPr sz="1600">
                <a:solidFill>
                  <a:srgbClr val="475569"/>
                </a:solidFill>
              </a:defRPr>
            </a:pPr>
            <a:r>
              <a:t>Closed, curriculum-constrained system — no open chat, no ads, no third-party trackers</a:t>
            </a:r>
          </a:p>
          <a:p>
            <a:pPr>
              <a:lnSpc>
                <a:spcPct val="130000"/>
              </a:lnSpc>
              <a:spcBef>
                <a:spcPts val="800"/>
              </a:spcBef>
              <a:spcAft>
                <a:spcPts val="1200"/>
              </a:spcAft>
              <a:defRPr sz="1600">
                <a:solidFill>
                  <a:srgbClr val="475569"/>
                </a:solidFill>
              </a:defRPr>
            </a:pPr>
            <a:r>
              <a:t>20-minute bounded sessions — less screen time than YouTube, designed to end on a win</a:t>
            </a:r>
          </a:p>
          <a:p>
            <a:pPr>
              <a:lnSpc>
                <a:spcPct val="130000"/>
              </a:lnSpc>
              <a:spcBef>
                <a:spcPts val="800"/>
              </a:spcBef>
              <a:spcAft>
                <a:spcPts val="1200"/>
              </a:spcAft>
              <a:defRPr sz="1600">
                <a:solidFill>
                  <a:srgbClr val="475569"/>
                </a:solidFill>
              </a:defRPr>
            </a:pPr>
            <a:r>
              <a:t>Every session visible to the parent — mandatory, not optional</a:t>
            </a:r>
          </a:p>
          <a:p>
            <a:pPr>
              <a:lnSpc>
                <a:spcPct val="130000"/>
              </a:lnSpc>
              <a:spcBef>
                <a:spcPts val="800"/>
              </a:spcBef>
              <a:spcAft>
                <a:spcPts val="1200"/>
              </a:spcAft>
              <a:defRPr sz="1600">
                <a:solidFill>
                  <a:srgbClr val="475569"/>
                </a:solidFill>
              </a:defRPr>
            </a:pPr>
            <a:r>
              <a:t>Australian-owned and operated. Data stays in Australia.</a:t>
            </a:r>
          </a:p>
          <a:p>
            <a:pPr>
              <a:lnSpc>
                <a:spcPct val="130000"/>
              </a:lnSpc>
              <a:spcBef>
                <a:spcPts val="800"/>
              </a:spcBef>
              <a:spcAft>
                <a:spcPts val="1200"/>
              </a:spcAft>
              <a:defRPr sz="1600">
                <a:solidFill>
                  <a:srgbClr val="475569"/>
                </a:solidFill>
              </a:defRPr>
            </a:pPr>
            <a:r>
              <a:t>Designed to Australian eSafety Commissioner guidance</a:t>
            </a:r>
          </a:p>
          <a:p>
            <a:pPr>
              <a:lnSpc>
                <a:spcPct val="130000"/>
              </a:lnSpc>
              <a:spcBef>
                <a:spcPts val="800"/>
              </a:spcBef>
              <a:spcAft>
                <a:spcPts val="1200"/>
              </a:spcAft>
              <a:defRPr sz="1600">
                <a:solidFill>
                  <a:srgbClr val="475569"/>
                </a:solidFill>
              </a:defRPr>
            </a:pPr>
            <a:r>
              <a:t>The parents most concerned about AI safety are the ones most willing to pay once convinced.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7772400" cy="548640"/>
          </a:xfrm>
          <a:prstGeom prst="rect">
            <a:avLst/>
          </a:prstGeom>
          <a:noFill/>
        </p:spPr>
        <p:txBody>
          <a:bodyPr wrap="none">
            <a:spAutoFit/>
          </a:bodyPr>
          <a:lstStyle/>
          <a:p>
            <a:pPr>
              <a:defRPr sz="3200" b="1">
                <a:solidFill>
                  <a:srgbClr val="FAFAFA"/>
                </a:solidFill>
              </a:defRPr>
            </a:pPr>
            <a:r>
              <a:t>Traction</a:t>
            </a:r>
          </a:p>
        </p:txBody>
      </p:sp>
      <p:sp>
        <p:nvSpPr>
          <p:cNvPr id="4" name="TextBox 3"/>
          <p:cNvSpPr txBox="1"/>
          <p:nvPr/>
        </p:nvSpPr>
        <p:spPr>
          <a:xfrm>
            <a:off x="640080" y="868680"/>
            <a:ext cx="7863840" cy="274320"/>
          </a:xfrm>
          <a:prstGeom prst="rect">
            <a:avLst/>
          </a:prstGeom>
          <a:noFill/>
        </p:spPr>
        <p:txBody>
          <a:bodyPr wrap="none">
            <a:spAutoFit/>
          </a:bodyPr>
          <a:lstStyle/>
          <a:p>
            <a:pPr>
              <a:defRPr sz="1000" i="1">
                <a:solidFill>
                  <a:srgbClr val="78828C"/>
                </a:solidFill>
              </a:defRPr>
            </a:pPr>
            <a:r>
              <a:t>Replace with actual numbers before pitching. Angels reward precision over puffery.</a:t>
            </a:r>
          </a:p>
        </p:txBody>
      </p:sp>
      <p:sp>
        <p:nvSpPr>
          <p:cNvPr id="5" name="Rectangle 4"/>
          <p:cNvSpPr/>
          <p:nvPr/>
        </p:nvSpPr>
        <p:spPr>
          <a:xfrm>
            <a:off x="731520" y="1371600"/>
            <a:ext cx="3200400" cy="2011680"/>
          </a:xfrm>
          <a:prstGeom prst="rect">
            <a:avLst/>
          </a:prstGeom>
          <a:noFill/>
          <a:ln w="25400">
            <a:solidFill>
              <a:srgbClr val="D0D0D0"/>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2834640" cy="548640"/>
          </a:xfrm>
          <a:prstGeom prst="rect">
            <a:avLst/>
          </a:prstGeom>
          <a:noFill/>
        </p:spPr>
        <p:txBody>
          <a:bodyPr wrap="square">
            <a:spAutoFit/>
          </a:bodyPr>
          <a:lstStyle/>
          <a:p>
            <a:pPr>
              <a:defRPr sz="1300" i="1" b="1">
                <a:solidFill>
                  <a:srgbClr val="D0D0D0"/>
                </a:solidFill>
              </a:defRPr>
            </a:pPr>
            <a:r>
              <a:t>[Waitlist count]</a:t>
            </a:r>
          </a:p>
        </p:txBody>
      </p:sp>
      <p:sp>
        <p:nvSpPr>
          <p:cNvPr id="7" name="TextBox 6"/>
          <p:cNvSpPr txBox="1"/>
          <p:nvPr/>
        </p:nvSpPr>
        <p:spPr>
          <a:xfrm>
            <a:off x="914400" y="2286000"/>
            <a:ext cx="2834640" cy="731520"/>
          </a:xfrm>
          <a:prstGeom prst="rect">
            <a:avLst/>
          </a:prstGeom>
          <a:noFill/>
        </p:spPr>
        <p:txBody>
          <a:bodyPr wrap="square">
            <a:spAutoFit/>
          </a:bodyPr>
          <a:lstStyle/>
          <a:p>
            <a:pPr>
              <a:defRPr sz="1000" i="1">
                <a:solidFill>
                  <a:srgbClr val="B4B4B4"/>
                </a:solidFill>
              </a:defRPr>
            </a:pPr>
            <a:r>
              <a:t>[growth rate %/week]</a:t>
            </a:r>
          </a:p>
        </p:txBody>
      </p:sp>
      <p:sp>
        <p:nvSpPr>
          <p:cNvPr id="8" name="Rectangle 7"/>
          <p:cNvSpPr/>
          <p:nvPr/>
        </p:nvSpPr>
        <p:spPr>
          <a:xfrm>
            <a:off x="4297680" y="1371600"/>
            <a:ext cx="3200400" cy="2011680"/>
          </a:xfrm>
          <a:prstGeom prst="rect">
            <a:avLst/>
          </a:prstGeom>
          <a:noFill/>
          <a:ln w="25400">
            <a:solidFill>
              <a:srgbClr val="D0D0D0"/>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645920"/>
            <a:ext cx="2834640" cy="548640"/>
          </a:xfrm>
          <a:prstGeom prst="rect">
            <a:avLst/>
          </a:prstGeom>
          <a:noFill/>
        </p:spPr>
        <p:txBody>
          <a:bodyPr wrap="square">
            <a:spAutoFit/>
          </a:bodyPr>
          <a:lstStyle/>
          <a:p>
            <a:pPr>
              <a:defRPr sz="1300" i="1" b="1">
                <a:solidFill>
                  <a:srgbClr val="D0D0D0"/>
                </a:solidFill>
              </a:defRPr>
            </a:pPr>
            <a:r>
              <a:t>[Acquisition signal]</a:t>
            </a:r>
          </a:p>
        </p:txBody>
      </p:sp>
      <p:sp>
        <p:nvSpPr>
          <p:cNvPr id="10" name="TextBox 9"/>
          <p:cNvSpPr txBox="1"/>
          <p:nvPr/>
        </p:nvSpPr>
        <p:spPr>
          <a:xfrm>
            <a:off x="4480560" y="2286000"/>
            <a:ext cx="2834640" cy="731520"/>
          </a:xfrm>
          <a:prstGeom prst="rect">
            <a:avLst/>
          </a:prstGeom>
          <a:noFill/>
        </p:spPr>
        <p:txBody>
          <a:bodyPr wrap="square">
            <a:spAutoFit/>
          </a:bodyPr>
          <a:lstStyle/>
          <a:p>
            <a:pPr>
              <a:defRPr sz="1000" i="1">
                <a:solidFill>
                  <a:srgbClr val="B4B4B4"/>
                </a:solidFill>
              </a:defRPr>
            </a:pPr>
            <a:r>
              <a:t>Organic or paid channel</a:t>
            </a:r>
          </a:p>
        </p:txBody>
      </p:sp>
      <p:sp>
        <p:nvSpPr>
          <p:cNvPr id="11" name="Rectangle 10"/>
          <p:cNvSpPr/>
          <p:nvPr/>
        </p:nvSpPr>
        <p:spPr>
          <a:xfrm>
            <a:off x="731520" y="3749040"/>
            <a:ext cx="3200400" cy="2011680"/>
          </a:xfrm>
          <a:prstGeom prst="rect">
            <a:avLst/>
          </a:prstGeom>
          <a:noFill/>
          <a:ln w="25400">
            <a:solidFill>
              <a:srgbClr val="D0D0D0"/>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023360"/>
            <a:ext cx="2834640" cy="548640"/>
          </a:xfrm>
          <a:prstGeom prst="rect">
            <a:avLst/>
          </a:prstGeom>
          <a:noFill/>
        </p:spPr>
        <p:txBody>
          <a:bodyPr wrap="square">
            <a:spAutoFit/>
          </a:bodyPr>
          <a:lstStyle/>
          <a:p>
            <a:pPr>
              <a:defRPr sz="1300" i="1" b="1">
                <a:solidFill>
                  <a:srgbClr val="D0D0D0"/>
                </a:solidFill>
              </a:defRPr>
            </a:pPr>
            <a:r>
              <a:t>[User engagement]</a:t>
            </a:r>
          </a:p>
        </p:txBody>
      </p:sp>
      <p:sp>
        <p:nvSpPr>
          <p:cNvPr id="13" name="TextBox 12"/>
          <p:cNvSpPr txBox="1"/>
          <p:nvPr/>
        </p:nvSpPr>
        <p:spPr>
          <a:xfrm>
            <a:off x="914400" y="4663440"/>
            <a:ext cx="2834640" cy="731520"/>
          </a:xfrm>
          <a:prstGeom prst="rect">
            <a:avLst/>
          </a:prstGeom>
          <a:noFill/>
        </p:spPr>
        <p:txBody>
          <a:bodyPr wrap="square">
            <a:spAutoFit/>
          </a:bodyPr>
          <a:lstStyle/>
          <a:p>
            <a:pPr>
              <a:defRPr sz="1000" i="1">
                <a:solidFill>
                  <a:srgbClr val="B4B4B4"/>
                </a:solidFill>
              </a:defRPr>
            </a:pPr>
            <a:r>
              <a:t>Retention, session count, NPS</a:t>
            </a:r>
          </a:p>
        </p:txBody>
      </p:sp>
      <p:sp>
        <p:nvSpPr>
          <p:cNvPr id="14" name="Rectangle 13"/>
          <p:cNvSpPr/>
          <p:nvPr/>
        </p:nvSpPr>
        <p:spPr>
          <a:xfrm>
            <a:off x="4297680" y="3749040"/>
            <a:ext cx="3200400" cy="2011680"/>
          </a:xfrm>
          <a:prstGeom prst="rect">
            <a:avLst/>
          </a:prstGeom>
          <a:noFill/>
          <a:ln w="25400">
            <a:solidFill>
              <a:srgbClr val="D0D0D0"/>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4023360"/>
            <a:ext cx="2834640" cy="548640"/>
          </a:xfrm>
          <a:prstGeom prst="rect">
            <a:avLst/>
          </a:prstGeom>
          <a:noFill/>
        </p:spPr>
        <p:txBody>
          <a:bodyPr wrap="square">
            <a:spAutoFit/>
          </a:bodyPr>
          <a:lstStyle/>
          <a:p>
            <a:pPr>
              <a:defRPr sz="1300" i="1" b="1">
                <a:solidFill>
                  <a:srgbClr val="D0D0D0"/>
                </a:solidFill>
              </a:defRPr>
            </a:pPr>
            <a:r>
              <a:t>[School conversations]</a:t>
            </a:r>
          </a:p>
        </p:txBody>
      </p:sp>
      <p:sp>
        <p:nvSpPr>
          <p:cNvPr id="16" name="TextBox 15"/>
          <p:cNvSpPr txBox="1"/>
          <p:nvPr/>
        </p:nvSpPr>
        <p:spPr>
          <a:xfrm>
            <a:off x="4480560" y="4663440"/>
            <a:ext cx="2834640" cy="731520"/>
          </a:xfrm>
          <a:prstGeom prst="rect">
            <a:avLst/>
          </a:prstGeom>
          <a:noFill/>
        </p:spPr>
        <p:txBody>
          <a:bodyPr wrap="square">
            <a:spAutoFit/>
          </a:bodyPr>
          <a:lstStyle/>
          <a:p>
            <a:pPr>
              <a:defRPr sz="1000" i="1">
                <a:solidFill>
                  <a:srgbClr val="B4B4B4"/>
                </a:solidFill>
              </a:defRPr>
            </a:pPr>
            <a:r>
              <a:t>LOIs, advisors, inbound press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7772400" cy="548640"/>
          </a:xfrm>
          <a:prstGeom prst="rect">
            <a:avLst/>
          </a:prstGeom>
          <a:noFill/>
        </p:spPr>
        <p:txBody>
          <a:bodyPr wrap="none">
            <a:spAutoFit/>
          </a:bodyPr>
          <a:lstStyle/>
          <a:p>
            <a:pPr>
              <a:defRPr sz="3200" b="1">
                <a:solidFill>
                  <a:srgbClr val="FAFAFA"/>
                </a:solidFill>
              </a:defRPr>
            </a:pPr>
            <a:r>
              <a:t>Team</a:t>
            </a:r>
          </a:p>
        </p:txBody>
      </p:sp>
      <p:sp>
        <p:nvSpPr>
          <p:cNvPr id="4" name="TextBox 3"/>
          <p:cNvSpPr txBox="1"/>
          <p:nvPr/>
        </p:nvSpPr>
        <p:spPr>
          <a:xfrm>
            <a:off x="640080" y="868680"/>
            <a:ext cx="7863840" cy="274320"/>
          </a:xfrm>
          <a:prstGeom prst="rect">
            <a:avLst/>
          </a:prstGeom>
          <a:noFill/>
        </p:spPr>
        <p:txBody>
          <a:bodyPr wrap="none">
            <a:spAutoFit/>
          </a:bodyPr>
          <a:lstStyle/>
          <a:p>
            <a:pPr>
              <a:defRPr sz="1000" i="1">
                <a:solidFill>
                  <a:srgbClr val="78828C"/>
                </a:solidFill>
              </a:defRPr>
            </a:pPr>
            <a:r>
              <a:t>Angels invest in people. Be specific about why you, why now, why this.</a:t>
            </a:r>
          </a:p>
        </p:txBody>
      </p:sp>
      <p:sp>
        <p:nvSpPr>
          <p:cNvPr id="5" name="Rectangle 4"/>
          <p:cNvSpPr/>
          <p:nvPr/>
        </p:nvSpPr>
        <p:spPr>
          <a:xfrm>
            <a:off x="640080" y="1371600"/>
            <a:ext cx="2560320" cy="3200400"/>
          </a:xfrm>
          <a:prstGeom prst="rect">
            <a:avLst/>
          </a:prstGeom>
          <a:noFill/>
          <a:ln w="25400">
            <a:solidFill>
              <a:srgbClr val="D0D0D0"/>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45920"/>
            <a:ext cx="2011680" cy="1371600"/>
          </a:xfrm>
          <a:prstGeom prst="rect">
            <a:avLst/>
          </a:prstGeom>
          <a:solidFill>
            <a:srgbClr val="F0F0F0"/>
          </a:solidFill>
          <a:ln w="1270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03120"/>
            <a:ext cx="2011680" cy="457200"/>
          </a:xfrm>
          <a:prstGeom prst="rect">
            <a:avLst/>
          </a:prstGeom>
          <a:noFill/>
        </p:spPr>
        <p:txBody>
          <a:bodyPr wrap="square">
            <a:spAutoFit/>
          </a:bodyPr>
          <a:lstStyle/>
          <a:p>
            <a:pPr algn="ctr">
              <a:defRPr sz="900" i="1">
                <a:solidFill>
                  <a:srgbClr val="B4B4B4"/>
                </a:solidFill>
              </a:defRPr>
            </a:pPr>
            <a:r>
              <a:t>[Headshot]</a:t>
            </a:r>
          </a:p>
        </p:txBody>
      </p:sp>
      <p:sp>
        <p:nvSpPr>
          <p:cNvPr id="8" name="TextBox 7"/>
          <p:cNvSpPr txBox="1"/>
          <p:nvPr/>
        </p:nvSpPr>
        <p:spPr>
          <a:xfrm>
            <a:off x="822960" y="3154680"/>
            <a:ext cx="2194560" cy="914400"/>
          </a:xfrm>
          <a:prstGeom prst="rect">
            <a:avLst/>
          </a:prstGeom>
          <a:noFill/>
        </p:spPr>
        <p:txBody>
          <a:bodyPr wrap="square">
            <a:spAutoFit/>
          </a:bodyPr>
          <a:lstStyle/>
          <a:p>
            <a:pPr>
              <a:defRPr sz="1000" i="1" b="1">
                <a:solidFill>
                  <a:srgbClr val="D0D0D0"/>
                </a:solidFill>
              </a:defRPr>
            </a:pPr>
            <a:r>
              <a:t>[Founder]</a:t>
            </a:r>
          </a:p>
          <a:p>
            <a:pPr>
              <a:spcBef>
                <a:spcPts val="600"/>
              </a:spcBef>
              <a:defRPr sz="900" i="1">
                <a:solidFill>
                  <a:srgbClr val="B4B4B4"/>
                </a:solidFill>
              </a:defRPr>
            </a:pPr>
            <a:r>
              <a:t>[Name + 1-line credential]</a:t>
            </a:r>
          </a:p>
        </p:txBody>
      </p:sp>
      <p:sp>
        <p:nvSpPr>
          <p:cNvPr id="9" name="Rectangle 8"/>
          <p:cNvSpPr/>
          <p:nvPr/>
        </p:nvSpPr>
        <p:spPr>
          <a:xfrm>
            <a:off x="3520440" y="1371600"/>
            <a:ext cx="2560320" cy="3200400"/>
          </a:xfrm>
          <a:prstGeom prst="rect">
            <a:avLst/>
          </a:prstGeom>
          <a:noFill/>
          <a:ln w="25400">
            <a:solidFill>
              <a:srgbClr val="D0D0D0"/>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794760" y="1645920"/>
            <a:ext cx="2011680" cy="1371600"/>
          </a:xfrm>
          <a:prstGeom prst="rect">
            <a:avLst/>
          </a:prstGeom>
          <a:solidFill>
            <a:srgbClr val="F0F0F0"/>
          </a:solidFill>
          <a:ln w="1270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94760" y="2103120"/>
            <a:ext cx="2011680" cy="457200"/>
          </a:xfrm>
          <a:prstGeom prst="rect">
            <a:avLst/>
          </a:prstGeom>
          <a:noFill/>
        </p:spPr>
        <p:txBody>
          <a:bodyPr wrap="square">
            <a:spAutoFit/>
          </a:bodyPr>
          <a:lstStyle/>
          <a:p>
            <a:pPr algn="ctr">
              <a:defRPr sz="900" i="1">
                <a:solidFill>
                  <a:srgbClr val="B4B4B4"/>
                </a:solidFill>
              </a:defRPr>
            </a:pPr>
            <a:r>
              <a:t>[Headshot]</a:t>
            </a:r>
          </a:p>
        </p:txBody>
      </p:sp>
      <p:sp>
        <p:nvSpPr>
          <p:cNvPr id="12" name="TextBox 11"/>
          <p:cNvSpPr txBox="1"/>
          <p:nvPr/>
        </p:nvSpPr>
        <p:spPr>
          <a:xfrm>
            <a:off x="3703320" y="3154680"/>
            <a:ext cx="2194560" cy="914400"/>
          </a:xfrm>
          <a:prstGeom prst="rect">
            <a:avLst/>
          </a:prstGeom>
          <a:noFill/>
        </p:spPr>
        <p:txBody>
          <a:bodyPr wrap="square">
            <a:spAutoFit/>
          </a:bodyPr>
          <a:lstStyle/>
          <a:p>
            <a:pPr>
              <a:defRPr sz="1000" i="1" b="1">
                <a:solidFill>
                  <a:srgbClr val="D0D0D0"/>
                </a:solidFill>
              </a:defRPr>
            </a:pPr>
            <a:r>
              <a:t>[Co-founder/Key hire]</a:t>
            </a:r>
          </a:p>
          <a:p>
            <a:pPr>
              <a:spcBef>
                <a:spcPts val="600"/>
              </a:spcBef>
              <a:defRPr sz="900" i="1">
                <a:solidFill>
                  <a:srgbClr val="B4B4B4"/>
                </a:solidFill>
              </a:defRPr>
            </a:pPr>
            <a:r>
              <a:t>[Name + credential]</a:t>
            </a:r>
          </a:p>
          <a:p>
            <a:pPr>
              <a:spcBef>
                <a:spcPts val="400"/>
              </a:spcBef>
              <a:defRPr sz="800" i="1">
                <a:solidFill>
                  <a:srgbClr val="C8C8C8"/>
                </a:solidFill>
              </a:defRPr>
            </a:pPr>
            <a:r>
              <a:t>optional</a:t>
            </a:r>
          </a:p>
        </p:txBody>
      </p:sp>
      <p:sp>
        <p:nvSpPr>
          <p:cNvPr id="13" name="Rectangle 12"/>
          <p:cNvSpPr/>
          <p:nvPr/>
        </p:nvSpPr>
        <p:spPr>
          <a:xfrm>
            <a:off x="6400800" y="1371600"/>
            <a:ext cx="2560320" cy="3200400"/>
          </a:xfrm>
          <a:prstGeom prst="rect">
            <a:avLst/>
          </a:prstGeom>
          <a:noFill/>
          <a:ln w="25400">
            <a:solidFill>
              <a:srgbClr val="D0D0D0"/>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75120" y="1645920"/>
            <a:ext cx="2011680" cy="1371600"/>
          </a:xfrm>
          <a:prstGeom prst="rect">
            <a:avLst/>
          </a:prstGeom>
          <a:solidFill>
            <a:srgbClr val="F0F0F0"/>
          </a:solidFill>
          <a:ln w="1270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0" y="2103120"/>
            <a:ext cx="2011680" cy="457200"/>
          </a:xfrm>
          <a:prstGeom prst="rect">
            <a:avLst/>
          </a:prstGeom>
          <a:noFill/>
        </p:spPr>
        <p:txBody>
          <a:bodyPr wrap="square">
            <a:spAutoFit/>
          </a:bodyPr>
          <a:lstStyle/>
          <a:p>
            <a:pPr algn="ctr">
              <a:defRPr sz="900" i="1">
                <a:solidFill>
                  <a:srgbClr val="B4B4B4"/>
                </a:solidFill>
              </a:defRPr>
            </a:pPr>
            <a:r>
              <a:t>[Headshot]</a:t>
            </a:r>
          </a:p>
        </p:txBody>
      </p:sp>
      <p:sp>
        <p:nvSpPr>
          <p:cNvPr id="16" name="TextBox 15"/>
          <p:cNvSpPr txBox="1"/>
          <p:nvPr/>
        </p:nvSpPr>
        <p:spPr>
          <a:xfrm>
            <a:off x="6583680" y="3154680"/>
            <a:ext cx="2194560" cy="914400"/>
          </a:xfrm>
          <a:prstGeom prst="rect">
            <a:avLst/>
          </a:prstGeom>
          <a:noFill/>
        </p:spPr>
        <p:txBody>
          <a:bodyPr wrap="square">
            <a:spAutoFit/>
          </a:bodyPr>
          <a:lstStyle/>
          <a:p>
            <a:pPr>
              <a:defRPr sz="1000" i="1" b="1">
                <a:solidFill>
                  <a:srgbClr val="D0D0D0"/>
                </a:solidFill>
              </a:defRPr>
            </a:pPr>
            <a:r>
              <a:t>[Advisors]</a:t>
            </a:r>
          </a:p>
          <a:p>
            <a:pPr>
              <a:spcBef>
                <a:spcPts val="600"/>
              </a:spcBef>
              <a:defRPr sz="900" i="1">
                <a:solidFill>
                  <a:srgbClr val="B4B4B4"/>
                </a:solidFill>
              </a:defRPr>
            </a:pPr>
            <a:r>
              <a:t>Names + committed angels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457200" y="457200"/>
            <a:ext cx="5212080" cy="502920"/>
          </a:xfrm>
          <a:prstGeom prst="rect">
            <a:avLst/>
          </a:prstGeom>
          <a:noFill/>
        </p:spPr>
        <p:txBody>
          <a:bodyPr wrap="square">
            <a:spAutoFit/>
          </a:bodyPr>
          <a:lstStyle/>
          <a:p>
            <a:pPr>
              <a:defRPr sz="2800" b="1">
                <a:solidFill>
                  <a:srgbClr val="FAFAFA"/>
                </a:solidFill>
              </a:defRPr>
            </a:pPr>
            <a:r>
              <a:t>Raising A$[XXX]</a:t>
            </a:r>
          </a:p>
        </p:txBody>
      </p:sp>
      <p:sp>
        <p:nvSpPr>
          <p:cNvPr id="3" name="TextBox 2"/>
          <p:cNvSpPr txBox="1"/>
          <p:nvPr/>
        </p:nvSpPr>
        <p:spPr>
          <a:xfrm>
            <a:off x="457200" y="1051560"/>
            <a:ext cx="5212080" cy="457200"/>
          </a:xfrm>
          <a:prstGeom prst="rect">
            <a:avLst/>
          </a:prstGeom>
          <a:noFill/>
        </p:spPr>
        <p:txBody>
          <a:bodyPr wrap="square">
            <a:spAutoFit/>
          </a:bodyPr>
          <a:lstStyle/>
          <a:p>
            <a:pPr>
              <a:defRPr sz="1400" i="1">
                <a:solidFill>
                  <a:srgbClr val="C8D2DC"/>
                </a:solidFill>
              </a:defRPr>
            </a:pPr>
            <a:r>
              <a:t>to reach A$[X]M ARR by [milestone]</a:t>
            </a:r>
          </a:p>
        </p:txBody>
      </p:sp>
      <p:sp>
        <p:nvSpPr>
          <p:cNvPr id="4" name="TextBox 3"/>
          <p:cNvSpPr txBox="1"/>
          <p:nvPr/>
        </p:nvSpPr>
        <p:spPr>
          <a:xfrm>
            <a:off x="457200" y="1691640"/>
            <a:ext cx="5212080" cy="274320"/>
          </a:xfrm>
          <a:prstGeom prst="rect">
            <a:avLst/>
          </a:prstGeom>
          <a:noFill/>
        </p:spPr>
        <p:txBody>
          <a:bodyPr wrap="none">
            <a:spAutoFit/>
          </a:bodyPr>
          <a:lstStyle/>
          <a:p>
            <a:pPr>
              <a:defRPr sz="1100" b="1">
                <a:solidFill>
                  <a:srgbClr val="B4BEC8"/>
                </a:solidFill>
              </a:defRPr>
            </a:pPr>
            <a:r>
              <a:t>USE OF FUNDS</a:t>
            </a:r>
          </a:p>
        </p:txBody>
      </p:sp>
      <p:sp>
        <p:nvSpPr>
          <p:cNvPr id="5" name="TextBox 4"/>
          <p:cNvSpPr txBox="1"/>
          <p:nvPr/>
        </p:nvSpPr>
        <p:spPr>
          <a:xfrm>
            <a:off x="457200" y="2057400"/>
            <a:ext cx="5212080" cy="914400"/>
          </a:xfrm>
          <a:prstGeom prst="rect">
            <a:avLst/>
          </a:prstGeom>
          <a:noFill/>
        </p:spPr>
        <p:txBody>
          <a:bodyPr wrap="square">
            <a:spAutoFit/>
          </a:bodyPr>
          <a:lstStyle/>
          <a:p>
            <a:pPr>
              <a:spcBef>
                <a:spcPts val="300"/>
              </a:spcBef>
              <a:spcAft>
                <a:spcPts val="500"/>
              </a:spcAft>
              <a:defRPr sz="1200">
                <a:solidFill>
                  <a:srgbClr val="FAFAFA"/>
                </a:solidFill>
              </a:defRPr>
            </a:pPr>
            <a:r>
              <a:t>Product development: 40%</a:t>
            </a:r>
          </a:p>
          <a:p>
            <a:pPr>
              <a:spcBef>
                <a:spcPts val="300"/>
              </a:spcBef>
              <a:spcAft>
                <a:spcPts val="500"/>
              </a:spcAft>
              <a:defRPr sz="1200">
                <a:solidFill>
                  <a:srgbClr val="FAFAFA"/>
                </a:solidFill>
              </a:defRPr>
            </a:pPr>
            <a:r>
              <a:t>Growth &amp; acquisition: 40%</a:t>
            </a:r>
          </a:p>
          <a:p>
            <a:pPr>
              <a:spcBef>
                <a:spcPts val="300"/>
              </a:spcBef>
              <a:spcAft>
                <a:spcPts val="500"/>
              </a:spcAft>
              <a:defRPr sz="1200">
                <a:solidFill>
                  <a:srgbClr val="FAFAFA"/>
                </a:solidFill>
              </a:defRPr>
            </a:pPr>
            <a:r>
              <a:t>Operations &amp; overhead: 20%</a:t>
            </a:r>
          </a:p>
        </p:txBody>
      </p:sp>
      <p:sp>
        <p:nvSpPr>
          <p:cNvPr id="6" name="TextBox 5"/>
          <p:cNvSpPr txBox="1"/>
          <p:nvPr/>
        </p:nvSpPr>
        <p:spPr>
          <a:xfrm>
            <a:off x="457200" y="3108960"/>
            <a:ext cx="5212080" cy="274320"/>
          </a:xfrm>
          <a:prstGeom prst="rect">
            <a:avLst/>
          </a:prstGeom>
          <a:noFill/>
        </p:spPr>
        <p:txBody>
          <a:bodyPr wrap="none">
            <a:spAutoFit/>
          </a:bodyPr>
          <a:lstStyle/>
          <a:p>
            <a:pPr>
              <a:defRPr sz="1100" b="1">
                <a:solidFill>
                  <a:srgbClr val="B4BEC8"/>
                </a:solidFill>
              </a:defRPr>
            </a:pPr>
            <a:r>
              <a:t>RUNWAY &amp; MILESTONES</a:t>
            </a:r>
          </a:p>
        </p:txBody>
      </p:sp>
      <p:sp>
        <p:nvSpPr>
          <p:cNvPr id="7" name="TextBox 6"/>
          <p:cNvSpPr txBox="1"/>
          <p:nvPr/>
        </p:nvSpPr>
        <p:spPr>
          <a:xfrm>
            <a:off x="457200" y="3474720"/>
            <a:ext cx="5212080" cy="1645920"/>
          </a:xfrm>
          <a:prstGeom prst="rect">
            <a:avLst/>
          </a:prstGeom>
          <a:noFill/>
        </p:spPr>
        <p:txBody>
          <a:bodyPr wrap="square">
            <a:spAutoFit/>
          </a:bodyPr>
          <a:lstStyle/>
          <a:p>
            <a:pPr>
              <a:spcBef>
                <a:spcPts val="200"/>
              </a:spcBef>
              <a:spcAft>
                <a:spcPts val="400"/>
              </a:spcAft>
              <a:defRPr sz="1100" b="1">
                <a:solidFill>
                  <a:srgbClr val="FAFAFA"/>
                </a:solidFill>
              </a:defRPr>
            </a:pPr>
            <a:r>
              <a:t>Runway: [X] months</a:t>
            </a:r>
          </a:p>
          <a:p>
            <a:pPr>
              <a:spcBef>
                <a:spcPts val="200"/>
              </a:spcBef>
              <a:spcAft>
                <a:spcPts val="400"/>
              </a:spcAft>
              <a:defRPr sz="1100" b="1">
                <a:solidFill>
                  <a:srgbClr val="FAFAFA"/>
                </a:solidFill>
              </a:defRPr>
            </a:pPr>
            <a:r>
              <a:t>Milestones:</a:t>
            </a:r>
          </a:p>
          <a:p>
            <a:pPr lvl="1">
              <a:spcBef>
                <a:spcPts val="200"/>
              </a:spcBef>
              <a:spcAft>
                <a:spcPts val="400"/>
              </a:spcAft>
              <a:defRPr sz="1100">
                <a:solidFill>
                  <a:srgbClr val="FAFAFA"/>
                </a:solidFill>
              </a:defRPr>
            </a:pPr>
            <a:r>
              <a:t>→ Product launch (month [X])</a:t>
            </a:r>
          </a:p>
          <a:p>
            <a:pPr lvl="1">
              <a:spcBef>
                <a:spcPts val="200"/>
              </a:spcBef>
              <a:spcAft>
                <a:spcPts val="400"/>
              </a:spcAft>
              <a:defRPr sz="1100">
                <a:solidFill>
                  <a:srgbClr val="FAFAFA"/>
                </a:solidFill>
              </a:defRPr>
            </a:pPr>
            <a:r>
              <a:t>→ Waitlist conversion (month [X])</a:t>
            </a:r>
          </a:p>
          <a:p>
            <a:pPr lvl="1">
              <a:spcBef>
                <a:spcPts val="200"/>
              </a:spcBef>
              <a:spcAft>
                <a:spcPts val="400"/>
              </a:spcAft>
              <a:defRPr sz="1100">
                <a:solidFill>
                  <a:srgbClr val="FAFAFA"/>
                </a:solidFill>
              </a:defRPr>
            </a:pPr>
            <a:r>
              <a:t>→ A$[X]k ARR (month [X])</a:t>
            </a:r>
          </a:p>
          <a:p>
            <a:pPr lvl="1">
              <a:spcBef>
                <a:spcPts val="200"/>
              </a:spcBef>
              <a:spcAft>
                <a:spcPts val="400"/>
              </a:spcAft>
              <a:defRPr sz="1100">
                <a:solidFill>
                  <a:srgbClr val="FAFAFA"/>
                </a:solidFill>
              </a:defRPr>
            </a:pPr>
            <a:r>
              <a:t>→ CAC payback proof (month [X])</a:t>
            </a:r>
          </a:p>
        </p:txBody>
      </p:sp>
      <p:sp>
        <p:nvSpPr>
          <p:cNvPr id="8" name="TextBox 7"/>
          <p:cNvSpPr txBox="1"/>
          <p:nvPr/>
        </p:nvSpPr>
        <p:spPr>
          <a:xfrm>
            <a:off x="5486400" y="731520"/>
            <a:ext cx="3200400" cy="4114800"/>
          </a:xfrm>
          <a:prstGeom prst="rect">
            <a:avLst/>
          </a:prstGeom>
          <a:noFill/>
        </p:spPr>
        <p:txBody>
          <a:bodyPr wrap="square">
            <a:spAutoFit/>
          </a:bodyPr>
          <a:lstStyle/>
          <a:p>
            <a:pPr>
              <a:lnSpc>
                <a:spcPct val="150000"/>
              </a:lnSpc>
              <a:defRPr sz="2200" b="1">
                <a:solidFill>
                  <a:srgbClr val="F96167"/>
                </a:solidFill>
              </a:defRPr>
            </a:pPr>
            <a:r>
              <a:t>A generation of Australian children that never fall behind.</a:t>
            </a:r>
          </a:p>
        </p:txBody>
      </p:sp>
      <p:sp>
        <p:nvSpPr>
          <p:cNvPr id="9" name="TextBox 8"/>
          <p:cNvSpPr txBox="1"/>
          <p:nvPr/>
        </p:nvSpPr>
        <p:spPr>
          <a:xfrm>
            <a:off x="457200" y="5943600"/>
            <a:ext cx="8229600" cy="640080"/>
          </a:xfrm>
          <a:prstGeom prst="rect">
            <a:avLst/>
          </a:prstGeom>
          <a:noFill/>
        </p:spPr>
        <p:txBody>
          <a:bodyPr wrap="none">
            <a:spAutoFit/>
          </a:bodyPr>
          <a:lstStyle/>
          <a:p>
            <a:pPr algn="ctr">
              <a:defRPr sz="1100">
                <a:solidFill>
                  <a:srgbClr val="96A0AA"/>
                </a:solidFill>
              </a:defRPr>
            </a:pPr>
            <a:r>
              <a:t>jesse@activedigital.fund · upwise.com.au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