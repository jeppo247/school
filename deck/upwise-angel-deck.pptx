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Jesse, founder of Upwise. In the next ten minutes I want to show you a business that I think is the clearest consumer opportunity in Australian education in a generation. Let's start with the problem every Australian parent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parent sitting at the kitchen table. Their Year 3 child hands them a report card that says 'Developing — needs additional support.' They call the school. The teacher is managing 28 kids with one aide and has no time for intervention. 35% of Australian parents already pay for tutoring to close the gap. They're not buying ambition — they're buying reassurance that their child won't be left behind. And when the government itself tried to fix it with a billion-dollar catch-up program, it didn't move the needle. The problem isn't money. It's the delivery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this slide is not. It's not a hockey-stick forecast or a TAM calculation from a McKinsey report. It's the money Australian parents are spending right now, today, on supplemental learning that isn't built for them. Kumon is nearly five times our family plan. Cluey is three times. Our job is redirection, not creation.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Bloom's 2-Sigma Problem, 1984: one-on-one mastery tutoring produces outcomes classroom teaching can't match. We've known this for forty years. We couldn't do anything about it because one tutor per child wasn't economical. That changed, quietly, in the last eighteen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a day. Adaptive. Mastery-based. The kid can't jump ahead until they've actually understood. Which means every session builds on solid ground — no accumulating gaps. Free trial, then a subscription that costs less than a week of tutoring.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deliberate bet. We're not replacing parents. We're not replacing teachers. We're giving parents the one thing they've always lacked — a map. What to say when their child is stuck. What to reinforce at dinner. Where the real gap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credibility isn't 'we built an AI.' It's a forty-year research lineage that four generations of learning scientists agree on. Bloom proved the 2-sigma effect in 1984. Kulik and Kulik meta-analysed it in 1990. RAND validated computer-based mastery in 2014. A 2025 systematic review of 48 AI tutoring studies confirms the strongest gains come when AI is paired with a human guide. Upwise is the first Australian operationalisation of that stack.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quadrant Upwise sits in. Empty. Not because it's a bad quadrant — because no Australian incumbent has built for it. Cluey is losing money doing 1:1 human tutoring. Kumon is still running physical franchises in 2026. The IXLs and Mathletics of the world won't even look at you as a parent. That's our wedge.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17,000 families. In a country with 1.52 million primary-age households, of which 380,000 already pay for tutoring. This is not a moonshot. This is arithmetic. And the unit economics work because we're software, not labour. Cluey's story is the proof — their A$5.5M loss isn't evidence AU edtech is broken. It's evidence that 1:1 human tutoring 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parent we speak to has the same question: is it safe? Is it just more screen time? Is it going to replace me as the parent? Our answer, on each: closed system, twenty minutes, parent-guided. Not a chatbot. Not an ad-driven app. Not a babysitter.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 to draft based on actual numbers. Be honest — angels reward precision about early signals more than they reward puffed-up vanity metrics.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Founder-specific. Angels invest in people. Be specific about why you, why now, why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ask. Here's what it funds. Here's what you get back — not in dollar terms, though I'm happy to walk through projections. This funds the build and the first twelve months of disciplined growth. A generation of Australian kids that don't fall behind. That's the thing worth building.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22960" y="2651760"/>
            <a:ext cx="10515600" cy="1280160"/>
          </a:xfrm>
          <a:prstGeom prst="rect">
            <a:avLst/>
          </a:prstGeom>
          <a:noFill/>
        </p:spPr>
        <p:txBody>
          <a:bodyPr wrap="square" lIns="0" rIns="0" tIns="0" bIns="0" anchor="t">
            <a:noAutofit/>
          </a:bodyPr>
          <a:lstStyle/>
          <a:p>
            <a:pPr algn="l">
              <a:lnSpc>
                <a:spcPct val="100000"/>
              </a:lnSpc>
            </a:pPr>
            <a:r>
              <a:rPr sz="8400" b="1" i="0">
                <a:solidFill>
                  <a:srgbClr val="FFFFFF"/>
                </a:solidFill>
                <a:latin typeface="Inter"/>
              </a:rPr>
              <a:t>Upwise</a:t>
            </a:r>
          </a:p>
        </p:txBody>
      </p:sp>
      <p:sp>
        <p:nvSpPr>
          <p:cNvPr id="3" name="Rectangle 2"/>
          <p:cNvSpPr/>
          <p:nvPr/>
        </p:nvSpPr>
        <p:spPr>
          <a:xfrm>
            <a:off x="868680" y="3977639"/>
            <a:ext cx="1188720" cy="54864"/>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160520"/>
            <a:ext cx="10515600" cy="640080"/>
          </a:xfrm>
          <a:prstGeom prst="rect">
            <a:avLst/>
          </a:prstGeom>
          <a:noFill/>
        </p:spPr>
        <p:txBody>
          <a:bodyPr wrap="square" lIns="0" rIns="0" tIns="0" bIns="0" anchor="t">
            <a:noAutofit/>
          </a:bodyPr>
          <a:lstStyle/>
          <a:p>
            <a:pPr algn="l">
              <a:lnSpc>
                <a:spcPct val="115000"/>
              </a:lnSpc>
            </a:pPr>
            <a:r>
              <a:rPr sz="2200" b="0" i="0">
                <a:solidFill>
                  <a:srgbClr val="CBD5E1"/>
                </a:solidFill>
                <a:latin typeface="Inter"/>
              </a:rPr>
              <a:t>Strong foundations in maths and English — built session by session.</a:t>
            </a:r>
          </a:p>
        </p:txBody>
      </p:sp>
      <p:sp>
        <p:nvSpPr>
          <p:cNvPr id="5" name="TextBox 4"/>
          <p:cNvSpPr txBox="1"/>
          <p:nvPr/>
        </p:nvSpPr>
        <p:spPr>
          <a:xfrm>
            <a:off x="822960" y="6217920"/>
            <a:ext cx="10515600" cy="274320"/>
          </a:xfrm>
          <a:prstGeom prst="rect">
            <a:avLst/>
          </a:prstGeom>
          <a:noFill/>
        </p:spPr>
        <p:txBody>
          <a:bodyPr wrap="square" lIns="0" rIns="0" tIns="0" bIns="0" anchor="t">
            <a:noAutofit/>
          </a:bodyPr>
          <a:lstStyle/>
          <a:p>
            <a:pPr algn="l">
              <a:lnSpc>
                <a:spcPct val="115000"/>
              </a:lnSpc>
            </a:pPr>
            <a:r>
              <a:rPr sz="1200" b="0" i="0">
                <a:solidFill>
                  <a:srgbClr val="94A3B8"/>
                </a:solidFill>
                <a:latin typeface="Inter"/>
              </a:rPr>
              <a:t>Jesse, Founder · April 2026 · upwise.com.au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1371600"/>
          </a:xfrm>
          <a:prstGeom prst="rect">
            <a:avLst/>
          </a:prstGeom>
          <a:noFill/>
        </p:spPr>
        <p:txBody>
          <a:bodyPr wrap="square" lIns="0" rIns="0" tIns="0" bIns="0" anchor="t">
            <a:noAutofit/>
          </a:bodyPr>
          <a:lstStyle/>
          <a:p>
            <a:pPr algn="l">
              <a:lnSpc>
                <a:spcPct val="110000"/>
              </a:lnSpc>
            </a:pPr>
            <a:r>
              <a:rPr sz="2600" b="1" i="0">
                <a:solidFill>
                  <a:srgbClr val="0F172A"/>
                </a:solidFill>
                <a:latin typeface="Inter"/>
              </a:rPr>
              <a:t>In a class of 28, your child doesn't stand a chance of being seen.</a:t>
            </a:r>
          </a:p>
        </p:txBody>
      </p:sp>
      <p:sp>
        <p:nvSpPr>
          <p:cNvPr id="3" name="Rectangle 2"/>
          <p:cNvSpPr/>
          <p:nvPr/>
        </p:nvSpPr>
        <p:spPr>
          <a:xfrm>
            <a:off x="640080" y="2286000"/>
            <a:ext cx="3454298"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514600"/>
            <a:ext cx="2997098" cy="1097280"/>
          </a:xfrm>
          <a:prstGeom prst="rect">
            <a:avLst/>
          </a:prstGeom>
          <a:noFill/>
        </p:spPr>
        <p:txBody>
          <a:bodyPr wrap="square" lIns="0" rIns="0" tIns="0" bIns="0" anchor="t">
            <a:noAutofit/>
          </a:bodyPr>
          <a:lstStyle/>
          <a:p>
            <a:pPr algn="l">
              <a:lnSpc>
                <a:spcPct val="100000"/>
              </a:lnSpc>
            </a:pPr>
            <a:r>
              <a:rPr sz="6000" b="1" i="0">
                <a:solidFill>
                  <a:srgbClr val="F96167"/>
                </a:solidFill>
                <a:latin typeface="Inter"/>
              </a:rPr>
              <a:t>42%</a:t>
            </a:r>
          </a:p>
        </p:txBody>
      </p:sp>
      <p:sp>
        <p:nvSpPr>
          <p:cNvPr id="5" name="TextBox 4"/>
          <p:cNvSpPr txBox="1"/>
          <p:nvPr/>
        </p:nvSpPr>
        <p:spPr>
          <a:xfrm>
            <a:off x="868680" y="3703320"/>
            <a:ext cx="2997098" cy="914400"/>
          </a:xfrm>
          <a:prstGeom prst="rect">
            <a:avLst/>
          </a:prstGeom>
          <a:noFill/>
        </p:spPr>
        <p:txBody>
          <a:bodyPr wrap="square" lIns="0" rIns="0" tIns="0" bIns="0" anchor="t">
            <a:noAutofit/>
          </a:bodyPr>
          <a:lstStyle/>
          <a:p>
            <a:pPr algn="l">
              <a:lnSpc>
                <a:spcPct val="135000"/>
              </a:lnSpc>
            </a:pPr>
            <a:r>
              <a:rPr sz="1300" b="0" i="0">
                <a:solidFill>
                  <a:srgbClr val="47556D"/>
                </a:solidFill>
                <a:latin typeface="Inter"/>
              </a:rPr>
              <a:t>of Australian schools teach with a qualified teacher shortage — up from 14% in 2018.</a:t>
            </a:r>
          </a:p>
        </p:txBody>
      </p:sp>
      <p:sp>
        <p:nvSpPr>
          <p:cNvPr id="6" name="Rectangle 5"/>
          <p:cNvSpPr/>
          <p:nvPr/>
        </p:nvSpPr>
        <p:spPr>
          <a:xfrm>
            <a:off x="4368698" y="2286000"/>
            <a:ext cx="3454298"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7298" y="2514600"/>
            <a:ext cx="2997098" cy="1097280"/>
          </a:xfrm>
          <a:prstGeom prst="rect">
            <a:avLst/>
          </a:prstGeom>
          <a:noFill/>
        </p:spPr>
        <p:txBody>
          <a:bodyPr wrap="square" lIns="0" rIns="0" tIns="0" bIns="0" anchor="t">
            <a:noAutofit/>
          </a:bodyPr>
          <a:lstStyle/>
          <a:p>
            <a:pPr algn="l">
              <a:lnSpc>
                <a:spcPct val="100000"/>
              </a:lnSpc>
            </a:pPr>
            <a:r>
              <a:rPr sz="6000" b="1" i="0">
                <a:solidFill>
                  <a:srgbClr val="47556D"/>
                </a:solidFill>
                <a:latin typeface="Inter"/>
              </a:rPr>
              <a:t>82%</a:t>
            </a:r>
          </a:p>
        </p:txBody>
      </p:sp>
      <p:sp>
        <p:nvSpPr>
          <p:cNvPr id="8" name="TextBox 7"/>
          <p:cNvSpPr txBox="1"/>
          <p:nvPr/>
        </p:nvSpPr>
        <p:spPr>
          <a:xfrm>
            <a:off x="4597298" y="3703320"/>
            <a:ext cx="2997098" cy="914400"/>
          </a:xfrm>
          <a:prstGeom prst="rect">
            <a:avLst/>
          </a:prstGeom>
          <a:noFill/>
        </p:spPr>
        <p:txBody>
          <a:bodyPr wrap="square" lIns="0" rIns="0" tIns="0" bIns="0" anchor="t">
            <a:noAutofit/>
          </a:bodyPr>
          <a:lstStyle/>
          <a:p>
            <a:pPr algn="l">
              <a:lnSpc>
                <a:spcPct val="135000"/>
              </a:lnSpc>
            </a:pPr>
            <a:r>
              <a:rPr sz="1300" b="0" i="0">
                <a:solidFill>
                  <a:srgbClr val="47556D"/>
                </a:solidFill>
                <a:latin typeface="Inter"/>
              </a:rPr>
              <a:t>of primary teachers say their job damages their mental health.</a:t>
            </a:r>
          </a:p>
        </p:txBody>
      </p:sp>
      <p:sp>
        <p:nvSpPr>
          <p:cNvPr id="9" name="Rectangle 8"/>
          <p:cNvSpPr/>
          <p:nvPr/>
        </p:nvSpPr>
        <p:spPr>
          <a:xfrm>
            <a:off x="8097316" y="2286000"/>
            <a:ext cx="3454298"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5916" y="2514600"/>
            <a:ext cx="2997098" cy="1097280"/>
          </a:xfrm>
          <a:prstGeom prst="rect">
            <a:avLst/>
          </a:prstGeom>
          <a:noFill/>
        </p:spPr>
        <p:txBody>
          <a:bodyPr wrap="square" lIns="0" rIns="0" tIns="0" bIns="0" anchor="t">
            <a:noAutofit/>
          </a:bodyPr>
          <a:lstStyle/>
          <a:p>
            <a:pPr algn="l">
              <a:lnSpc>
                <a:spcPct val="100000"/>
              </a:lnSpc>
            </a:pPr>
            <a:r>
              <a:rPr sz="6000" b="1" i="0">
                <a:solidFill>
                  <a:srgbClr val="47556D"/>
                </a:solidFill>
                <a:latin typeface="Inter"/>
              </a:rPr>
              <a:t>1 in 3</a:t>
            </a:r>
          </a:p>
        </p:txBody>
      </p:sp>
      <p:sp>
        <p:nvSpPr>
          <p:cNvPr id="11" name="TextBox 10"/>
          <p:cNvSpPr txBox="1"/>
          <p:nvPr/>
        </p:nvSpPr>
        <p:spPr>
          <a:xfrm>
            <a:off x="8325916" y="3703320"/>
            <a:ext cx="2997098" cy="914400"/>
          </a:xfrm>
          <a:prstGeom prst="rect">
            <a:avLst/>
          </a:prstGeom>
          <a:noFill/>
        </p:spPr>
        <p:txBody>
          <a:bodyPr wrap="square" lIns="0" rIns="0" tIns="0" bIns="0" anchor="t">
            <a:noAutofit/>
          </a:bodyPr>
          <a:lstStyle/>
          <a:p>
            <a:pPr algn="l">
              <a:lnSpc>
                <a:spcPct val="135000"/>
              </a:lnSpc>
            </a:pPr>
            <a:r>
              <a:rPr sz="1300" b="0" i="0">
                <a:solidFill>
                  <a:srgbClr val="47556D"/>
                </a:solidFill>
                <a:latin typeface="Inter"/>
              </a:rPr>
              <a:t>Year 3 students sit below literacy proficiency.</a:t>
            </a:r>
          </a:p>
        </p:txBody>
      </p:sp>
      <p:sp>
        <p:nvSpPr>
          <p:cNvPr id="12" name="Rectangle 11"/>
          <p:cNvSpPr/>
          <p:nvPr/>
        </p:nvSpPr>
        <p:spPr>
          <a:xfrm>
            <a:off x="640080" y="5074920"/>
            <a:ext cx="10911535" cy="11887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74920"/>
            <a:ext cx="73152" cy="118872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19" y="5257800"/>
            <a:ext cx="10271455" cy="914400"/>
          </a:xfrm>
          <a:prstGeom prst="rect">
            <a:avLst/>
          </a:prstGeom>
          <a:noFill/>
        </p:spPr>
        <p:txBody>
          <a:bodyPr wrap="square" lIns="0" rIns="0" tIns="0" bIns="0" anchor="t">
            <a:noAutofit/>
          </a:bodyPr>
          <a:lstStyle/>
          <a:p>
            <a:pPr algn="l">
              <a:lnSpc>
                <a:spcPct val="120000"/>
              </a:lnSpc>
            </a:pPr>
            <a:r>
              <a:rPr sz="1400" b="0" i="0">
                <a:solidFill>
                  <a:srgbClr val="47556D"/>
                </a:solidFill>
                <a:latin typeface="Inter"/>
              </a:rPr>
              <a:t>Even Victoria's A$1.2 billion catch-up tutoring program </a:t>
            </a:r>
            <a:r>
              <a:rPr sz="1400" b="0" i="1">
                <a:solidFill>
                  <a:srgbClr val="47556D"/>
                </a:solidFill>
                <a:latin typeface="Inter"/>
              </a:rPr>
              <a:t>"did not significantly improve outcomes"</a:t>
            </a:r>
            <a:r>
              <a:rPr sz="1400" b="0" i="0">
                <a:solidFill>
                  <a:srgbClr val="47556D"/>
                </a:solidFill>
                <a:latin typeface="Inter"/>
              </a:rPr>
              <a:t> — Victorian Auditor-General, 2024.</a:t>
            </a:r>
          </a:p>
          <a:p>
            <a:pPr algn="l">
              <a:lnSpc>
                <a:spcPct val="120000"/>
              </a:lnSpc>
              <a:spcBef>
                <a:spcPts val="600"/>
              </a:spcBef>
            </a:pPr>
            <a:r>
              <a:rPr sz="1600" b="1" i="0">
                <a:solidFill>
                  <a:srgbClr val="0F172A"/>
                </a:solidFill>
                <a:latin typeface="Inter"/>
              </a:rPr>
              <a:t>The problem isn't money. It's the delivery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lIns="0" rIns="0" tIns="0" bIns="0" anchor="t">
            <a:noAutofit/>
          </a:bodyPr>
          <a:lstStyle/>
          <a:p>
            <a:pPr algn="l">
              <a:lnSpc>
                <a:spcPct val="110000"/>
              </a:lnSpc>
            </a:pPr>
            <a:r>
              <a:rPr sz="2600" b="1" i="0">
                <a:solidFill>
                  <a:srgbClr val="0F172A"/>
                </a:solidFill>
                <a:latin typeface="Inter"/>
              </a:rPr>
              <a:t>A$2.2 billion is already leaving Australian parents' wallets.</a:t>
            </a:r>
          </a:p>
        </p:txBody>
      </p:sp>
      <p:sp>
        <p:nvSpPr>
          <p:cNvPr id="3" name="TextBox 2"/>
          <p:cNvSpPr txBox="1"/>
          <p:nvPr/>
        </p:nvSpPr>
        <p:spPr>
          <a:xfrm>
            <a:off x="640080" y="1600200"/>
            <a:ext cx="10911535" cy="457200"/>
          </a:xfrm>
          <a:prstGeom prst="rect">
            <a:avLst/>
          </a:prstGeom>
          <a:noFill/>
        </p:spPr>
        <p:txBody>
          <a:bodyPr wrap="square" lIns="0" rIns="0" tIns="0" bIns="0" anchor="t">
            <a:noAutofit/>
          </a:bodyPr>
          <a:lstStyle/>
          <a:p>
            <a:pPr algn="l">
              <a:lnSpc>
                <a:spcPct val="115000"/>
              </a:lnSpc>
            </a:pPr>
            <a:r>
              <a:rPr sz="1500" b="0" i="0">
                <a:solidFill>
                  <a:srgbClr val="64748B"/>
                </a:solidFill>
                <a:latin typeface="Inter"/>
              </a:rPr>
              <a:t>Annual cost per family across Australian supplemental learning:</a:t>
            </a:r>
          </a:p>
        </p:txBody>
      </p:sp>
      <p:pic>
        <p:nvPicPr>
          <p:cNvPr id="4" name="Picture 3" descr="market-chart.png"/>
          <p:cNvPicPr>
            <a:picLocks noChangeAspect="1"/>
          </p:cNvPicPr>
          <p:nvPr/>
        </p:nvPicPr>
        <p:blipFill>
          <a:blip r:embed="rId2"/>
          <a:stretch>
            <a:fillRect/>
          </a:stretch>
        </p:blipFill>
        <p:spPr>
          <a:xfrm>
            <a:off x="640080" y="2194560"/>
            <a:ext cx="10911535" cy="3351666"/>
          </a:xfrm>
          <a:prstGeom prst="rect">
            <a:avLst/>
          </a:prstGeom>
        </p:spPr>
      </p:pic>
      <p:sp>
        <p:nvSpPr>
          <p:cNvPr id="5" name="TextBox 4"/>
          <p:cNvSpPr txBox="1"/>
          <p:nvPr/>
        </p:nvSpPr>
        <p:spPr>
          <a:xfrm>
            <a:off x="640080" y="5989320"/>
            <a:ext cx="10911535" cy="365760"/>
          </a:xfrm>
          <a:prstGeom prst="rect">
            <a:avLst/>
          </a:prstGeom>
          <a:noFill/>
        </p:spPr>
        <p:txBody>
          <a:bodyPr wrap="square" lIns="0" rIns="0" tIns="0" bIns="0" anchor="t">
            <a:noAutofit/>
          </a:bodyPr>
          <a:lstStyle/>
          <a:p>
            <a:pPr algn="l">
              <a:lnSpc>
                <a:spcPct val="115000"/>
              </a:lnSpc>
            </a:pPr>
            <a:r>
              <a:rPr sz="1400" b="1" i="0">
                <a:solidFill>
                  <a:srgbClr val="47556D"/>
                </a:solidFill>
                <a:latin typeface="Inter"/>
              </a:rPr>
              <a:t>35% of Australian parents already pay for tutoring. 18% spend A$100–150 per week.</a:t>
            </a:r>
          </a:p>
        </p:txBody>
      </p:sp>
      <p:sp>
        <p:nvSpPr>
          <p:cNvPr id="6" name="TextBox 5"/>
          <p:cNvSpPr txBox="1"/>
          <p:nvPr/>
        </p:nvSpPr>
        <p:spPr>
          <a:xfrm>
            <a:off x="640080" y="6355080"/>
            <a:ext cx="10911535" cy="274320"/>
          </a:xfrm>
          <a:prstGeom prst="rect">
            <a:avLst/>
          </a:prstGeom>
          <a:noFill/>
        </p:spPr>
        <p:txBody>
          <a:bodyPr wrap="square" lIns="0" rIns="0" tIns="0" bIns="0" anchor="t">
            <a:noAutofit/>
          </a:bodyPr>
          <a:lstStyle/>
          <a:p>
            <a:pPr algn="l">
              <a:lnSpc>
                <a:spcPct val="115000"/>
              </a:lnSpc>
            </a:pPr>
            <a:r>
              <a:rPr sz="1300" b="0" i="1">
                <a:solidFill>
                  <a:srgbClr val="64748B"/>
                </a:solidFill>
                <a:latin typeface="Inter"/>
              </a:rPr>
              <a:t>Our job is redirection, not creation.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3000" b="1" i="0">
                <a:solidFill>
                  <a:srgbClr val="0F172A"/>
                </a:solidFill>
                <a:latin typeface="Inter"/>
              </a:rPr>
              <a:t>The 2-sigma solution, finally economical.</a:t>
            </a:r>
          </a:p>
        </p:txBody>
      </p:sp>
      <p:sp>
        <p:nvSpPr>
          <p:cNvPr id="3" name="TextBox 2"/>
          <p:cNvSpPr txBox="1"/>
          <p:nvPr/>
        </p:nvSpPr>
        <p:spPr>
          <a:xfrm>
            <a:off x="640080" y="1417320"/>
            <a:ext cx="10911535" cy="457200"/>
          </a:xfrm>
          <a:prstGeom prst="rect">
            <a:avLst/>
          </a:prstGeom>
          <a:noFill/>
        </p:spPr>
        <p:txBody>
          <a:bodyPr wrap="square" lIns="0" rIns="0" tIns="0" bIns="0" anchor="t">
            <a:noAutofit/>
          </a:bodyPr>
          <a:lstStyle/>
          <a:p>
            <a:pPr algn="l">
              <a:lnSpc>
                <a:spcPct val="115000"/>
              </a:lnSpc>
            </a:pPr>
            <a:r>
              <a:rPr sz="1600" b="0" i="1">
                <a:solidFill>
                  <a:srgbClr val="64748B"/>
                </a:solidFill>
                <a:latin typeface="Inter"/>
              </a:rPr>
              <a:t>Three forces converging, for the first time in history.</a:t>
            </a:r>
          </a:p>
        </p:txBody>
      </p:sp>
      <p:sp>
        <p:nvSpPr>
          <p:cNvPr id="4" name="Oval 3"/>
          <p:cNvSpPr/>
          <p:nvPr/>
        </p:nvSpPr>
        <p:spPr>
          <a:xfrm>
            <a:off x="640080" y="2468880"/>
            <a:ext cx="731520" cy="7315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800">
                <a:solidFill>
                  <a:srgbClr val="FFFFFF"/>
                </a:solidFill>
                <a:latin typeface="Inter"/>
              </a:rPr>
              <a:t>1</a:t>
            </a:r>
          </a:p>
        </p:txBody>
      </p:sp>
      <p:sp>
        <p:nvSpPr>
          <p:cNvPr id="5" name="TextBox 4"/>
          <p:cNvSpPr txBox="1"/>
          <p:nvPr/>
        </p:nvSpPr>
        <p:spPr>
          <a:xfrm>
            <a:off x="640080" y="3429000"/>
            <a:ext cx="3423818" cy="640080"/>
          </a:xfrm>
          <a:prstGeom prst="rect">
            <a:avLst/>
          </a:prstGeom>
          <a:noFill/>
        </p:spPr>
        <p:txBody>
          <a:bodyPr wrap="square" lIns="0" rIns="0" tIns="0" bIns="0" anchor="t">
            <a:noAutofit/>
          </a:bodyPr>
          <a:lstStyle/>
          <a:p>
            <a:pPr algn="l">
              <a:lnSpc>
                <a:spcPct val="115000"/>
              </a:lnSpc>
            </a:pPr>
            <a:r>
              <a:rPr sz="1800" b="1" i="0">
                <a:solidFill>
                  <a:srgbClr val="0F172A"/>
                </a:solidFill>
                <a:latin typeface="Inter"/>
              </a:rPr>
              <a:t>The science is 40 years old.</a:t>
            </a:r>
          </a:p>
        </p:txBody>
      </p:sp>
      <p:sp>
        <p:nvSpPr>
          <p:cNvPr id="6" name="TextBox 5"/>
          <p:cNvSpPr txBox="1"/>
          <p:nvPr/>
        </p:nvSpPr>
        <p:spPr>
          <a:xfrm>
            <a:off x="640080" y="4160520"/>
            <a:ext cx="3423818" cy="2194560"/>
          </a:xfrm>
          <a:prstGeom prst="rect">
            <a:avLst/>
          </a:prstGeom>
          <a:noFill/>
        </p:spPr>
        <p:txBody>
          <a:bodyPr wrap="square" lIns="0" rIns="0" tIns="0" bIns="0" anchor="t">
            <a:noAutofit/>
          </a:bodyPr>
          <a:lstStyle/>
          <a:p>
            <a:pPr algn="l">
              <a:lnSpc>
                <a:spcPct val="140000"/>
              </a:lnSpc>
            </a:pPr>
            <a:r>
              <a:rPr sz="1300" b="0" i="0">
                <a:solidFill>
                  <a:srgbClr val="47556D"/>
                </a:solidFill>
                <a:latin typeface="Inter"/>
              </a:rPr>
              <a:t>Benjamin Bloom (1984) proved 1:1 mastery tutoring produces +2.0 standard deviations of improvement — the 98th percentile of classroom-taught peers.</a:t>
            </a:r>
          </a:p>
        </p:txBody>
      </p:sp>
      <p:sp>
        <p:nvSpPr>
          <p:cNvPr id="7" name="Oval 6"/>
          <p:cNvSpPr/>
          <p:nvPr/>
        </p:nvSpPr>
        <p:spPr>
          <a:xfrm>
            <a:off x="4383938" y="2468880"/>
            <a:ext cx="731520" cy="7315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800">
                <a:solidFill>
                  <a:srgbClr val="FFFFFF"/>
                </a:solidFill>
                <a:latin typeface="Inter"/>
              </a:rPr>
              <a:t>2</a:t>
            </a:r>
          </a:p>
        </p:txBody>
      </p:sp>
      <p:sp>
        <p:nvSpPr>
          <p:cNvPr id="8" name="TextBox 7"/>
          <p:cNvSpPr txBox="1"/>
          <p:nvPr/>
        </p:nvSpPr>
        <p:spPr>
          <a:xfrm>
            <a:off x="4383938" y="3429000"/>
            <a:ext cx="3423818" cy="640080"/>
          </a:xfrm>
          <a:prstGeom prst="rect">
            <a:avLst/>
          </a:prstGeom>
          <a:noFill/>
        </p:spPr>
        <p:txBody>
          <a:bodyPr wrap="square" lIns="0" rIns="0" tIns="0" bIns="0" anchor="t">
            <a:noAutofit/>
          </a:bodyPr>
          <a:lstStyle/>
          <a:p>
            <a:pPr algn="l">
              <a:lnSpc>
                <a:spcPct val="115000"/>
              </a:lnSpc>
            </a:pPr>
            <a:r>
              <a:rPr sz="1800" b="1" i="0">
                <a:solidFill>
                  <a:srgbClr val="0F172A"/>
                </a:solidFill>
                <a:latin typeface="Inter"/>
              </a:rPr>
              <a:t>The economics just flipped.</a:t>
            </a:r>
          </a:p>
        </p:txBody>
      </p:sp>
      <p:sp>
        <p:nvSpPr>
          <p:cNvPr id="9" name="TextBox 8"/>
          <p:cNvSpPr txBox="1"/>
          <p:nvPr/>
        </p:nvSpPr>
        <p:spPr>
          <a:xfrm>
            <a:off x="4383938" y="4160520"/>
            <a:ext cx="3423818" cy="2194560"/>
          </a:xfrm>
          <a:prstGeom prst="rect">
            <a:avLst/>
          </a:prstGeom>
          <a:noFill/>
        </p:spPr>
        <p:txBody>
          <a:bodyPr wrap="square" lIns="0" rIns="0" tIns="0" bIns="0" anchor="t">
            <a:noAutofit/>
          </a:bodyPr>
          <a:lstStyle/>
          <a:p>
            <a:pPr algn="l">
              <a:lnSpc>
                <a:spcPct val="140000"/>
              </a:lnSpc>
            </a:pPr>
            <a:r>
              <a:rPr sz="1300" b="0" i="0">
                <a:solidFill>
                  <a:srgbClr val="47556D"/>
                </a:solidFill>
                <a:latin typeface="Inter"/>
              </a:rPr>
              <a:t>LLM inference costs fell 150–1000× in five years. Personalised adaptive tutoring just became viable at a consumer subscription price.</a:t>
            </a:r>
          </a:p>
        </p:txBody>
      </p:sp>
      <p:sp>
        <p:nvSpPr>
          <p:cNvPr id="10" name="Oval 9"/>
          <p:cNvSpPr/>
          <p:nvPr/>
        </p:nvSpPr>
        <p:spPr>
          <a:xfrm>
            <a:off x="8127796" y="2468880"/>
            <a:ext cx="731520" cy="7315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800">
                <a:solidFill>
                  <a:srgbClr val="FFFFFF"/>
                </a:solidFill>
                <a:latin typeface="Inter"/>
              </a:rPr>
              <a:t>3</a:t>
            </a:r>
          </a:p>
        </p:txBody>
      </p:sp>
      <p:sp>
        <p:nvSpPr>
          <p:cNvPr id="11" name="TextBox 10"/>
          <p:cNvSpPr txBox="1"/>
          <p:nvPr/>
        </p:nvSpPr>
        <p:spPr>
          <a:xfrm>
            <a:off x="8127796" y="3429000"/>
            <a:ext cx="3423818" cy="640080"/>
          </a:xfrm>
          <a:prstGeom prst="rect">
            <a:avLst/>
          </a:prstGeom>
          <a:noFill/>
        </p:spPr>
        <p:txBody>
          <a:bodyPr wrap="square" lIns="0" rIns="0" tIns="0" bIns="0" anchor="t">
            <a:noAutofit/>
          </a:bodyPr>
          <a:lstStyle/>
          <a:p>
            <a:pPr algn="l">
              <a:lnSpc>
                <a:spcPct val="115000"/>
              </a:lnSpc>
            </a:pPr>
            <a:r>
              <a:rPr sz="1800" b="1" i="0">
                <a:solidFill>
                  <a:srgbClr val="0F172A"/>
                </a:solidFill>
                <a:latin typeface="Inter"/>
              </a:rPr>
              <a:t>Parents are ready.</a:t>
            </a:r>
          </a:p>
        </p:txBody>
      </p:sp>
      <p:sp>
        <p:nvSpPr>
          <p:cNvPr id="12" name="TextBox 11"/>
          <p:cNvSpPr txBox="1"/>
          <p:nvPr/>
        </p:nvSpPr>
        <p:spPr>
          <a:xfrm>
            <a:off x="8127796" y="4160520"/>
            <a:ext cx="3423818" cy="2194560"/>
          </a:xfrm>
          <a:prstGeom prst="rect">
            <a:avLst/>
          </a:prstGeom>
          <a:noFill/>
        </p:spPr>
        <p:txBody>
          <a:bodyPr wrap="square" lIns="0" rIns="0" tIns="0" bIns="0" anchor="t">
            <a:noAutofit/>
          </a:bodyPr>
          <a:lstStyle/>
          <a:p>
            <a:pPr algn="l">
              <a:lnSpc>
                <a:spcPct val="140000"/>
              </a:lnSpc>
            </a:pPr>
            <a:r>
              <a:rPr sz="1300" b="0" i="0">
                <a:solidFill>
                  <a:srgbClr val="47556D"/>
                </a:solidFill>
                <a:latin typeface="Inter"/>
              </a:rPr>
              <a:t>Post-COVID, Australian parents normalised digital-first learning for their children — and are actively looking for tools that work.</a:t>
            </a:r>
          </a:p>
        </p:txBody>
      </p:sp>
      <p:sp>
        <p:nvSpPr>
          <p:cNvPr id="13" name="TextBox 12"/>
          <p:cNvSpPr txBox="1"/>
          <p:nvPr/>
        </p:nvSpPr>
        <p:spPr>
          <a:xfrm>
            <a:off x="640080" y="6035040"/>
            <a:ext cx="10911535" cy="457200"/>
          </a:xfrm>
          <a:prstGeom prst="rect">
            <a:avLst/>
          </a:prstGeom>
          <a:noFill/>
        </p:spPr>
        <p:txBody>
          <a:bodyPr wrap="square" lIns="0" rIns="0" tIns="0" bIns="0" anchor="t">
            <a:noAutofit/>
          </a:bodyPr>
          <a:lstStyle/>
          <a:p>
            <a:pPr algn="l">
              <a:lnSpc>
                <a:spcPct val="130000"/>
              </a:lnSpc>
            </a:pPr>
            <a:r>
              <a:rPr sz="1300" b="0" i="1">
                <a:solidFill>
                  <a:srgbClr val="64748B"/>
                </a:solidFill>
                <a:latin typeface="Inter"/>
              </a:rPr>
              <a:t>What Bloom called the "2-sigma problem" — the known solution that couldn't scale — is no longer a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lIns="0" rIns="0" tIns="0" bIns="0" anchor="t">
            <a:noAutofit/>
          </a:bodyPr>
          <a:lstStyle/>
          <a:p>
            <a:pPr algn="l">
              <a:lnSpc>
                <a:spcPct val="110000"/>
              </a:lnSpc>
            </a:pPr>
            <a:r>
              <a:rPr sz="2600" b="1" i="0">
                <a:solidFill>
                  <a:srgbClr val="0F172A"/>
                </a:solidFill>
                <a:latin typeface="Inter"/>
              </a:rPr>
              <a:t>A mastery-based learning coach for every Australian child.</a:t>
            </a:r>
          </a:p>
        </p:txBody>
      </p:sp>
      <p:sp>
        <p:nvSpPr>
          <p:cNvPr id="3" name="TextBox 2"/>
          <p:cNvSpPr txBox="1"/>
          <p:nvPr/>
        </p:nvSpPr>
        <p:spPr>
          <a:xfrm>
            <a:off x="640080" y="1645920"/>
            <a:ext cx="10911535" cy="457200"/>
          </a:xfrm>
          <a:prstGeom prst="rect">
            <a:avLst/>
          </a:prstGeom>
          <a:noFill/>
        </p:spPr>
        <p:txBody>
          <a:bodyPr wrap="square" lIns="0" rIns="0" tIns="0" bIns="0" anchor="t">
            <a:noAutofit/>
          </a:bodyPr>
          <a:lstStyle/>
          <a:p>
            <a:pPr algn="l">
              <a:lnSpc>
                <a:spcPct val="115000"/>
              </a:lnSpc>
            </a:pPr>
            <a:r>
              <a:rPr sz="1700" b="0" i="1">
                <a:solidFill>
                  <a:srgbClr val="64748B"/>
                </a:solidFill>
                <a:latin typeface="Inter"/>
              </a:rPr>
              <a:t>For the price of a family streaming subscription.</a:t>
            </a:r>
          </a:p>
        </p:txBody>
      </p:sp>
      <p:sp>
        <p:nvSpPr>
          <p:cNvPr id="4" name="Oval 3"/>
          <p:cNvSpPr/>
          <p:nvPr/>
        </p:nvSpPr>
        <p:spPr>
          <a:xfrm>
            <a:off x="1706727" y="2834640"/>
            <a:ext cx="914400" cy="91440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3600">
                <a:solidFill>
                  <a:srgbClr val="FFFFFF"/>
                </a:solidFill>
                <a:latin typeface="Inter"/>
              </a:rPr>
              <a:t>1</a:t>
            </a:r>
          </a:p>
        </p:txBody>
      </p:sp>
      <p:sp>
        <p:nvSpPr>
          <p:cNvPr id="5" name="TextBox 4"/>
          <p:cNvSpPr txBox="1"/>
          <p:nvPr/>
        </p:nvSpPr>
        <p:spPr>
          <a:xfrm>
            <a:off x="655167" y="3931920"/>
            <a:ext cx="3017520" cy="457200"/>
          </a:xfrm>
          <a:prstGeom prst="rect">
            <a:avLst/>
          </a:prstGeom>
          <a:noFill/>
        </p:spPr>
        <p:txBody>
          <a:bodyPr wrap="square" lIns="0" rIns="0" tIns="0" bIns="0" anchor="t">
            <a:noAutofit/>
          </a:bodyPr>
          <a:lstStyle/>
          <a:p>
            <a:pPr algn="ctr">
              <a:lnSpc>
                <a:spcPct val="110000"/>
              </a:lnSpc>
            </a:pPr>
            <a:r>
              <a:rPr sz="2200" b="1" i="0">
                <a:solidFill>
                  <a:srgbClr val="0F172A"/>
                </a:solidFill>
                <a:latin typeface="Inter"/>
              </a:rPr>
              <a:t>Diagnose</a:t>
            </a:r>
          </a:p>
        </p:txBody>
      </p:sp>
      <p:sp>
        <p:nvSpPr>
          <p:cNvPr id="6" name="TextBox 5"/>
          <p:cNvSpPr txBox="1"/>
          <p:nvPr/>
        </p:nvSpPr>
        <p:spPr>
          <a:xfrm>
            <a:off x="655167" y="4480559"/>
            <a:ext cx="3017520" cy="1463040"/>
          </a:xfrm>
          <a:prstGeom prst="rect">
            <a:avLst/>
          </a:prstGeom>
          <a:noFill/>
        </p:spPr>
        <p:txBody>
          <a:bodyPr wrap="square" lIns="0" rIns="0" tIns="0" bIns="0" anchor="t">
            <a:noAutofit/>
          </a:bodyPr>
          <a:lstStyle/>
          <a:p>
            <a:pPr algn="ctr">
              <a:lnSpc>
                <a:spcPct val="140000"/>
              </a:lnSpc>
            </a:pPr>
            <a:r>
              <a:rPr sz="1300" b="0" i="0">
                <a:solidFill>
                  <a:srgbClr val="47556D"/>
                </a:solidFill>
                <a:latin typeface="Inter"/>
              </a:rPr>
              <a:t>A short adaptive assessment pinpoints exactly where the gaps are.</a:t>
            </a:r>
          </a:p>
        </p:txBody>
      </p:sp>
      <p:sp>
        <p:nvSpPr>
          <p:cNvPr id="7" name="Oval 6"/>
          <p:cNvSpPr/>
          <p:nvPr/>
        </p:nvSpPr>
        <p:spPr>
          <a:xfrm>
            <a:off x="5638647" y="2834640"/>
            <a:ext cx="914400" cy="91440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3600">
                <a:solidFill>
                  <a:srgbClr val="FFFFFF"/>
                </a:solidFill>
                <a:latin typeface="Inter"/>
              </a:rPr>
              <a:t>2</a:t>
            </a:r>
          </a:p>
        </p:txBody>
      </p:sp>
      <p:sp>
        <p:nvSpPr>
          <p:cNvPr id="8" name="TextBox 7"/>
          <p:cNvSpPr txBox="1"/>
          <p:nvPr/>
        </p:nvSpPr>
        <p:spPr>
          <a:xfrm>
            <a:off x="4587087" y="3931920"/>
            <a:ext cx="3017520" cy="457200"/>
          </a:xfrm>
          <a:prstGeom prst="rect">
            <a:avLst/>
          </a:prstGeom>
          <a:noFill/>
        </p:spPr>
        <p:txBody>
          <a:bodyPr wrap="square" lIns="0" rIns="0" tIns="0" bIns="0" anchor="t">
            <a:noAutofit/>
          </a:bodyPr>
          <a:lstStyle/>
          <a:p>
            <a:pPr algn="ctr">
              <a:lnSpc>
                <a:spcPct val="110000"/>
              </a:lnSpc>
            </a:pPr>
            <a:r>
              <a:rPr sz="2200" b="1" i="0">
                <a:solidFill>
                  <a:srgbClr val="0F172A"/>
                </a:solidFill>
                <a:latin typeface="Inter"/>
              </a:rPr>
              <a:t>Learn</a:t>
            </a:r>
          </a:p>
        </p:txBody>
      </p:sp>
      <p:sp>
        <p:nvSpPr>
          <p:cNvPr id="9" name="TextBox 8"/>
          <p:cNvSpPr txBox="1"/>
          <p:nvPr/>
        </p:nvSpPr>
        <p:spPr>
          <a:xfrm>
            <a:off x="4587087" y="4480559"/>
            <a:ext cx="3017520" cy="1463040"/>
          </a:xfrm>
          <a:prstGeom prst="rect">
            <a:avLst/>
          </a:prstGeom>
          <a:noFill/>
        </p:spPr>
        <p:txBody>
          <a:bodyPr wrap="square" lIns="0" rIns="0" tIns="0" bIns="0" anchor="t">
            <a:noAutofit/>
          </a:bodyPr>
          <a:lstStyle/>
          <a:p>
            <a:pPr algn="ctr">
              <a:lnSpc>
                <a:spcPct val="140000"/>
              </a:lnSpc>
            </a:pPr>
            <a:r>
              <a:rPr sz="1300" b="0" i="0">
                <a:solidFill>
                  <a:srgbClr val="47556D"/>
                </a:solidFill>
                <a:latin typeface="Inter"/>
              </a:rPr>
              <a:t>20-minute daily sessions adapt in real time — questions stay in the 80% win-rate zone.</a:t>
            </a:r>
          </a:p>
        </p:txBody>
      </p:sp>
      <p:sp>
        <p:nvSpPr>
          <p:cNvPr id="10" name="Oval 9"/>
          <p:cNvSpPr/>
          <p:nvPr/>
        </p:nvSpPr>
        <p:spPr>
          <a:xfrm>
            <a:off x="9570567" y="2834640"/>
            <a:ext cx="914400" cy="91440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3600">
                <a:solidFill>
                  <a:srgbClr val="FFFFFF"/>
                </a:solidFill>
                <a:latin typeface="Inter"/>
              </a:rPr>
              <a:t>3</a:t>
            </a:r>
          </a:p>
        </p:txBody>
      </p:sp>
      <p:sp>
        <p:nvSpPr>
          <p:cNvPr id="11" name="TextBox 10"/>
          <p:cNvSpPr txBox="1"/>
          <p:nvPr/>
        </p:nvSpPr>
        <p:spPr>
          <a:xfrm>
            <a:off x="8519007" y="3931920"/>
            <a:ext cx="3017520" cy="457200"/>
          </a:xfrm>
          <a:prstGeom prst="rect">
            <a:avLst/>
          </a:prstGeom>
          <a:noFill/>
        </p:spPr>
        <p:txBody>
          <a:bodyPr wrap="square" lIns="0" rIns="0" tIns="0" bIns="0" anchor="t">
            <a:noAutofit/>
          </a:bodyPr>
          <a:lstStyle/>
          <a:p>
            <a:pPr algn="ctr">
              <a:lnSpc>
                <a:spcPct val="110000"/>
              </a:lnSpc>
            </a:pPr>
            <a:r>
              <a:rPr sz="2200" b="1" i="0">
                <a:solidFill>
                  <a:srgbClr val="0F172A"/>
                </a:solidFill>
                <a:latin typeface="Inter"/>
              </a:rPr>
              <a:t>Master</a:t>
            </a:r>
          </a:p>
        </p:txBody>
      </p:sp>
      <p:sp>
        <p:nvSpPr>
          <p:cNvPr id="12" name="TextBox 11"/>
          <p:cNvSpPr txBox="1"/>
          <p:nvPr/>
        </p:nvSpPr>
        <p:spPr>
          <a:xfrm>
            <a:off x="8519007" y="4480559"/>
            <a:ext cx="3017520" cy="1463040"/>
          </a:xfrm>
          <a:prstGeom prst="rect">
            <a:avLst/>
          </a:prstGeom>
          <a:noFill/>
        </p:spPr>
        <p:txBody>
          <a:bodyPr wrap="square" lIns="0" rIns="0" tIns="0" bIns="0" anchor="t">
            <a:noAutofit/>
          </a:bodyPr>
          <a:lstStyle/>
          <a:p>
            <a:pPr algn="ctr">
              <a:lnSpc>
                <a:spcPct val="140000"/>
              </a:lnSpc>
            </a:pPr>
            <a:r>
              <a:rPr sz="1300" b="0" i="0">
                <a:solidFill>
                  <a:srgbClr val="47556D"/>
                </a:solidFill>
                <a:latin typeface="Inter"/>
              </a:rPr>
              <a:t>Skills only lock in after proven mastery across multiple sessions. Spaced repetition holds them.</a:t>
            </a:r>
          </a:p>
        </p:txBody>
      </p:sp>
      <p:cxnSp>
        <p:nvCxnSpPr>
          <p:cNvPr id="13" name="Connector 12"/>
          <p:cNvCxnSpPr/>
          <p:nvPr/>
        </p:nvCxnSpPr>
        <p:spPr>
          <a:xfrm>
            <a:off x="3718407" y="3291840"/>
            <a:ext cx="822960" cy="0"/>
          </a:xfrm>
          <a:prstGeom prst="line">
            <a:avLst/>
          </a:prstGeom>
          <a:ln w="2286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650327" y="3291840"/>
            <a:ext cx="822960" cy="0"/>
          </a:xfrm>
          <a:prstGeom prst="line">
            <a:avLst/>
          </a:prstGeom>
          <a:ln w="22860">
            <a:solidFill>
              <a:srgbClr val="94A3B8"/>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40080" y="5852160"/>
            <a:ext cx="10911535" cy="6858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852160"/>
            <a:ext cx="10911535" cy="685800"/>
          </a:xfrm>
          <a:prstGeom prst="rect">
            <a:avLst/>
          </a:prstGeom>
          <a:noFill/>
        </p:spPr>
        <p:txBody>
          <a:bodyPr wrap="square" lIns="0" rIns="0" tIns="0" bIns="0" anchor="ctr">
            <a:noAutofit/>
          </a:bodyPr>
          <a:lstStyle/>
          <a:p>
            <a:pPr algn="ctr">
              <a:lnSpc>
                <a:spcPct val="115000"/>
              </a:lnSpc>
            </a:pPr>
            <a:r>
              <a:rPr sz="1400" b="1" i="0">
                <a:solidFill>
                  <a:srgbClr val="FFFFFF"/>
                </a:solidFill>
                <a:latin typeface="Inter"/>
              </a:rPr>
              <a:t>Free 7-day trial  ·  A$39/mo single child  ·  A$59/mo family (up to 4 kids)  ·  ACARA-aligned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3000" b="1" i="0">
                <a:solidFill>
                  <a:srgbClr val="0F172A"/>
                </a:solidFill>
                <a:latin typeface="Inter"/>
              </a:rPr>
              <a:t>The parent is the guide. We give them the map.</a:t>
            </a:r>
          </a:p>
        </p:txBody>
      </p:sp>
      <p:sp>
        <p:nvSpPr>
          <p:cNvPr id="3" name="TextBox 2"/>
          <p:cNvSpPr txBox="1"/>
          <p:nvPr/>
        </p:nvSpPr>
        <p:spPr>
          <a:xfrm>
            <a:off x="640080" y="1463040"/>
            <a:ext cx="10911535" cy="457200"/>
          </a:xfrm>
          <a:prstGeom prst="rect">
            <a:avLst/>
          </a:prstGeom>
          <a:noFill/>
        </p:spPr>
        <p:txBody>
          <a:bodyPr wrap="square" lIns="0" rIns="0" tIns="0" bIns="0" anchor="t">
            <a:noAutofit/>
          </a:bodyPr>
          <a:lstStyle/>
          <a:p>
            <a:pPr algn="l">
              <a:lnSpc>
                <a:spcPct val="115000"/>
              </a:lnSpc>
            </a:pPr>
            <a:r>
              <a:rPr sz="1500" b="0" i="1">
                <a:solidFill>
                  <a:srgbClr val="64748B"/>
                </a:solidFill>
                <a:latin typeface="Inter"/>
              </a:rPr>
              <a:t>Research consistently shows AI tutoring works best when paired with a human guide.</a:t>
            </a:r>
          </a:p>
        </p:txBody>
      </p:sp>
      <p:sp>
        <p:nvSpPr>
          <p:cNvPr id="4" name="Rectangle 3"/>
          <p:cNvSpPr/>
          <p:nvPr/>
        </p:nvSpPr>
        <p:spPr>
          <a:xfrm>
            <a:off x="640080" y="2606040"/>
            <a:ext cx="128016" cy="128016"/>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19" y="2468880"/>
            <a:ext cx="5897880" cy="731520"/>
          </a:xfrm>
          <a:prstGeom prst="rect">
            <a:avLst/>
          </a:prstGeom>
          <a:noFill/>
        </p:spPr>
        <p:txBody>
          <a:bodyPr wrap="square" lIns="0" rIns="0" tIns="0" bIns="0" anchor="t">
            <a:noAutofit/>
          </a:bodyPr>
          <a:lstStyle/>
          <a:p>
            <a:pPr algn="l">
              <a:lnSpc>
                <a:spcPct val="135000"/>
              </a:lnSpc>
            </a:pPr>
            <a:r>
              <a:rPr sz="1600" b="1" i="0">
                <a:solidFill>
                  <a:srgbClr val="0F172A"/>
                </a:solidFill>
                <a:latin typeface="Inter"/>
              </a:rPr>
              <a:t>Daily briefing</a:t>
            </a:r>
            <a:r>
              <a:rPr sz="1400" b="0" i="0">
                <a:solidFill>
                  <a:srgbClr val="94A3B8"/>
                </a:solidFill>
                <a:latin typeface="Inter"/>
              </a:rPr>
              <a:t>  —  </a:t>
            </a:r>
            <a:r>
              <a:rPr sz="1400" b="0" i="0">
                <a:solidFill>
                  <a:srgbClr val="47556D"/>
                </a:solidFill>
                <a:latin typeface="Inter"/>
              </a:rPr>
              <a:t>Before each session — what your child's working on, what to watch for.</a:t>
            </a:r>
          </a:p>
        </p:txBody>
      </p:sp>
      <p:sp>
        <p:nvSpPr>
          <p:cNvPr id="6" name="Rectangle 5"/>
          <p:cNvSpPr/>
          <p:nvPr/>
        </p:nvSpPr>
        <p:spPr>
          <a:xfrm>
            <a:off x="640080" y="3410712"/>
            <a:ext cx="128016" cy="128016"/>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19" y="3273552"/>
            <a:ext cx="5897880" cy="731520"/>
          </a:xfrm>
          <a:prstGeom prst="rect">
            <a:avLst/>
          </a:prstGeom>
          <a:noFill/>
        </p:spPr>
        <p:txBody>
          <a:bodyPr wrap="square" lIns="0" rIns="0" tIns="0" bIns="0" anchor="t">
            <a:noAutofit/>
          </a:bodyPr>
          <a:lstStyle/>
          <a:p>
            <a:pPr algn="l">
              <a:lnSpc>
                <a:spcPct val="135000"/>
              </a:lnSpc>
            </a:pPr>
            <a:r>
              <a:rPr sz="1600" b="1" i="0">
                <a:solidFill>
                  <a:srgbClr val="0F172A"/>
                </a:solidFill>
                <a:latin typeface="Inter"/>
              </a:rPr>
              <a:t>Real-time nudges</a:t>
            </a:r>
            <a:r>
              <a:rPr sz="1400" b="0" i="0">
                <a:solidFill>
                  <a:srgbClr val="94A3B8"/>
                </a:solidFill>
                <a:latin typeface="Inter"/>
              </a:rPr>
              <a:t>  —  </a:t>
            </a:r>
            <a:r>
              <a:rPr sz="1400" b="0" i="0">
                <a:solidFill>
                  <a:srgbClr val="47556D"/>
                </a:solidFill>
                <a:latin typeface="Inter"/>
              </a:rPr>
              <a:t>When they get stuck — with the exact wording you can use.</a:t>
            </a:r>
          </a:p>
        </p:txBody>
      </p:sp>
      <p:sp>
        <p:nvSpPr>
          <p:cNvPr id="8" name="Rectangle 7"/>
          <p:cNvSpPr/>
          <p:nvPr/>
        </p:nvSpPr>
        <p:spPr>
          <a:xfrm>
            <a:off x="640080" y="4215384"/>
            <a:ext cx="128016" cy="128016"/>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19" y="4078224"/>
            <a:ext cx="5897880" cy="731520"/>
          </a:xfrm>
          <a:prstGeom prst="rect">
            <a:avLst/>
          </a:prstGeom>
          <a:noFill/>
        </p:spPr>
        <p:txBody>
          <a:bodyPr wrap="square" lIns="0" rIns="0" tIns="0" bIns="0" anchor="t">
            <a:noAutofit/>
          </a:bodyPr>
          <a:lstStyle/>
          <a:p>
            <a:pPr algn="l">
              <a:lnSpc>
                <a:spcPct val="135000"/>
              </a:lnSpc>
            </a:pPr>
            <a:r>
              <a:rPr sz="1600" b="1" i="0">
                <a:solidFill>
                  <a:srgbClr val="0F172A"/>
                </a:solidFill>
                <a:latin typeface="Inter"/>
              </a:rPr>
              <a:t>Weekly reports</a:t>
            </a:r>
            <a:r>
              <a:rPr sz="1400" b="0" i="0">
                <a:solidFill>
                  <a:srgbClr val="94A3B8"/>
                </a:solidFill>
                <a:latin typeface="Inter"/>
              </a:rPr>
              <a:t>  —  </a:t>
            </a:r>
            <a:r>
              <a:rPr sz="1400" b="0" i="0">
                <a:solidFill>
                  <a:srgbClr val="47556D"/>
                </a:solidFill>
                <a:latin typeface="Inter"/>
              </a:rPr>
              <a:t>Clear enough to share with their classroom teacher.</a:t>
            </a:r>
          </a:p>
        </p:txBody>
      </p:sp>
      <p:sp>
        <p:nvSpPr>
          <p:cNvPr id="10" name="Rectangle 9"/>
          <p:cNvSpPr/>
          <p:nvPr/>
        </p:nvSpPr>
        <p:spPr>
          <a:xfrm>
            <a:off x="640080" y="5020056"/>
            <a:ext cx="128016" cy="128016"/>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19" y="4882896"/>
            <a:ext cx="5897880" cy="731520"/>
          </a:xfrm>
          <a:prstGeom prst="rect">
            <a:avLst/>
          </a:prstGeom>
          <a:noFill/>
        </p:spPr>
        <p:txBody>
          <a:bodyPr wrap="square" lIns="0" rIns="0" tIns="0" bIns="0" anchor="t">
            <a:noAutofit/>
          </a:bodyPr>
          <a:lstStyle/>
          <a:p>
            <a:pPr algn="l">
              <a:lnSpc>
                <a:spcPct val="135000"/>
              </a:lnSpc>
            </a:pPr>
            <a:r>
              <a:rPr sz="1600" b="1" i="0">
                <a:solidFill>
                  <a:srgbClr val="0F172A"/>
                </a:solidFill>
                <a:latin typeface="Inter"/>
              </a:rPr>
              <a:t>Conversation scripts</a:t>
            </a:r>
            <a:r>
              <a:rPr sz="1400" b="0" i="0">
                <a:solidFill>
                  <a:srgbClr val="94A3B8"/>
                </a:solidFill>
                <a:latin typeface="Inter"/>
              </a:rPr>
              <a:t>  —  </a:t>
            </a:r>
            <a:r>
              <a:rPr sz="1400" b="0" i="0">
                <a:solidFill>
                  <a:srgbClr val="47556D"/>
                </a:solidFill>
                <a:latin typeface="Inter"/>
              </a:rPr>
              <a:t>What to say at dinner to reinforce what they just learned.</a:t>
            </a:r>
          </a:p>
        </p:txBody>
      </p:sp>
      <p:sp>
        <p:nvSpPr>
          <p:cNvPr id="12" name="Rectangle 11"/>
          <p:cNvSpPr/>
          <p:nvPr/>
        </p:nvSpPr>
        <p:spPr>
          <a:xfrm>
            <a:off x="7223760" y="2468880"/>
            <a:ext cx="4327855" cy="34747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23760" y="2468880"/>
            <a:ext cx="4327855"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17520"/>
            <a:ext cx="3596335" cy="1828800"/>
          </a:xfrm>
          <a:prstGeom prst="rect">
            <a:avLst/>
          </a:prstGeom>
          <a:noFill/>
        </p:spPr>
        <p:txBody>
          <a:bodyPr wrap="square" lIns="0" rIns="0" tIns="0" bIns="0" anchor="t">
            <a:noAutofit/>
          </a:bodyPr>
          <a:lstStyle/>
          <a:p>
            <a:pPr algn="l">
              <a:lnSpc>
                <a:spcPct val="120000"/>
              </a:lnSpc>
            </a:pPr>
            <a:r>
              <a:rPr sz="2600" b="1" i="0">
                <a:solidFill>
                  <a:srgbClr val="FFFFFF"/>
                </a:solidFill>
                <a:latin typeface="Inter"/>
              </a:rPr>
              <a:t>"No teaching degree required."</a:t>
            </a:r>
          </a:p>
        </p:txBody>
      </p:sp>
      <p:sp>
        <p:nvSpPr>
          <p:cNvPr id="15" name="TextBox 14"/>
          <p:cNvSpPr txBox="1"/>
          <p:nvPr/>
        </p:nvSpPr>
        <p:spPr>
          <a:xfrm>
            <a:off x="7589520" y="4754880"/>
            <a:ext cx="3596335" cy="1097280"/>
          </a:xfrm>
          <a:prstGeom prst="rect">
            <a:avLst/>
          </a:prstGeom>
          <a:noFill/>
        </p:spPr>
        <p:txBody>
          <a:bodyPr wrap="square" lIns="0" rIns="0" tIns="0" bIns="0" anchor="t">
            <a:noAutofit/>
          </a:bodyPr>
          <a:lstStyle/>
          <a:p>
            <a:pPr algn="l">
              <a:lnSpc>
                <a:spcPct val="140000"/>
              </a:lnSpc>
            </a:pPr>
            <a:r>
              <a:rPr sz="1300" b="0" i="1">
                <a:solidFill>
                  <a:srgbClr val="CBD5E1"/>
                </a:solidFill>
                <a:latin typeface="Inter"/>
              </a:rPr>
              <a:t>Every parent gets the tools. No extra hours. No curriculum expertise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2600" b="1" i="0">
                <a:solidFill>
                  <a:srgbClr val="0F172A"/>
                </a:solidFill>
                <a:latin typeface="Inter"/>
              </a:rPr>
              <a:t>This isn't experimental. It's proven. Four times over.</a:t>
            </a:r>
          </a:p>
        </p:txBody>
      </p:sp>
      <p:pic>
        <p:nvPicPr>
          <p:cNvPr id="3" name="Picture 2" descr="evidence-chart.png"/>
          <p:cNvPicPr>
            <a:picLocks noChangeAspect="1"/>
          </p:cNvPicPr>
          <p:nvPr/>
        </p:nvPicPr>
        <p:blipFill>
          <a:blip r:embed="rId2"/>
          <a:stretch>
            <a:fillRect/>
          </a:stretch>
        </p:blipFill>
        <p:spPr>
          <a:xfrm>
            <a:off x="640080" y="1737360"/>
            <a:ext cx="10911535" cy="3920917"/>
          </a:xfrm>
          <a:prstGeom prst="rect">
            <a:avLst/>
          </a:prstGeom>
        </p:spPr>
      </p:pic>
      <p:sp>
        <p:nvSpPr>
          <p:cNvPr id="4" name="TextBox 3"/>
          <p:cNvSpPr txBox="1"/>
          <p:nvPr/>
        </p:nvSpPr>
        <p:spPr>
          <a:xfrm>
            <a:off x="640080" y="5760720"/>
            <a:ext cx="10911535" cy="411480"/>
          </a:xfrm>
          <a:prstGeom prst="rect">
            <a:avLst/>
          </a:prstGeom>
          <a:noFill/>
        </p:spPr>
        <p:txBody>
          <a:bodyPr wrap="square" lIns="0" rIns="0" tIns="0" bIns="0" anchor="t">
            <a:noAutofit/>
          </a:bodyPr>
          <a:lstStyle/>
          <a:p>
            <a:pPr algn="l">
              <a:lnSpc>
                <a:spcPct val="130000"/>
              </a:lnSpc>
            </a:pPr>
            <a:r>
              <a:rPr sz="1500" b="1" i="0">
                <a:solidFill>
                  <a:srgbClr val="0F172A"/>
                </a:solidFill>
                <a:latin typeface="Inter"/>
              </a:rPr>
              <a:t>Upwise is the first Australian operationalisation of 40 years of validated learning science.</a:t>
            </a:r>
          </a:p>
        </p:txBody>
      </p:sp>
      <p:sp>
        <p:nvSpPr>
          <p:cNvPr id="5" name="TextBox 4"/>
          <p:cNvSpPr txBox="1"/>
          <p:nvPr/>
        </p:nvSpPr>
        <p:spPr>
          <a:xfrm>
            <a:off x="640080" y="6236208"/>
            <a:ext cx="10911535" cy="320040"/>
          </a:xfrm>
          <a:prstGeom prst="rect">
            <a:avLst/>
          </a:prstGeom>
          <a:noFill/>
        </p:spPr>
        <p:txBody>
          <a:bodyPr wrap="square" lIns="0" rIns="0" tIns="0" bIns="0" anchor="t">
            <a:noAutofit/>
          </a:bodyPr>
          <a:lstStyle/>
          <a:p>
            <a:pPr algn="l">
              <a:lnSpc>
                <a:spcPct val="130000"/>
              </a:lnSpc>
            </a:pPr>
            <a:r>
              <a:rPr sz="1100" b="0" i="1">
                <a:solidFill>
                  <a:srgbClr val="64748B"/>
                </a:solidFill>
                <a:latin typeface="Inter"/>
              </a:rPr>
              <a:t>Sources: Bloom (1984) · Kulik &amp; Kulik (1990) · Pane et al. / RAND (2014) · 2025 AI tutoring systematic review (48 studies).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2600" b="1" i="0">
                <a:solidFill>
                  <a:srgbClr val="0F172A"/>
                </a:solidFill>
                <a:latin typeface="Inter"/>
              </a:rPr>
              <a:t>No Australian product owns mastery + parent-as-guide.</a:t>
            </a:r>
          </a:p>
        </p:txBody>
      </p:sp>
      <p:cxnSp>
        <p:nvCxnSpPr>
          <p:cNvPr id="3" name="Connector 2"/>
          <p:cNvCxnSpPr/>
          <p:nvPr/>
        </p:nvCxnSpPr>
        <p:spPr>
          <a:xfrm>
            <a:off x="6080759" y="1828800"/>
            <a:ext cx="0" cy="3931920"/>
          </a:xfrm>
          <a:prstGeom prst="line">
            <a:avLst/>
          </a:prstGeom>
          <a:ln w="19050">
            <a:solidFill>
              <a:srgbClr val="47556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554480" y="3840480"/>
            <a:ext cx="9052560" cy="0"/>
          </a:xfrm>
          <a:prstGeom prst="line">
            <a:avLst/>
          </a:prstGeom>
          <a:ln w="19050">
            <a:solidFill>
              <a:srgbClr val="47556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709159" y="1508760"/>
            <a:ext cx="2743200" cy="274320"/>
          </a:xfrm>
          <a:prstGeom prst="rect">
            <a:avLst/>
          </a:prstGeom>
          <a:noFill/>
        </p:spPr>
        <p:txBody>
          <a:bodyPr wrap="square" lIns="0" rIns="0" tIns="0" bIns="0" anchor="t">
            <a:noAutofit/>
          </a:bodyPr>
          <a:lstStyle/>
          <a:p>
            <a:pPr algn="ctr">
              <a:lnSpc>
                <a:spcPct val="115000"/>
              </a:lnSpc>
            </a:pPr>
            <a:r>
              <a:rPr sz="1200" b="1" i="0">
                <a:solidFill>
                  <a:srgbClr val="64748B"/>
                </a:solidFill>
                <a:latin typeface="Inter"/>
              </a:rPr>
              <a:t>Parent-as-guide</a:t>
            </a:r>
          </a:p>
        </p:txBody>
      </p:sp>
      <p:sp>
        <p:nvSpPr>
          <p:cNvPr id="6" name="TextBox 5"/>
          <p:cNvSpPr txBox="1"/>
          <p:nvPr/>
        </p:nvSpPr>
        <p:spPr>
          <a:xfrm>
            <a:off x="4709159" y="5925312"/>
            <a:ext cx="2743200" cy="274320"/>
          </a:xfrm>
          <a:prstGeom prst="rect">
            <a:avLst/>
          </a:prstGeom>
          <a:noFill/>
        </p:spPr>
        <p:txBody>
          <a:bodyPr wrap="square" lIns="0" rIns="0" tIns="0" bIns="0" anchor="t">
            <a:noAutofit/>
          </a:bodyPr>
          <a:lstStyle/>
          <a:p>
            <a:pPr algn="ctr">
              <a:lnSpc>
                <a:spcPct val="115000"/>
              </a:lnSpc>
            </a:pPr>
            <a:r>
              <a:rPr sz="1200" b="1" i="0">
                <a:solidFill>
                  <a:srgbClr val="64748B"/>
                </a:solidFill>
                <a:latin typeface="Inter"/>
              </a:rPr>
              <a:t>Parent-invisible</a:t>
            </a:r>
          </a:p>
        </p:txBody>
      </p:sp>
      <p:sp>
        <p:nvSpPr>
          <p:cNvPr id="7" name="TextBox 6"/>
          <p:cNvSpPr txBox="1"/>
          <p:nvPr/>
        </p:nvSpPr>
        <p:spPr>
          <a:xfrm>
            <a:off x="1188720" y="3977640"/>
            <a:ext cx="2286000" cy="274320"/>
          </a:xfrm>
          <a:prstGeom prst="rect">
            <a:avLst/>
          </a:prstGeom>
          <a:noFill/>
        </p:spPr>
        <p:txBody>
          <a:bodyPr wrap="square" lIns="0" rIns="0" tIns="0" bIns="0" anchor="t">
            <a:noAutofit/>
          </a:bodyPr>
          <a:lstStyle/>
          <a:p>
            <a:pPr algn="l">
              <a:lnSpc>
                <a:spcPct val="115000"/>
              </a:lnSpc>
            </a:pPr>
            <a:r>
              <a:rPr sz="1200" b="1" i="0">
                <a:solidFill>
                  <a:srgbClr val="64748B"/>
                </a:solidFill>
                <a:latin typeface="Inter"/>
              </a:rPr>
              <a:t>Breadth-first</a:t>
            </a:r>
          </a:p>
        </p:txBody>
      </p:sp>
      <p:sp>
        <p:nvSpPr>
          <p:cNvPr id="8" name="TextBox 7"/>
          <p:cNvSpPr txBox="1"/>
          <p:nvPr/>
        </p:nvSpPr>
        <p:spPr>
          <a:xfrm>
            <a:off x="8686800" y="3977640"/>
            <a:ext cx="2286000" cy="274320"/>
          </a:xfrm>
          <a:prstGeom prst="rect">
            <a:avLst/>
          </a:prstGeom>
          <a:noFill/>
        </p:spPr>
        <p:txBody>
          <a:bodyPr wrap="square" lIns="0" rIns="0" tIns="0" bIns="0" anchor="t">
            <a:noAutofit/>
          </a:bodyPr>
          <a:lstStyle/>
          <a:p>
            <a:pPr algn="r">
              <a:lnSpc>
                <a:spcPct val="115000"/>
              </a:lnSpc>
            </a:pPr>
            <a:r>
              <a:rPr sz="1200" b="1" i="0">
                <a:solidFill>
                  <a:srgbClr val="64748B"/>
                </a:solidFill>
                <a:latin typeface="Inter"/>
              </a:rPr>
              <a:t>Mastery-based</a:t>
            </a:r>
          </a:p>
        </p:txBody>
      </p:sp>
      <p:sp>
        <p:nvSpPr>
          <p:cNvPr id="9" name="TextBox 8"/>
          <p:cNvSpPr txBox="1"/>
          <p:nvPr/>
        </p:nvSpPr>
        <p:spPr>
          <a:xfrm>
            <a:off x="2011680" y="2194560"/>
            <a:ext cx="3977639" cy="36576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(empty)</a:t>
            </a:r>
          </a:p>
        </p:txBody>
      </p:sp>
      <p:sp>
        <p:nvSpPr>
          <p:cNvPr id="10" name="Rectangle 9"/>
          <p:cNvSpPr/>
          <p:nvPr/>
        </p:nvSpPr>
        <p:spPr>
          <a:xfrm>
            <a:off x="6926579" y="2286000"/>
            <a:ext cx="2743200" cy="91440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6579" y="2286000"/>
            <a:ext cx="2743200" cy="914400"/>
          </a:xfrm>
          <a:prstGeom prst="rect">
            <a:avLst/>
          </a:prstGeom>
          <a:noFill/>
        </p:spPr>
        <p:txBody>
          <a:bodyPr wrap="square" lIns="0" rIns="0" tIns="0" bIns="0" anchor="ctr">
            <a:noAutofit/>
          </a:bodyPr>
          <a:lstStyle/>
          <a:p>
            <a:pPr algn="ctr">
              <a:lnSpc>
                <a:spcPct val="115000"/>
              </a:lnSpc>
            </a:pPr>
            <a:r>
              <a:rPr sz="2200" b="1" i="0">
                <a:solidFill>
                  <a:srgbClr val="FFFFFF"/>
                </a:solidFill>
                <a:latin typeface="Inter"/>
              </a:rPr>
              <a:t>UPWISE</a:t>
            </a:r>
          </a:p>
        </p:txBody>
      </p:sp>
      <p:sp>
        <p:nvSpPr>
          <p:cNvPr id="12" name="TextBox 11"/>
          <p:cNvSpPr txBox="1"/>
          <p:nvPr/>
        </p:nvSpPr>
        <p:spPr>
          <a:xfrm>
            <a:off x="2011680" y="416052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Cluey</a:t>
            </a:r>
          </a:p>
        </p:txBody>
      </p:sp>
      <p:sp>
        <p:nvSpPr>
          <p:cNvPr id="13" name="TextBox 12"/>
          <p:cNvSpPr txBox="1"/>
          <p:nvPr/>
        </p:nvSpPr>
        <p:spPr>
          <a:xfrm>
            <a:off x="2011680" y="4480559"/>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Kumon</a:t>
            </a:r>
          </a:p>
        </p:txBody>
      </p:sp>
      <p:sp>
        <p:nvSpPr>
          <p:cNvPr id="14" name="TextBox 13"/>
          <p:cNvSpPr txBox="1"/>
          <p:nvPr/>
        </p:nvSpPr>
        <p:spPr>
          <a:xfrm>
            <a:off x="2011680" y="480060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Kip McGrath</a:t>
            </a:r>
          </a:p>
        </p:txBody>
      </p:sp>
      <p:sp>
        <p:nvSpPr>
          <p:cNvPr id="15" name="TextBox 14"/>
          <p:cNvSpPr txBox="1"/>
          <p:nvPr/>
        </p:nvSpPr>
        <p:spPr>
          <a:xfrm>
            <a:off x="2011680" y="512064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Matrix</a:t>
            </a:r>
          </a:p>
        </p:txBody>
      </p:sp>
      <p:sp>
        <p:nvSpPr>
          <p:cNvPr id="16" name="TextBox 15"/>
          <p:cNvSpPr txBox="1"/>
          <p:nvPr/>
        </p:nvSpPr>
        <p:spPr>
          <a:xfrm>
            <a:off x="2011680" y="5440679"/>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Kinetic Education</a:t>
            </a:r>
          </a:p>
        </p:txBody>
      </p:sp>
      <p:sp>
        <p:nvSpPr>
          <p:cNvPr id="17" name="TextBox 16"/>
          <p:cNvSpPr txBox="1"/>
          <p:nvPr/>
        </p:nvSpPr>
        <p:spPr>
          <a:xfrm>
            <a:off x="6446520" y="416052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Mathspace</a:t>
            </a:r>
          </a:p>
        </p:txBody>
      </p:sp>
      <p:sp>
        <p:nvSpPr>
          <p:cNvPr id="18" name="TextBox 17"/>
          <p:cNvSpPr txBox="1"/>
          <p:nvPr/>
        </p:nvSpPr>
        <p:spPr>
          <a:xfrm>
            <a:off x="6446520" y="4480559"/>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Reading Eggs</a:t>
            </a:r>
          </a:p>
        </p:txBody>
      </p:sp>
      <p:sp>
        <p:nvSpPr>
          <p:cNvPr id="19" name="TextBox 18"/>
          <p:cNvSpPr txBox="1"/>
          <p:nvPr/>
        </p:nvSpPr>
        <p:spPr>
          <a:xfrm>
            <a:off x="6446520" y="480060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Mathletics</a:t>
            </a:r>
          </a:p>
        </p:txBody>
      </p:sp>
      <p:sp>
        <p:nvSpPr>
          <p:cNvPr id="20" name="TextBox 19"/>
          <p:cNvSpPr txBox="1"/>
          <p:nvPr/>
        </p:nvSpPr>
        <p:spPr>
          <a:xfrm>
            <a:off x="6446520" y="5120640"/>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Prodigy</a:t>
            </a:r>
          </a:p>
        </p:txBody>
      </p:sp>
      <p:sp>
        <p:nvSpPr>
          <p:cNvPr id="21" name="TextBox 20"/>
          <p:cNvSpPr txBox="1"/>
          <p:nvPr/>
        </p:nvSpPr>
        <p:spPr>
          <a:xfrm>
            <a:off x="6446520" y="5440679"/>
            <a:ext cx="2743200" cy="274320"/>
          </a:xfrm>
          <a:prstGeom prst="rect">
            <a:avLst/>
          </a:prstGeom>
          <a:noFill/>
        </p:spPr>
        <p:txBody>
          <a:bodyPr wrap="square" lIns="0" rIns="0" tIns="0" bIns="0" anchor="t">
            <a:noAutofit/>
          </a:bodyPr>
          <a:lstStyle/>
          <a:p>
            <a:pPr algn="l">
              <a:lnSpc>
                <a:spcPct val="115000"/>
              </a:lnSpc>
            </a:pPr>
            <a:r>
              <a:rPr sz="1300" b="0" i="0">
                <a:solidFill>
                  <a:srgbClr val="47556D"/>
                </a:solidFill>
                <a:latin typeface="Inter"/>
              </a:rPr>
              <a:t>Matific</a:t>
            </a:r>
          </a:p>
        </p:txBody>
      </p:sp>
      <p:sp>
        <p:nvSpPr>
          <p:cNvPr id="22" name="TextBox 21"/>
          <p:cNvSpPr txBox="1"/>
          <p:nvPr/>
        </p:nvSpPr>
        <p:spPr>
          <a:xfrm>
            <a:off x="640080" y="6172200"/>
            <a:ext cx="10911535" cy="320040"/>
          </a:xfrm>
          <a:prstGeom prst="rect">
            <a:avLst/>
          </a:prstGeom>
          <a:noFill/>
        </p:spPr>
        <p:txBody>
          <a:bodyPr wrap="square" lIns="0" rIns="0" tIns="0" bIns="0" anchor="t">
            <a:noAutofit/>
          </a:bodyPr>
          <a:lstStyle/>
          <a:p>
            <a:pPr algn="ctr">
              <a:lnSpc>
                <a:spcPct val="115000"/>
              </a:lnSpc>
            </a:pPr>
            <a:r>
              <a:rPr sz="1200" b="0" i="1">
                <a:solidFill>
                  <a:srgbClr val="64748B"/>
                </a:solidFill>
                <a:latin typeface="Inter"/>
              </a:rPr>
              <a:t>Cluey FY25: revenue down 15% to A$25.6M, net loss A$5.5M  ·  Kumon: A$3,840/yr per child for maths + English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822960"/>
          </a:xfrm>
          <a:prstGeom prst="rect">
            <a:avLst/>
          </a:prstGeom>
          <a:noFill/>
        </p:spPr>
        <p:txBody>
          <a:bodyPr wrap="square" lIns="0" rIns="0" tIns="0" bIns="0" anchor="t">
            <a:noAutofit/>
          </a:bodyPr>
          <a:lstStyle/>
          <a:p>
            <a:pPr algn="l">
              <a:lnSpc>
                <a:spcPct val="110000"/>
              </a:lnSpc>
            </a:pPr>
            <a:r>
              <a:rPr sz="3400" b="1" i="0">
                <a:solidFill>
                  <a:srgbClr val="0F172A"/>
                </a:solidFill>
                <a:latin typeface="Inter"/>
              </a:rPr>
              <a:t>17,000 families = A$10M ARR.</a:t>
            </a:r>
          </a:p>
        </p:txBody>
      </p:sp>
      <p:sp>
        <p:nvSpPr>
          <p:cNvPr id="3" name="TextBox 2"/>
          <p:cNvSpPr txBox="1"/>
          <p:nvPr/>
        </p:nvSpPr>
        <p:spPr>
          <a:xfrm>
            <a:off x="640080" y="1417320"/>
            <a:ext cx="10911535" cy="457200"/>
          </a:xfrm>
          <a:prstGeom prst="rect">
            <a:avLst/>
          </a:prstGeom>
          <a:noFill/>
        </p:spPr>
        <p:txBody>
          <a:bodyPr wrap="square" lIns="0" rIns="0" tIns="0" bIns="0" anchor="t">
            <a:noAutofit/>
          </a:bodyPr>
          <a:lstStyle/>
          <a:p>
            <a:pPr algn="l">
              <a:lnSpc>
                <a:spcPct val="115000"/>
              </a:lnSpc>
            </a:pPr>
            <a:r>
              <a:rPr sz="1700" b="0" i="1">
                <a:solidFill>
                  <a:srgbClr val="64748B"/>
                </a:solidFill>
                <a:latin typeface="Inter"/>
              </a:rPr>
              <a:t>Not a moonshot. Arithmetic.</a:t>
            </a:r>
          </a:p>
        </p:txBody>
      </p:sp>
      <p:sp>
        <p:nvSpPr>
          <p:cNvPr id="4" name="TextBox 3"/>
          <p:cNvSpPr txBox="1"/>
          <p:nvPr/>
        </p:nvSpPr>
        <p:spPr>
          <a:xfrm>
            <a:off x="640080" y="2286000"/>
            <a:ext cx="4572000" cy="2011680"/>
          </a:xfrm>
          <a:prstGeom prst="rect">
            <a:avLst/>
          </a:prstGeom>
          <a:noFill/>
        </p:spPr>
        <p:txBody>
          <a:bodyPr wrap="square" lIns="0" rIns="0" tIns="0" bIns="0" anchor="t">
            <a:noAutofit/>
          </a:bodyPr>
          <a:lstStyle/>
          <a:p>
            <a:pPr algn="l">
              <a:lnSpc>
                <a:spcPct val="100000"/>
              </a:lnSpc>
            </a:pPr>
            <a:r>
              <a:rPr sz="12800" b="1" i="0">
                <a:solidFill>
                  <a:srgbClr val="F96167"/>
                </a:solidFill>
                <a:latin typeface="Inter"/>
              </a:rPr>
              <a:t>1.1%</a:t>
            </a:r>
          </a:p>
        </p:txBody>
      </p:sp>
      <p:sp>
        <p:nvSpPr>
          <p:cNvPr id="5" name="TextBox 4"/>
          <p:cNvSpPr txBox="1"/>
          <p:nvPr/>
        </p:nvSpPr>
        <p:spPr>
          <a:xfrm>
            <a:off x="640080" y="4480560"/>
            <a:ext cx="4754880" cy="640080"/>
          </a:xfrm>
          <a:prstGeom prst="rect">
            <a:avLst/>
          </a:prstGeom>
          <a:noFill/>
        </p:spPr>
        <p:txBody>
          <a:bodyPr wrap="square" lIns="0" rIns="0" tIns="0" bIns="0" anchor="t">
            <a:noAutofit/>
          </a:bodyPr>
          <a:lstStyle/>
          <a:p>
            <a:pPr algn="l">
              <a:lnSpc>
                <a:spcPct val="135000"/>
              </a:lnSpc>
            </a:pPr>
            <a:r>
              <a:rPr sz="1500" b="0" i="0">
                <a:solidFill>
                  <a:srgbClr val="47556D"/>
                </a:solidFill>
                <a:latin typeface="Inter"/>
              </a:rPr>
              <a:t>of Australia's 1.52 million primary-aged households.</a:t>
            </a:r>
          </a:p>
        </p:txBody>
      </p:sp>
      <p:sp>
        <p:nvSpPr>
          <p:cNvPr id="6" name="TextBox 5"/>
          <p:cNvSpPr txBox="1"/>
          <p:nvPr/>
        </p:nvSpPr>
        <p:spPr>
          <a:xfrm>
            <a:off x="640080" y="5166360"/>
            <a:ext cx="4754880" cy="457200"/>
          </a:xfrm>
          <a:prstGeom prst="rect">
            <a:avLst/>
          </a:prstGeom>
          <a:noFill/>
        </p:spPr>
        <p:txBody>
          <a:bodyPr wrap="square" lIns="0" rIns="0" tIns="0" bIns="0" anchor="t">
            <a:noAutofit/>
          </a:bodyPr>
          <a:lstStyle/>
          <a:p>
            <a:pPr algn="l">
              <a:lnSpc>
                <a:spcPct val="135000"/>
              </a:lnSpc>
            </a:pPr>
            <a:r>
              <a:rPr sz="1300" b="0" i="1">
                <a:solidFill>
                  <a:srgbClr val="64748B"/>
                </a:solidFill>
                <a:latin typeface="Inter"/>
              </a:rPr>
              <a:t>Or 4.5% of the 380,000 already paying for supplemental learning.</a:t>
            </a:r>
          </a:p>
        </p:txBody>
      </p:sp>
      <p:sp>
        <p:nvSpPr>
          <p:cNvPr id="7" name="TextBox 6"/>
          <p:cNvSpPr txBox="1"/>
          <p:nvPr/>
        </p:nvSpPr>
        <p:spPr>
          <a:xfrm>
            <a:off x="5669280" y="2286000"/>
            <a:ext cx="5882335" cy="320040"/>
          </a:xfrm>
          <a:prstGeom prst="rect">
            <a:avLst/>
          </a:prstGeom>
          <a:noFill/>
        </p:spPr>
        <p:txBody>
          <a:bodyPr wrap="square" lIns="0" rIns="0" tIns="0" bIns="0" anchor="t">
            <a:noAutofit/>
          </a:bodyPr>
          <a:lstStyle/>
          <a:p>
            <a:pPr algn="l">
              <a:lnSpc>
                <a:spcPct val="115000"/>
              </a:lnSpc>
            </a:pPr>
            <a:r>
              <a:rPr sz="1100" b="1" i="0">
                <a:solidFill>
                  <a:srgbClr val="F96167"/>
                </a:solidFill>
                <a:latin typeface="Inter"/>
              </a:rPr>
              <a:t>PATH TO A$10M ARR</a:t>
            </a:r>
          </a:p>
        </p:txBody>
      </p:sp>
      <p:sp>
        <p:nvSpPr>
          <p:cNvPr id="8" name="TextBox 7"/>
          <p:cNvSpPr txBox="1"/>
          <p:nvPr/>
        </p:nvSpPr>
        <p:spPr>
          <a:xfrm>
            <a:off x="5669280" y="2697480"/>
            <a:ext cx="3235284" cy="365760"/>
          </a:xfrm>
          <a:prstGeom prst="rect">
            <a:avLst/>
          </a:prstGeom>
          <a:noFill/>
        </p:spPr>
        <p:txBody>
          <a:bodyPr wrap="square" lIns="0" rIns="0" tIns="0" bIns="0" anchor="t">
            <a:noAutofit/>
          </a:bodyPr>
          <a:lstStyle/>
          <a:p>
            <a:pPr algn="l">
              <a:lnSpc>
                <a:spcPct val="115000"/>
              </a:lnSpc>
            </a:pPr>
            <a:r>
              <a:rPr sz="1400" b="1" i="0">
                <a:solidFill>
                  <a:srgbClr val="0F172A"/>
                </a:solidFill>
                <a:latin typeface="Inter"/>
              </a:rPr>
              <a:t>~17,100 active families</a:t>
            </a:r>
          </a:p>
        </p:txBody>
      </p:sp>
      <p:sp>
        <p:nvSpPr>
          <p:cNvPr id="9" name="TextBox 8"/>
          <p:cNvSpPr txBox="1"/>
          <p:nvPr/>
        </p:nvSpPr>
        <p:spPr>
          <a:xfrm>
            <a:off x="8904564" y="2697480"/>
            <a:ext cx="2647050" cy="365760"/>
          </a:xfrm>
          <a:prstGeom prst="rect">
            <a:avLst/>
          </a:prstGeom>
          <a:noFill/>
        </p:spPr>
        <p:txBody>
          <a:bodyPr wrap="square" lIns="0" rIns="0" tIns="0" bIns="0" anchor="t">
            <a:noAutofit/>
          </a:bodyPr>
          <a:lstStyle/>
          <a:p>
            <a:pPr algn="l">
              <a:lnSpc>
                <a:spcPct val="115000"/>
              </a:lnSpc>
            </a:pPr>
            <a:r>
              <a:rPr sz="1300" b="0" i="0">
                <a:solidFill>
                  <a:srgbClr val="64748B"/>
                </a:solidFill>
                <a:latin typeface="Inter"/>
              </a:rPr>
              <a:t>at A$39–59/mo blend</a:t>
            </a:r>
          </a:p>
        </p:txBody>
      </p:sp>
      <p:sp>
        <p:nvSpPr>
          <p:cNvPr id="10" name="TextBox 9"/>
          <p:cNvSpPr txBox="1"/>
          <p:nvPr/>
        </p:nvSpPr>
        <p:spPr>
          <a:xfrm>
            <a:off x="5669280" y="3200400"/>
            <a:ext cx="3235284" cy="365760"/>
          </a:xfrm>
          <a:prstGeom prst="rect">
            <a:avLst/>
          </a:prstGeom>
          <a:noFill/>
        </p:spPr>
        <p:txBody>
          <a:bodyPr wrap="square" lIns="0" rIns="0" tIns="0" bIns="0" anchor="t">
            <a:noAutofit/>
          </a:bodyPr>
          <a:lstStyle/>
          <a:p>
            <a:pPr algn="l">
              <a:lnSpc>
                <a:spcPct val="115000"/>
              </a:lnSpc>
            </a:pPr>
            <a:r>
              <a:rPr sz="1400" b="1" i="0">
                <a:solidFill>
                  <a:srgbClr val="0F172A"/>
                </a:solidFill>
                <a:latin typeface="Inter"/>
              </a:rPr>
              <a:t>Software gross margin</a:t>
            </a:r>
          </a:p>
        </p:txBody>
      </p:sp>
      <p:sp>
        <p:nvSpPr>
          <p:cNvPr id="11" name="TextBox 10"/>
          <p:cNvSpPr txBox="1"/>
          <p:nvPr/>
        </p:nvSpPr>
        <p:spPr>
          <a:xfrm>
            <a:off x="8904564" y="3200400"/>
            <a:ext cx="2647050" cy="365760"/>
          </a:xfrm>
          <a:prstGeom prst="rect">
            <a:avLst/>
          </a:prstGeom>
          <a:noFill/>
        </p:spPr>
        <p:txBody>
          <a:bodyPr wrap="square" lIns="0" rIns="0" tIns="0" bIns="0" anchor="t">
            <a:noAutofit/>
          </a:bodyPr>
          <a:lstStyle/>
          <a:p>
            <a:pPr algn="l">
              <a:lnSpc>
                <a:spcPct val="115000"/>
              </a:lnSpc>
            </a:pPr>
            <a:r>
              <a:rPr sz="1300" b="0" i="0">
                <a:solidFill>
                  <a:srgbClr val="64748B"/>
                </a:solidFill>
                <a:latin typeface="Inter"/>
              </a:rPr>
              <a:t>75–80% (LLM cost falling)</a:t>
            </a:r>
          </a:p>
        </p:txBody>
      </p:sp>
      <p:sp>
        <p:nvSpPr>
          <p:cNvPr id="12" name="TextBox 11"/>
          <p:cNvSpPr txBox="1"/>
          <p:nvPr/>
        </p:nvSpPr>
        <p:spPr>
          <a:xfrm>
            <a:off x="5669280" y="3703320"/>
            <a:ext cx="3235284" cy="365760"/>
          </a:xfrm>
          <a:prstGeom prst="rect">
            <a:avLst/>
          </a:prstGeom>
          <a:noFill/>
        </p:spPr>
        <p:txBody>
          <a:bodyPr wrap="square" lIns="0" rIns="0" tIns="0" bIns="0" anchor="t">
            <a:noAutofit/>
          </a:bodyPr>
          <a:lstStyle/>
          <a:p>
            <a:pPr algn="l">
              <a:lnSpc>
                <a:spcPct val="115000"/>
              </a:lnSpc>
            </a:pPr>
            <a:r>
              <a:rPr sz="1400" b="1" i="0">
                <a:solidFill>
                  <a:srgbClr val="0F172A"/>
                </a:solidFill>
                <a:latin typeface="Inter"/>
              </a:rPr>
              <a:t>Avg customer lifetime</a:t>
            </a:r>
          </a:p>
        </p:txBody>
      </p:sp>
      <p:sp>
        <p:nvSpPr>
          <p:cNvPr id="13" name="TextBox 12"/>
          <p:cNvSpPr txBox="1"/>
          <p:nvPr/>
        </p:nvSpPr>
        <p:spPr>
          <a:xfrm>
            <a:off x="8904564" y="3703320"/>
            <a:ext cx="2647050" cy="365760"/>
          </a:xfrm>
          <a:prstGeom prst="rect">
            <a:avLst/>
          </a:prstGeom>
          <a:noFill/>
        </p:spPr>
        <p:txBody>
          <a:bodyPr wrap="square" lIns="0" rIns="0" tIns="0" bIns="0" anchor="t">
            <a:noAutofit/>
          </a:bodyPr>
          <a:lstStyle/>
          <a:p>
            <a:pPr algn="l">
              <a:lnSpc>
                <a:spcPct val="115000"/>
              </a:lnSpc>
            </a:pPr>
            <a:r>
              <a:rPr sz="1300" b="0" i="0">
                <a:solidFill>
                  <a:srgbClr val="64748B"/>
                </a:solidFill>
                <a:latin typeface="Inter"/>
              </a:rPr>
              <a:t>~18 months (assumption)</a:t>
            </a:r>
          </a:p>
        </p:txBody>
      </p:sp>
      <p:sp>
        <p:nvSpPr>
          <p:cNvPr id="14" name="TextBox 13"/>
          <p:cNvSpPr txBox="1"/>
          <p:nvPr/>
        </p:nvSpPr>
        <p:spPr>
          <a:xfrm>
            <a:off x="5669280" y="4480560"/>
            <a:ext cx="5882335" cy="320040"/>
          </a:xfrm>
          <a:prstGeom prst="rect">
            <a:avLst/>
          </a:prstGeom>
          <a:noFill/>
        </p:spPr>
        <p:txBody>
          <a:bodyPr wrap="square" lIns="0" rIns="0" tIns="0" bIns="0" anchor="t">
            <a:noAutofit/>
          </a:bodyPr>
          <a:lstStyle/>
          <a:p>
            <a:pPr algn="l">
              <a:lnSpc>
                <a:spcPct val="115000"/>
              </a:lnSpc>
            </a:pPr>
            <a:r>
              <a:rPr sz="1100" b="1" i="0">
                <a:solidFill>
                  <a:srgbClr val="F96167"/>
                </a:solidFill>
                <a:latin typeface="Inter"/>
              </a:rPr>
              <a:t>AU COMPARABLES</a:t>
            </a:r>
          </a:p>
        </p:txBody>
      </p:sp>
      <p:sp>
        <p:nvSpPr>
          <p:cNvPr id="15" name="TextBox 14"/>
          <p:cNvSpPr txBox="1"/>
          <p:nvPr/>
        </p:nvSpPr>
        <p:spPr>
          <a:xfrm>
            <a:off x="5669280" y="4892040"/>
            <a:ext cx="2647050" cy="320040"/>
          </a:xfrm>
          <a:prstGeom prst="rect">
            <a:avLst/>
          </a:prstGeom>
          <a:noFill/>
        </p:spPr>
        <p:txBody>
          <a:bodyPr wrap="square" lIns="0" rIns="0" tIns="0" bIns="0" anchor="t">
            <a:noAutofit/>
          </a:bodyPr>
          <a:lstStyle/>
          <a:p>
            <a:pPr algn="l">
              <a:lnSpc>
                <a:spcPct val="115000"/>
              </a:lnSpc>
            </a:pPr>
            <a:r>
              <a:rPr sz="1200" b="1" i="0">
                <a:solidFill>
                  <a:srgbClr val="0F172A"/>
                </a:solidFill>
                <a:latin typeface="Inter"/>
              </a:rPr>
              <a:t>3P Learning (Mathletics):</a:t>
            </a:r>
          </a:p>
        </p:txBody>
      </p:sp>
      <p:sp>
        <p:nvSpPr>
          <p:cNvPr id="16" name="TextBox 15"/>
          <p:cNvSpPr txBox="1"/>
          <p:nvPr/>
        </p:nvSpPr>
        <p:spPr>
          <a:xfrm>
            <a:off x="8316330" y="4892040"/>
            <a:ext cx="3235284" cy="320040"/>
          </a:xfrm>
          <a:prstGeom prst="rect">
            <a:avLst/>
          </a:prstGeom>
          <a:noFill/>
        </p:spPr>
        <p:txBody>
          <a:bodyPr wrap="square" lIns="0" rIns="0" tIns="0" bIns="0" anchor="t">
            <a:noAutofit/>
          </a:bodyPr>
          <a:lstStyle/>
          <a:p>
            <a:pPr algn="l">
              <a:lnSpc>
                <a:spcPct val="115000"/>
              </a:lnSpc>
            </a:pPr>
            <a:r>
              <a:rPr sz="1200" b="0" i="0">
                <a:solidFill>
                  <a:srgbClr val="47556D"/>
                </a:solidFill>
                <a:latin typeface="Inter"/>
              </a:rPr>
              <a:t>A$110M rev, software margins ✓</a:t>
            </a:r>
          </a:p>
        </p:txBody>
      </p:sp>
      <p:sp>
        <p:nvSpPr>
          <p:cNvPr id="17" name="TextBox 16"/>
          <p:cNvSpPr txBox="1"/>
          <p:nvPr/>
        </p:nvSpPr>
        <p:spPr>
          <a:xfrm>
            <a:off x="5669280" y="5276088"/>
            <a:ext cx="2647050" cy="320040"/>
          </a:xfrm>
          <a:prstGeom prst="rect">
            <a:avLst/>
          </a:prstGeom>
          <a:noFill/>
        </p:spPr>
        <p:txBody>
          <a:bodyPr wrap="square" lIns="0" rIns="0" tIns="0" bIns="0" anchor="t">
            <a:noAutofit/>
          </a:bodyPr>
          <a:lstStyle/>
          <a:p>
            <a:pPr algn="l">
              <a:lnSpc>
                <a:spcPct val="115000"/>
              </a:lnSpc>
            </a:pPr>
            <a:r>
              <a:rPr sz="1200" b="1" i="0">
                <a:solidFill>
                  <a:srgbClr val="0F172A"/>
                </a:solidFill>
                <a:latin typeface="Inter"/>
              </a:rPr>
              <a:t>Mathspace:</a:t>
            </a:r>
          </a:p>
        </p:txBody>
      </p:sp>
      <p:sp>
        <p:nvSpPr>
          <p:cNvPr id="18" name="TextBox 17"/>
          <p:cNvSpPr txBox="1"/>
          <p:nvPr/>
        </p:nvSpPr>
        <p:spPr>
          <a:xfrm>
            <a:off x="8316330" y="5276088"/>
            <a:ext cx="3235284" cy="320040"/>
          </a:xfrm>
          <a:prstGeom prst="rect">
            <a:avLst/>
          </a:prstGeom>
          <a:noFill/>
        </p:spPr>
        <p:txBody>
          <a:bodyPr wrap="square" lIns="0" rIns="0" tIns="0" bIns="0" anchor="t">
            <a:noAutofit/>
          </a:bodyPr>
          <a:lstStyle/>
          <a:p>
            <a:pPr algn="l">
              <a:lnSpc>
                <a:spcPct val="115000"/>
              </a:lnSpc>
            </a:pPr>
            <a:r>
              <a:rPr sz="1200" b="0" i="0">
                <a:solidFill>
                  <a:srgbClr val="47556D"/>
                </a:solidFill>
                <a:latin typeface="Inter"/>
              </a:rPr>
              <a:t>profitable, bootstrapped ✓</a:t>
            </a:r>
          </a:p>
        </p:txBody>
      </p:sp>
      <p:sp>
        <p:nvSpPr>
          <p:cNvPr id="19" name="TextBox 18"/>
          <p:cNvSpPr txBox="1"/>
          <p:nvPr/>
        </p:nvSpPr>
        <p:spPr>
          <a:xfrm>
            <a:off x="5669280" y="5660136"/>
            <a:ext cx="2647050" cy="320040"/>
          </a:xfrm>
          <a:prstGeom prst="rect">
            <a:avLst/>
          </a:prstGeom>
          <a:noFill/>
        </p:spPr>
        <p:txBody>
          <a:bodyPr wrap="square" lIns="0" rIns="0" tIns="0" bIns="0" anchor="t">
            <a:noAutofit/>
          </a:bodyPr>
          <a:lstStyle/>
          <a:p>
            <a:pPr algn="l">
              <a:lnSpc>
                <a:spcPct val="115000"/>
              </a:lnSpc>
            </a:pPr>
            <a:r>
              <a:rPr sz="1200" b="1" i="0">
                <a:solidFill>
                  <a:srgbClr val="0F172A"/>
                </a:solidFill>
                <a:latin typeface="Inter"/>
              </a:rPr>
              <a:t>Cluey (1:1 human):</a:t>
            </a:r>
          </a:p>
        </p:txBody>
      </p:sp>
      <p:sp>
        <p:nvSpPr>
          <p:cNvPr id="20" name="TextBox 19"/>
          <p:cNvSpPr txBox="1"/>
          <p:nvPr/>
        </p:nvSpPr>
        <p:spPr>
          <a:xfrm>
            <a:off x="8316330" y="5660136"/>
            <a:ext cx="3235284" cy="320040"/>
          </a:xfrm>
          <a:prstGeom prst="rect">
            <a:avLst/>
          </a:prstGeom>
          <a:noFill/>
        </p:spPr>
        <p:txBody>
          <a:bodyPr wrap="square" lIns="0" rIns="0" tIns="0" bIns="0" anchor="t">
            <a:noAutofit/>
          </a:bodyPr>
          <a:lstStyle/>
          <a:p>
            <a:pPr algn="l">
              <a:lnSpc>
                <a:spcPct val="115000"/>
              </a:lnSpc>
            </a:pPr>
            <a:r>
              <a:rPr sz="1200" b="0" i="0">
                <a:solidFill>
                  <a:srgbClr val="F96167"/>
                </a:solidFill>
                <a:latin typeface="Inter"/>
              </a:rPr>
              <a:t>A$25.6M rev, A$5.5M loss ✗</a:t>
            </a:r>
          </a:p>
        </p:txBody>
      </p:sp>
      <p:sp>
        <p:nvSpPr>
          <p:cNvPr id="21" name="TextBox 20"/>
          <p:cNvSpPr txBox="1"/>
          <p:nvPr/>
        </p:nvSpPr>
        <p:spPr>
          <a:xfrm>
            <a:off x="640080" y="6263640"/>
            <a:ext cx="10911535" cy="365760"/>
          </a:xfrm>
          <a:prstGeom prst="rect">
            <a:avLst/>
          </a:prstGeom>
          <a:noFill/>
        </p:spPr>
        <p:txBody>
          <a:bodyPr wrap="square" lIns="0" rIns="0" tIns="0" bIns="0" anchor="t">
            <a:noAutofit/>
          </a:bodyPr>
          <a:lstStyle/>
          <a:p>
            <a:pPr algn="ctr">
              <a:lnSpc>
                <a:spcPct val="115000"/>
              </a:lnSpc>
            </a:pPr>
            <a:r>
              <a:rPr sz="1300" b="0" i="1">
                <a:solidFill>
                  <a:srgbClr val="64748B"/>
                </a:solidFill>
                <a:latin typeface="Inter"/>
              </a:rPr>
              <a:t>Cluey's loss isn't evidence AU edtech is broken. It's evidence that 1:1 human tutoring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3000" b="1" i="0">
                <a:solidFill>
                  <a:srgbClr val="0F172A"/>
                </a:solidFill>
                <a:latin typeface="Inter"/>
              </a:rPr>
              <a:t>Safe AI. Australian-built. Parent-visible.</a:t>
            </a:r>
          </a:p>
        </p:txBody>
      </p:sp>
      <p:sp>
        <p:nvSpPr>
          <p:cNvPr id="3" name="TextBox 2"/>
          <p:cNvSpPr txBox="1"/>
          <p:nvPr/>
        </p:nvSpPr>
        <p:spPr>
          <a:xfrm>
            <a:off x="640080" y="1463040"/>
            <a:ext cx="10911535" cy="457200"/>
          </a:xfrm>
          <a:prstGeom prst="rect">
            <a:avLst/>
          </a:prstGeom>
          <a:noFill/>
        </p:spPr>
        <p:txBody>
          <a:bodyPr wrap="square" lIns="0" rIns="0" tIns="0" bIns="0" anchor="t">
            <a:noAutofit/>
          </a:bodyPr>
          <a:lstStyle/>
          <a:p>
            <a:pPr algn="l">
              <a:lnSpc>
                <a:spcPct val="115000"/>
              </a:lnSpc>
            </a:pPr>
            <a:r>
              <a:rPr sz="1500" b="0" i="1">
                <a:solidFill>
                  <a:srgbClr val="64748B"/>
                </a:solidFill>
                <a:latin typeface="Inter"/>
              </a:rPr>
              <a:t>Every parent's first question about AI, answered in the product itself.</a:t>
            </a:r>
          </a:p>
        </p:txBody>
      </p:sp>
      <p:sp>
        <p:nvSpPr>
          <p:cNvPr id="4" name="Rectangle 3"/>
          <p:cNvSpPr/>
          <p:nvPr/>
        </p:nvSpPr>
        <p:spPr>
          <a:xfrm>
            <a:off x="640080" y="2560320"/>
            <a:ext cx="2072579"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560320"/>
            <a:ext cx="2072579"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71800"/>
            <a:ext cx="1615379" cy="640080"/>
          </a:xfrm>
          <a:prstGeom prst="rect">
            <a:avLst/>
          </a:prstGeom>
          <a:noFill/>
        </p:spPr>
        <p:txBody>
          <a:bodyPr wrap="square" lIns="0" rIns="0" tIns="0" bIns="0" anchor="t">
            <a:noAutofit/>
          </a:bodyPr>
          <a:lstStyle/>
          <a:p>
            <a:pPr algn="l">
              <a:lnSpc>
                <a:spcPct val="120000"/>
              </a:lnSpc>
            </a:pPr>
            <a:r>
              <a:rPr sz="1500" b="1" i="0">
                <a:solidFill>
                  <a:srgbClr val="0F172A"/>
                </a:solidFill>
                <a:latin typeface="Inter"/>
              </a:rPr>
              <a:t>Closed system</a:t>
            </a:r>
          </a:p>
        </p:txBody>
      </p:sp>
      <p:sp>
        <p:nvSpPr>
          <p:cNvPr id="7" name="TextBox 6"/>
          <p:cNvSpPr txBox="1"/>
          <p:nvPr/>
        </p:nvSpPr>
        <p:spPr>
          <a:xfrm>
            <a:off x="868680" y="3749039"/>
            <a:ext cx="1615379" cy="1645920"/>
          </a:xfrm>
          <a:prstGeom prst="rect">
            <a:avLst/>
          </a:prstGeom>
          <a:noFill/>
        </p:spPr>
        <p:txBody>
          <a:bodyPr wrap="square" lIns="0" rIns="0" tIns="0" bIns="0" anchor="t">
            <a:noAutofit/>
          </a:bodyPr>
          <a:lstStyle/>
          <a:p>
            <a:pPr algn="l">
              <a:lnSpc>
                <a:spcPct val="140000"/>
              </a:lnSpc>
            </a:pPr>
            <a:r>
              <a:rPr sz="1200" b="0" i="0">
                <a:solidFill>
                  <a:srgbClr val="47556D"/>
                </a:solidFill>
                <a:latin typeface="Inter"/>
              </a:rPr>
              <a:t>No open chat. No user content. Curriculum-constrained.</a:t>
            </a:r>
          </a:p>
        </p:txBody>
      </p:sp>
      <p:sp>
        <p:nvSpPr>
          <p:cNvPr id="8" name="Rectangle 7"/>
          <p:cNvSpPr/>
          <p:nvPr/>
        </p:nvSpPr>
        <p:spPr>
          <a:xfrm>
            <a:off x="2849819" y="2560320"/>
            <a:ext cx="2072579"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49819" y="2560320"/>
            <a:ext cx="2072579"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78419" y="2971800"/>
            <a:ext cx="1615379" cy="640080"/>
          </a:xfrm>
          <a:prstGeom prst="rect">
            <a:avLst/>
          </a:prstGeom>
          <a:noFill/>
        </p:spPr>
        <p:txBody>
          <a:bodyPr wrap="square" lIns="0" rIns="0" tIns="0" bIns="0" anchor="t">
            <a:noAutofit/>
          </a:bodyPr>
          <a:lstStyle/>
          <a:p>
            <a:pPr algn="l">
              <a:lnSpc>
                <a:spcPct val="120000"/>
              </a:lnSpc>
            </a:pPr>
            <a:r>
              <a:rPr sz="1500" b="1" i="0">
                <a:solidFill>
                  <a:srgbClr val="0F172A"/>
                </a:solidFill>
                <a:latin typeface="Inter"/>
              </a:rPr>
              <a:t>20 min bounded</a:t>
            </a:r>
          </a:p>
        </p:txBody>
      </p:sp>
      <p:sp>
        <p:nvSpPr>
          <p:cNvPr id="11" name="TextBox 10"/>
          <p:cNvSpPr txBox="1"/>
          <p:nvPr/>
        </p:nvSpPr>
        <p:spPr>
          <a:xfrm>
            <a:off x="3078419" y="3749039"/>
            <a:ext cx="1615379" cy="1645920"/>
          </a:xfrm>
          <a:prstGeom prst="rect">
            <a:avLst/>
          </a:prstGeom>
          <a:noFill/>
        </p:spPr>
        <p:txBody>
          <a:bodyPr wrap="square" lIns="0" rIns="0" tIns="0" bIns="0" anchor="t">
            <a:noAutofit/>
          </a:bodyPr>
          <a:lstStyle/>
          <a:p>
            <a:pPr algn="l">
              <a:lnSpc>
                <a:spcPct val="140000"/>
              </a:lnSpc>
            </a:pPr>
            <a:r>
              <a:rPr sz="1200" b="0" i="0">
                <a:solidFill>
                  <a:srgbClr val="47556D"/>
                </a:solidFill>
                <a:latin typeface="Inter"/>
              </a:rPr>
              <a:t>Less screen time than YouTube. Designed to end on a win.</a:t>
            </a:r>
          </a:p>
        </p:txBody>
      </p:sp>
      <p:sp>
        <p:nvSpPr>
          <p:cNvPr id="12" name="Rectangle 11"/>
          <p:cNvSpPr/>
          <p:nvPr/>
        </p:nvSpPr>
        <p:spPr>
          <a:xfrm>
            <a:off x="5059558" y="2560320"/>
            <a:ext cx="2072579"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59558" y="2560320"/>
            <a:ext cx="2072579"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88158" y="2971800"/>
            <a:ext cx="1615379" cy="640080"/>
          </a:xfrm>
          <a:prstGeom prst="rect">
            <a:avLst/>
          </a:prstGeom>
          <a:noFill/>
        </p:spPr>
        <p:txBody>
          <a:bodyPr wrap="square" lIns="0" rIns="0" tIns="0" bIns="0" anchor="t">
            <a:noAutofit/>
          </a:bodyPr>
          <a:lstStyle/>
          <a:p>
            <a:pPr algn="l">
              <a:lnSpc>
                <a:spcPct val="120000"/>
              </a:lnSpc>
            </a:pPr>
            <a:r>
              <a:rPr sz="1500" b="1" i="0">
                <a:solidFill>
                  <a:srgbClr val="0F172A"/>
                </a:solidFill>
                <a:latin typeface="Inter"/>
              </a:rPr>
              <a:t>Parent-visible</a:t>
            </a:r>
          </a:p>
        </p:txBody>
      </p:sp>
      <p:sp>
        <p:nvSpPr>
          <p:cNvPr id="15" name="TextBox 14"/>
          <p:cNvSpPr txBox="1"/>
          <p:nvPr/>
        </p:nvSpPr>
        <p:spPr>
          <a:xfrm>
            <a:off x="5288158" y="3749039"/>
            <a:ext cx="1615379" cy="1645920"/>
          </a:xfrm>
          <a:prstGeom prst="rect">
            <a:avLst/>
          </a:prstGeom>
          <a:noFill/>
        </p:spPr>
        <p:txBody>
          <a:bodyPr wrap="square" lIns="0" rIns="0" tIns="0" bIns="0" anchor="t">
            <a:noAutofit/>
          </a:bodyPr>
          <a:lstStyle/>
          <a:p>
            <a:pPr algn="l">
              <a:lnSpc>
                <a:spcPct val="140000"/>
              </a:lnSpc>
            </a:pPr>
            <a:r>
              <a:rPr sz="1200" b="0" i="0">
                <a:solidFill>
                  <a:srgbClr val="47556D"/>
                </a:solidFill>
                <a:latin typeface="Inter"/>
              </a:rPr>
              <a:t>Every session observable. Nothing hidden.</a:t>
            </a:r>
          </a:p>
        </p:txBody>
      </p:sp>
      <p:sp>
        <p:nvSpPr>
          <p:cNvPr id="16" name="Rectangle 15"/>
          <p:cNvSpPr/>
          <p:nvPr/>
        </p:nvSpPr>
        <p:spPr>
          <a:xfrm>
            <a:off x="7269297" y="2560320"/>
            <a:ext cx="2072579"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69297" y="2560320"/>
            <a:ext cx="2072579"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7897" y="2971800"/>
            <a:ext cx="1615379" cy="640080"/>
          </a:xfrm>
          <a:prstGeom prst="rect">
            <a:avLst/>
          </a:prstGeom>
          <a:noFill/>
        </p:spPr>
        <p:txBody>
          <a:bodyPr wrap="square" lIns="0" rIns="0" tIns="0" bIns="0" anchor="t">
            <a:noAutofit/>
          </a:bodyPr>
          <a:lstStyle/>
          <a:p>
            <a:pPr algn="l">
              <a:lnSpc>
                <a:spcPct val="120000"/>
              </a:lnSpc>
            </a:pPr>
            <a:r>
              <a:rPr sz="1500" b="1" i="0">
                <a:solidFill>
                  <a:srgbClr val="0F172A"/>
                </a:solidFill>
                <a:latin typeface="Inter"/>
              </a:rPr>
              <a:t>Australian-owned</a:t>
            </a:r>
          </a:p>
        </p:txBody>
      </p:sp>
      <p:sp>
        <p:nvSpPr>
          <p:cNvPr id="19" name="TextBox 18"/>
          <p:cNvSpPr txBox="1"/>
          <p:nvPr/>
        </p:nvSpPr>
        <p:spPr>
          <a:xfrm>
            <a:off x="7497897" y="3749039"/>
            <a:ext cx="1615379" cy="1645920"/>
          </a:xfrm>
          <a:prstGeom prst="rect">
            <a:avLst/>
          </a:prstGeom>
          <a:noFill/>
        </p:spPr>
        <p:txBody>
          <a:bodyPr wrap="square" lIns="0" rIns="0" tIns="0" bIns="0" anchor="t">
            <a:noAutofit/>
          </a:bodyPr>
          <a:lstStyle/>
          <a:p>
            <a:pPr algn="l">
              <a:lnSpc>
                <a:spcPct val="140000"/>
              </a:lnSpc>
            </a:pPr>
            <a:r>
              <a:rPr sz="1200" b="0" i="0">
                <a:solidFill>
                  <a:srgbClr val="47556D"/>
                </a:solidFill>
                <a:latin typeface="Inter"/>
              </a:rPr>
              <a:t>AU data, AU servers. Techne AI Pty Ltd.</a:t>
            </a:r>
          </a:p>
        </p:txBody>
      </p:sp>
      <p:sp>
        <p:nvSpPr>
          <p:cNvPr id="20" name="Rectangle 19"/>
          <p:cNvSpPr/>
          <p:nvPr/>
        </p:nvSpPr>
        <p:spPr>
          <a:xfrm>
            <a:off x="9479036" y="2560320"/>
            <a:ext cx="2072579" cy="2926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79036" y="2560320"/>
            <a:ext cx="2072579" cy="109728"/>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07636" y="2971800"/>
            <a:ext cx="1615379" cy="640080"/>
          </a:xfrm>
          <a:prstGeom prst="rect">
            <a:avLst/>
          </a:prstGeom>
          <a:noFill/>
        </p:spPr>
        <p:txBody>
          <a:bodyPr wrap="square" lIns="0" rIns="0" tIns="0" bIns="0" anchor="t">
            <a:noAutofit/>
          </a:bodyPr>
          <a:lstStyle/>
          <a:p>
            <a:pPr algn="l">
              <a:lnSpc>
                <a:spcPct val="120000"/>
              </a:lnSpc>
            </a:pPr>
            <a:r>
              <a:rPr sz="1500" b="1" i="0">
                <a:solidFill>
                  <a:srgbClr val="0F172A"/>
                </a:solidFill>
                <a:latin typeface="Inter"/>
              </a:rPr>
              <a:t>eSafety-aligned</a:t>
            </a:r>
          </a:p>
        </p:txBody>
      </p:sp>
      <p:sp>
        <p:nvSpPr>
          <p:cNvPr id="23" name="TextBox 22"/>
          <p:cNvSpPr txBox="1"/>
          <p:nvPr/>
        </p:nvSpPr>
        <p:spPr>
          <a:xfrm>
            <a:off x="9707636" y="3749039"/>
            <a:ext cx="1615379" cy="1645920"/>
          </a:xfrm>
          <a:prstGeom prst="rect">
            <a:avLst/>
          </a:prstGeom>
          <a:noFill/>
        </p:spPr>
        <p:txBody>
          <a:bodyPr wrap="square" lIns="0" rIns="0" tIns="0" bIns="0" anchor="t">
            <a:noAutofit/>
          </a:bodyPr>
          <a:lstStyle/>
          <a:p>
            <a:pPr algn="l">
              <a:lnSpc>
                <a:spcPct val="140000"/>
              </a:lnSpc>
            </a:pPr>
            <a:r>
              <a:rPr sz="1200" b="0" i="0">
                <a:solidFill>
                  <a:srgbClr val="47556D"/>
                </a:solidFill>
                <a:latin typeface="Inter"/>
              </a:rPr>
              <a:t>Designed to Australian eSafety Commissioner guidance.</a:t>
            </a:r>
          </a:p>
        </p:txBody>
      </p:sp>
      <p:sp>
        <p:nvSpPr>
          <p:cNvPr id="24" name="TextBox 23"/>
          <p:cNvSpPr txBox="1"/>
          <p:nvPr/>
        </p:nvSpPr>
        <p:spPr>
          <a:xfrm>
            <a:off x="640080" y="5943600"/>
            <a:ext cx="10911535" cy="365760"/>
          </a:xfrm>
          <a:prstGeom prst="rect">
            <a:avLst/>
          </a:prstGeom>
          <a:noFill/>
        </p:spPr>
        <p:txBody>
          <a:bodyPr wrap="square" lIns="0" rIns="0" tIns="0" bIns="0" anchor="t">
            <a:noAutofit/>
          </a:bodyPr>
          <a:lstStyle/>
          <a:p>
            <a:pPr algn="ctr">
              <a:lnSpc>
                <a:spcPct val="115000"/>
              </a:lnSpc>
            </a:pPr>
            <a:r>
              <a:rPr sz="1400" b="1" i="0">
                <a:solidFill>
                  <a:srgbClr val="F96167"/>
                </a:solidFill>
                <a:latin typeface="Inter"/>
              </a:rPr>
              <a:t>No ads. No third-party tracking. No data sharing. Ever.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3400" b="1" i="0">
                <a:solidFill>
                  <a:srgbClr val="0F172A"/>
                </a:solidFill>
                <a:latin typeface="Inter"/>
              </a:rPr>
              <a:t>Traction.</a:t>
            </a:r>
          </a:p>
        </p:txBody>
      </p:sp>
      <p:sp>
        <p:nvSpPr>
          <p:cNvPr id="3" name="TextBox 2"/>
          <p:cNvSpPr txBox="1"/>
          <p:nvPr/>
        </p:nvSpPr>
        <p:spPr>
          <a:xfrm>
            <a:off x="640080" y="1554480"/>
            <a:ext cx="10911535" cy="365760"/>
          </a:xfrm>
          <a:prstGeom prst="rect">
            <a:avLst/>
          </a:prstGeom>
          <a:noFill/>
        </p:spPr>
        <p:txBody>
          <a:bodyPr wrap="square" lIns="0" rIns="0" tIns="0" bIns="0" anchor="t">
            <a:noAutofit/>
          </a:bodyPr>
          <a:lstStyle/>
          <a:p>
            <a:pPr algn="l">
              <a:lnSpc>
                <a:spcPct val="115000"/>
              </a:lnSpc>
            </a:pPr>
            <a:r>
              <a:rPr sz="1400" b="0" i="1">
                <a:solidFill>
                  <a:srgbClr val="64748B"/>
                </a:solidFill>
                <a:latin typeface="Inter"/>
              </a:rPr>
              <a:t>Replace with actual numbers before pitching. Angels reward precision over puffery.</a:t>
            </a:r>
          </a:p>
        </p:txBody>
      </p:sp>
      <p:sp>
        <p:nvSpPr>
          <p:cNvPr id="4" name="Rectangle 3"/>
          <p:cNvSpPr/>
          <p:nvPr/>
        </p:nvSpPr>
        <p:spPr>
          <a:xfrm>
            <a:off x="640080" y="2286000"/>
            <a:ext cx="5318607" cy="16002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651760"/>
            <a:ext cx="4769967" cy="548640"/>
          </a:xfrm>
          <a:prstGeom prst="rect">
            <a:avLst/>
          </a:prstGeom>
          <a:noFill/>
        </p:spPr>
        <p:txBody>
          <a:bodyPr wrap="square" lIns="0" rIns="0" tIns="0" bIns="0" anchor="t">
            <a:noAutofit/>
          </a:bodyPr>
          <a:lstStyle/>
          <a:p>
            <a:pPr algn="l">
              <a:lnSpc>
                <a:spcPct val="115000"/>
              </a:lnSpc>
            </a:pPr>
            <a:r>
              <a:rPr sz="2000" b="1" i="1">
                <a:solidFill>
                  <a:srgbClr val="94A3B8"/>
                </a:solidFill>
                <a:latin typeface="Inter"/>
              </a:rPr>
              <a:t>[Waitlist count]</a:t>
            </a:r>
          </a:p>
        </p:txBody>
      </p:sp>
      <p:sp>
        <p:nvSpPr>
          <p:cNvPr id="6" name="TextBox 5"/>
          <p:cNvSpPr txBox="1"/>
          <p:nvPr/>
        </p:nvSpPr>
        <p:spPr>
          <a:xfrm>
            <a:off x="914400" y="3291840"/>
            <a:ext cx="4769967"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Growth rate per week</a:t>
            </a:r>
          </a:p>
        </p:txBody>
      </p:sp>
      <p:sp>
        <p:nvSpPr>
          <p:cNvPr id="7" name="Rectangle 6"/>
          <p:cNvSpPr/>
          <p:nvPr/>
        </p:nvSpPr>
        <p:spPr>
          <a:xfrm>
            <a:off x="6233007" y="2286000"/>
            <a:ext cx="5318607" cy="16002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7327" y="2651760"/>
            <a:ext cx="4769967" cy="548640"/>
          </a:xfrm>
          <a:prstGeom prst="rect">
            <a:avLst/>
          </a:prstGeom>
          <a:noFill/>
        </p:spPr>
        <p:txBody>
          <a:bodyPr wrap="square" lIns="0" rIns="0" tIns="0" bIns="0" anchor="t">
            <a:noAutofit/>
          </a:bodyPr>
          <a:lstStyle/>
          <a:p>
            <a:pPr algn="l">
              <a:lnSpc>
                <a:spcPct val="115000"/>
              </a:lnSpc>
            </a:pPr>
            <a:r>
              <a:rPr sz="2000" b="1" i="1">
                <a:solidFill>
                  <a:srgbClr val="94A3B8"/>
                </a:solidFill>
                <a:latin typeface="Inter"/>
              </a:rPr>
              <a:t>[Acquisition signal]</a:t>
            </a:r>
          </a:p>
        </p:txBody>
      </p:sp>
      <p:sp>
        <p:nvSpPr>
          <p:cNvPr id="9" name="TextBox 8"/>
          <p:cNvSpPr txBox="1"/>
          <p:nvPr/>
        </p:nvSpPr>
        <p:spPr>
          <a:xfrm>
            <a:off x="6507327" y="3291840"/>
            <a:ext cx="4769967"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Organic or paid channel</a:t>
            </a:r>
          </a:p>
        </p:txBody>
      </p:sp>
      <p:sp>
        <p:nvSpPr>
          <p:cNvPr id="10" name="Rectangle 9"/>
          <p:cNvSpPr/>
          <p:nvPr/>
        </p:nvSpPr>
        <p:spPr>
          <a:xfrm>
            <a:off x="640080" y="4160520"/>
            <a:ext cx="5318607" cy="16002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526280"/>
            <a:ext cx="4769967" cy="548640"/>
          </a:xfrm>
          <a:prstGeom prst="rect">
            <a:avLst/>
          </a:prstGeom>
          <a:noFill/>
        </p:spPr>
        <p:txBody>
          <a:bodyPr wrap="square" lIns="0" rIns="0" tIns="0" bIns="0" anchor="t">
            <a:noAutofit/>
          </a:bodyPr>
          <a:lstStyle/>
          <a:p>
            <a:pPr algn="l">
              <a:lnSpc>
                <a:spcPct val="115000"/>
              </a:lnSpc>
            </a:pPr>
            <a:r>
              <a:rPr sz="2000" b="1" i="1">
                <a:solidFill>
                  <a:srgbClr val="94A3B8"/>
                </a:solidFill>
                <a:latin typeface="Inter"/>
              </a:rPr>
              <a:t>[User engagement]</a:t>
            </a:r>
          </a:p>
        </p:txBody>
      </p:sp>
      <p:sp>
        <p:nvSpPr>
          <p:cNvPr id="12" name="TextBox 11"/>
          <p:cNvSpPr txBox="1"/>
          <p:nvPr/>
        </p:nvSpPr>
        <p:spPr>
          <a:xfrm>
            <a:off x="914400" y="5166360"/>
            <a:ext cx="4769967"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Retention, session count, NPS</a:t>
            </a:r>
          </a:p>
        </p:txBody>
      </p:sp>
      <p:sp>
        <p:nvSpPr>
          <p:cNvPr id="13" name="Rectangle 12"/>
          <p:cNvSpPr/>
          <p:nvPr/>
        </p:nvSpPr>
        <p:spPr>
          <a:xfrm>
            <a:off x="6233007" y="4160520"/>
            <a:ext cx="5318607" cy="16002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7327" y="4526280"/>
            <a:ext cx="4769967" cy="548640"/>
          </a:xfrm>
          <a:prstGeom prst="rect">
            <a:avLst/>
          </a:prstGeom>
          <a:noFill/>
        </p:spPr>
        <p:txBody>
          <a:bodyPr wrap="square" lIns="0" rIns="0" tIns="0" bIns="0" anchor="t">
            <a:noAutofit/>
          </a:bodyPr>
          <a:lstStyle/>
          <a:p>
            <a:pPr algn="l">
              <a:lnSpc>
                <a:spcPct val="115000"/>
              </a:lnSpc>
            </a:pPr>
            <a:r>
              <a:rPr sz="2000" b="1" i="1">
                <a:solidFill>
                  <a:srgbClr val="94A3B8"/>
                </a:solidFill>
                <a:latin typeface="Inter"/>
              </a:rPr>
              <a:t>[School / advisor interest]</a:t>
            </a:r>
          </a:p>
        </p:txBody>
      </p:sp>
      <p:sp>
        <p:nvSpPr>
          <p:cNvPr id="15" name="TextBox 14"/>
          <p:cNvSpPr txBox="1"/>
          <p:nvPr/>
        </p:nvSpPr>
        <p:spPr>
          <a:xfrm>
            <a:off x="6507327" y="5166360"/>
            <a:ext cx="4769967"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LOIs, advisors, inbound press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lIns="0" rIns="0" tIns="0" bIns="0" anchor="t">
            <a:noAutofit/>
          </a:bodyPr>
          <a:lstStyle/>
          <a:p>
            <a:pPr algn="l">
              <a:lnSpc>
                <a:spcPct val="110000"/>
              </a:lnSpc>
            </a:pPr>
            <a:r>
              <a:rPr sz="3400" b="1" i="0">
                <a:solidFill>
                  <a:srgbClr val="0F172A"/>
                </a:solidFill>
                <a:latin typeface="Inter"/>
              </a:rPr>
              <a:t>Team.</a:t>
            </a:r>
          </a:p>
        </p:txBody>
      </p:sp>
      <p:sp>
        <p:nvSpPr>
          <p:cNvPr id="3" name="TextBox 2"/>
          <p:cNvSpPr txBox="1"/>
          <p:nvPr/>
        </p:nvSpPr>
        <p:spPr>
          <a:xfrm>
            <a:off x="640080" y="1554480"/>
            <a:ext cx="10911535" cy="365760"/>
          </a:xfrm>
          <a:prstGeom prst="rect">
            <a:avLst/>
          </a:prstGeom>
          <a:noFill/>
        </p:spPr>
        <p:txBody>
          <a:bodyPr wrap="square" lIns="0" rIns="0" tIns="0" bIns="0" anchor="t">
            <a:noAutofit/>
          </a:bodyPr>
          <a:lstStyle/>
          <a:p>
            <a:pPr algn="l">
              <a:lnSpc>
                <a:spcPct val="115000"/>
              </a:lnSpc>
            </a:pPr>
            <a:r>
              <a:rPr sz="1400" b="0" i="1">
                <a:solidFill>
                  <a:srgbClr val="64748B"/>
                </a:solidFill>
                <a:latin typeface="Inter"/>
              </a:rPr>
              <a:t>Angels invest in people. Be specific about why you, why now, why this.</a:t>
            </a:r>
          </a:p>
        </p:txBody>
      </p:sp>
      <p:sp>
        <p:nvSpPr>
          <p:cNvPr id="4" name="Rectangle 3"/>
          <p:cNvSpPr/>
          <p:nvPr/>
        </p:nvSpPr>
        <p:spPr>
          <a:xfrm>
            <a:off x="640080" y="2286000"/>
            <a:ext cx="3393338" cy="36576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2606040"/>
            <a:ext cx="2661818" cy="17373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06040"/>
            <a:ext cx="2661818" cy="1737360"/>
          </a:xfrm>
          <a:prstGeom prst="rect">
            <a:avLst/>
          </a:prstGeom>
          <a:noFill/>
        </p:spPr>
        <p:txBody>
          <a:bodyPr wrap="square" lIns="0" rIns="0" tIns="0" bIns="0" anchor="ctr">
            <a:noAutofit/>
          </a:bodyPr>
          <a:lstStyle/>
          <a:p>
            <a:pPr algn="ctr">
              <a:lnSpc>
                <a:spcPct val="115000"/>
              </a:lnSpc>
            </a:pPr>
            <a:r>
              <a:rPr sz="1400" b="0" i="1">
                <a:solidFill>
                  <a:srgbClr val="94A3B8"/>
                </a:solidFill>
                <a:latin typeface="Inter"/>
              </a:rPr>
              <a:t>[Headshot]</a:t>
            </a:r>
          </a:p>
        </p:txBody>
      </p:sp>
      <p:sp>
        <p:nvSpPr>
          <p:cNvPr id="7" name="TextBox 6"/>
          <p:cNvSpPr txBox="1"/>
          <p:nvPr/>
        </p:nvSpPr>
        <p:spPr>
          <a:xfrm>
            <a:off x="1005840" y="4526280"/>
            <a:ext cx="2661818" cy="365760"/>
          </a:xfrm>
          <a:prstGeom prst="rect">
            <a:avLst/>
          </a:prstGeom>
          <a:noFill/>
        </p:spPr>
        <p:txBody>
          <a:bodyPr wrap="square" lIns="0" rIns="0" tIns="0" bIns="0" anchor="t">
            <a:noAutofit/>
          </a:bodyPr>
          <a:lstStyle/>
          <a:p>
            <a:pPr algn="l">
              <a:lnSpc>
                <a:spcPct val="115000"/>
              </a:lnSpc>
            </a:pPr>
            <a:r>
              <a:rPr sz="1500" b="1" i="1">
                <a:solidFill>
                  <a:srgbClr val="94A3B8"/>
                </a:solidFill>
                <a:latin typeface="Inter"/>
              </a:rPr>
              <a:t>[Founder]</a:t>
            </a:r>
          </a:p>
        </p:txBody>
      </p:sp>
      <p:sp>
        <p:nvSpPr>
          <p:cNvPr id="8" name="TextBox 7"/>
          <p:cNvSpPr txBox="1"/>
          <p:nvPr/>
        </p:nvSpPr>
        <p:spPr>
          <a:xfrm>
            <a:off x="1005840" y="4937760"/>
            <a:ext cx="2661818"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[Name + 1-line credential]</a:t>
            </a:r>
          </a:p>
        </p:txBody>
      </p:sp>
      <p:sp>
        <p:nvSpPr>
          <p:cNvPr id="9" name="Rectangle 8"/>
          <p:cNvSpPr/>
          <p:nvPr/>
        </p:nvSpPr>
        <p:spPr>
          <a:xfrm>
            <a:off x="4399178" y="2286000"/>
            <a:ext cx="3393338" cy="36576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64938" y="2606040"/>
            <a:ext cx="2661818" cy="17373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64938" y="2606040"/>
            <a:ext cx="2661818" cy="1737360"/>
          </a:xfrm>
          <a:prstGeom prst="rect">
            <a:avLst/>
          </a:prstGeom>
          <a:noFill/>
        </p:spPr>
        <p:txBody>
          <a:bodyPr wrap="square" lIns="0" rIns="0" tIns="0" bIns="0" anchor="ctr">
            <a:noAutofit/>
          </a:bodyPr>
          <a:lstStyle/>
          <a:p>
            <a:pPr algn="ctr">
              <a:lnSpc>
                <a:spcPct val="115000"/>
              </a:lnSpc>
            </a:pPr>
            <a:r>
              <a:rPr sz="1400" b="0" i="1">
                <a:solidFill>
                  <a:srgbClr val="94A3B8"/>
                </a:solidFill>
                <a:latin typeface="Inter"/>
              </a:rPr>
              <a:t>[Headshot]</a:t>
            </a:r>
          </a:p>
        </p:txBody>
      </p:sp>
      <p:sp>
        <p:nvSpPr>
          <p:cNvPr id="12" name="TextBox 11"/>
          <p:cNvSpPr txBox="1"/>
          <p:nvPr/>
        </p:nvSpPr>
        <p:spPr>
          <a:xfrm>
            <a:off x="4764938" y="4526280"/>
            <a:ext cx="2661818" cy="365760"/>
          </a:xfrm>
          <a:prstGeom prst="rect">
            <a:avLst/>
          </a:prstGeom>
          <a:noFill/>
        </p:spPr>
        <p:txBody>
          <a:bodyPr wrap="square" lIns="0" rIns="0" tIns="0" bIns="0" anchor="t">
            <a:noAutofit/>
          </a:bodyPr>
          <a:lstStyle/>
          <a:p>
            <a:pPr algn="l">
              <a:lnSpc>
                <a:spcPct val="115000"/>
              </a:lnSpc>
            </a:pPr>
            <a:r>
              <a:rPr sz="1500" b="1" i="1">
                <a:solidFill>
                  <a:srgbClr val="94A3B8"/>
                </a:solidFill>
                <a:latin typeface="Inter"/>
              </a:rPr>
              <a:t>[Co-founder / Key hire]</a:t>
            </a:r>
          </a:p>
        </p:txBody>
      </p:sp>
      <p:sp>
        <p:nvSpPr>
          <p:cNvPr id="13" name="TextBox 12"/>
          <p:cNvSpPr txBox="1"/>
          <p:nvPr/>
        </p:nvSpPr>
        <p:spPr>
          <a:xfrm>
            <a:off x="4764938" y="4937760"/>
            <a:ext cx="2661818"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[Name + credential]</a:t>
            </a:r>
          </a:p>
        </p:txBody>
      </p:sp>
      <p:sp>
        <p:nvSpPr>
          <p:cNvPr id="14" name="TextBox 13"/>
          <p:cNvSpPr txBox="1"/>
          <p:nvPr/>
        </p:nvSpPr>
        <p:spPr>
          <a:xfrm>
            <a:off x="4764938" y="5394960"/>
            <a:ext cx="2661818" cy="274320"/>
          </a:xfrm>
          <a:prstGeom prst="rect">
            <a:avLst/>
          </a:prstGeom>
          <a:noFill/>
        </p:spPr>
        <p:txBody>
          <a:bodyPr wrap="square" lIns="0" rIns="0" tIns="0" bIns="0" anchor="t">
            <a:noAutofit/>
          </a:bodyPr>
          <a:lstStyle/>
          <a:p>
            <a:pPr algn="l">
              <a:lnSpc>
                <a:spcPct val="115000"/>
              </a:lnSpc>
            </a:pPr>
            <a:r>
              <a:rPr sz="1100" b="0" i="1">
                <a:solidFill>
                  <a:srgbClr val="94A3B8"/>
                </a:solidFill>
                <a:latin typeface="Inter"/>
              </a:rPr>
              <a:t>optional</a:t>
            </a:r>
          </a:p>
        </p:txBody>
      </p:sp>
      <p:sp>
        <p:nvSpPr>
          <p:cNvPr id="15" name="Rectangle 14"/>
          <p:cNvSpPr/>
          <p:nvPr/>
        </p:nvSpPr>
        <p:spPr>
          <a:xfrm>
            <a:off x="8158276" y="2286000"/>
            <a:ext cx="3393338" cy="3657600"/>
          </a:xfrm>
          <a:prstGeom prst="rect">
            <a:avLst/>
          </a:prstGeom>
          <a:noFill/>
          <a:ln w="19050">
            <a:solidFill>
              <a:srgbClr val="CBD5E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24036" y="2606040"/>
            <a:ext cx="2661818" cy="17373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24036" y="2606040"/>
            <a:ext cx="2661818" cy="1737360"/>
          </a:xfrm>
          <a:prstGeom prst="rect">
            <a:avLst/>
          </a:prstGeom>
          <a:noFill/>
        </p:spPr>
        <p:txBody>
          <a:bodyPr wrap="square" lIns="0" rIns="0" tIns="0" bIns="0" anchor="ctr">
            <a:noAutofit/>
          </a:bodyPr>
          <a:lstStyle/>
          <a:p>
            <a:pPr algn="ctr">
              <a:lnSpc>
                <a:spcPct val="115000"/>
              </a:lnSpc>
            </a:pPr>
            <a:r>
              <a:rPr sz="1400" b="0" i="1">
                <a:solidFill>
                  <a:srgbClr val="94A3B8"/>
                </a:solidFill>
                <a:latin typeface="Inter"/>
              </a:rPr>
              <a:t>[Headshot]</a:t>
            </a:r>
          </a:p>
        </p:txBody>
      </p:sp>
      <p:sp>
        <p:nvSpPr>
          <p:cNvPr id="18" name="TextBox 17"/>
          <p:cNvSpPr txBox="1"/>
          <p:nvPr/>
        </p:nvSpPr>
        <p:spPr>
          <a:xfrm>
            <a:off x="8524036" y="4526280"/>
            <a:ext cx="2661818" cy="365760"/>
          </a:xfrm>
          <a:prstGeom prst="rect">
            <a:avLst/>
          </a:prstGeom>
          <a:noFill/>
        </p:spPr>
        <p:txBody>
          <a:bodyPr wrap="square" lIns="0" rIns="0" tIns="0" bIns="0" anchor="t">
            <a:noAutofit/>
          </a:bodyPr>
          <a:lstStyle/>
          <a:p>
            <a:pPr algn="l">
              <a:lnSpc>
                <a:spcPct val="115000"/>
              </a:lnSpc>
            </a:pPr>
            <a:r>
              <a:rPr sz="1500" b="1" i="1">
                <a:solidFill>
                  <a:srgbClr val="94A3B8"/>
                </a:solidFill>
                <a:latin typeface="Inter"/>
              </a:rPr>
              <a:t>[Advisors]</a:t>
            </a:r>
          </a:p>
        </p:txBody>
      </p:sp>
      <p:sp>
        <p:nvSpPr>
          <p:cNvPr id="19" name="TextBox 18"/>
          <p:cNvSpPr txBox="1"/>
          <p:nvPr/>
        </p:nvSpPr>
        <p:spPr>
          <a:xfrm>
            <a:off x="8524036" y="4937760"/>
            <a:ext cx="2661818" cy="457200"/>
          </a:xfrm>
          <a:prstGeom prst="rect">
            <a:avLst/>
          </a:prstGeom>
          <a:noFill/>
        </p:spPr>
        <p:txBody>
          <a:bodyPr wrap="square" lIns="0" rIns="0" tIns="0" bIns="0" anchor="t">
            <a:noAutofit/>
          </a:bodyPr>
          <a:lstStyle/>
          <a:p>
            <a:pPr algn="l">
              <a:lnSpc>
                <a:spcPct val="115000"/>
              </a:lnSpc>
            </a:pPr>
            <a:r>
              <a:rPr sz="1300" b="0" i="1">
                <a:solidFill>
                  <a:srgbClr val="94A3B8"/>
                </a:solidFill>
                <a:latin typeface="Inter"/>
              </a:rPr>
              <a:t>[Names + committed angels]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822960" y="640080"/>
            <a:ext cx="6583680" cy="914400"/>
          </a:xfrm>
          <a:prstGeom prst="rect">
            <a:avLst/>
          </a:prstGeom>
          <a:noFill/>
        </p:spPr>
        <p:txBody>
          <a:bodyPr wrap="square" lIns="0" rIns="0" tIns="0" bIns="0" anchor="t">
            <a:noAutofit/>
          </a:bodyPr>
          <a:lstStyle/>
          <a:p>
            <a:pPr algn="l">
              <a:lnSpc>
                <a:spcPct val="110000"/>
              </a:lnSpc>
            </a:pPr>
            <a:r>
              <a:rPr sz="4400" b="1" i="0">
                <a:solidFill>
                  <a:srgbClr val="FFFFFF"/>
                </a:solidFill>
                <a:latin typeface="Inter"/>
              </a:rPr>
              <a:t>Raising A$[XXX]</a:t>
            </a:r>
          </a:p>
        </p:txBody>
      </p:sp>
      <p:sp>
        <p:nvSpPr>
          <p:cNvPr id="3" name="TextBox 2"/>
          <p:cNvSpPr txBox="1"/>
          <p:nvPr/>
        </p:nvSpPr>
        <p:spPr>
          <a:xfrm>
            <a:off x="822960" y="1600200"/>
            <a:ext cx="6583680" cy="457200"/>
          </a:xfrm>
          <a:prstGeom prst="rect">
            <a:avLst/>
          </a:prstGeom>
          <a:noFill/>
        </p:spPr>
        <p:txBody>
          <a:bodyPr wrap="square" lIns="0" rIns="0" tIns="0" bIns="0" anchor="t">
            <a:noAutofit/>
          </a:bodyPr>
          <a:lstStyle/>
          <a:p>
            <a:pPr algn="l">
              <a:lnSpc>
                <a:spcPct val="115000"/>
              </a:lnSpc>
            </a:pPr>
            <a:r>
              <a:rPr sz="1800" b="0" i="1">
                <a:solidFill>
                  <a:srgbClr val="CBD5E1"/>
                </a:solidFill>
                <a:latin typeface="Inter"/>
              </a:rPr>
              <a:t>to reach A$[X]M ARR by [milestone]</a:t>
            </a:r>
          </a:p>
        </p:txBody>
      </p:sp>
      <p:sp>
        <p:nvSpPr>
          <p:cNvPr id="4" name="TextBox 3"/>
          <p:cNvSpPr txBox="1"/>
          <p:nvPr/>
        </p:nvSpPr>
        <p:spPr>
          <a:xfrm>
            <a:off x="822960" y="2468880"/>
            <a:ext cx="6583680" cy="320040"/>
          </a:xfrm>
          <a:prstGeom prst="rect">
            <a:avLst/>
          </a:prstGeom>
          <a:noFill/>
        </p:spPr>
        <p:txBody>
          <a:bodyPr wrap="square" lIns="0" rIns="0" tIns="0" bIns="0" anchor="t">
            <a:noAutofit/>
          </a:bodyPr>
          <a:lstStyle/>
          <a:p>
            <a:pPr algn="l">
              <a:lnSpc>
                <a:spcPct val="115000"/>
              </a:lnSpc>
            </a:pPr>
            <a:r>
              <a:rPr sz="1100" b="1" i="0">
                <a:solidFill>
                  <a:srgbClr val="F96167"/>
                </a:solidFill>
                <a:latin typeface="Inter"/>
              </a:rPr>
              <a:t>USE OF FUNDS</a:t>
            </a:r>
          </a:p>
        </p:txBody>
      </p:sp>
      <p:sp>
        <p:nvSpPr>
          <p:cNvPr id="5" name="Rectangle 4"/>
          <p:cNvSpPr/>
          <p:nvPr/>
        </p:nvSpPr>
        <p:spPr>
          <a:xfrm>
            <a:off x="822960" y="2880360"/>
            <a:ext cx="2633472" cy="50292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56432" y="2880360"/>
            <a:ext cx="2633472" cy="502920"/>
          </a:xfrm>
          <a:prstGeom prst="rect">
            <a:avLst/>
          </a:prstGeom>
          <a:solidFill>
            <a:srgbClr val="FCA5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89904" y="2880360"/>
            <a:ext cx="1316736" cy="5029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90088"/>
            <a:ext cx="2633472" cy="274320"/>
          </a:xfrm>
          <a:prstGeom prst="rect">
            <a:avLst/>
          </a:prstGeom>
          <a:noFill/>
        </p:spPr>
        <p:txBody>
          <a:bodyPr wrap="square" lIns="0" rIns="0" tIns="0" bIns="0" anchor="t">
            <a:noAutofit/>
          </a:bodyPr>
          <a:lstStyle/>
          <a:p>
            <a:pPr algn="ctr">
              <a:lnSpc>
                <a:spcPct val="115000"/>
              </a:lnSpc>
            </a:pPr>
            <a:r>
              <a:rPr sz="1100" b="1" i="0">
                <a:solidFill>
                  <a:srgbClr val="FFFFFF"/>
                </a:solidFill>
                <a:latin typeface="Inter"/>
              </a:rPr>
              <a:t>Product  40%</a:t>
            </a:r>
          </a:p>
        </p:txBody>
      </p:sp>
      <p:sp>
        <p:nvSpPr>
          <p:cNvPr id="9" name="TextBox 8"/>
          <p:cNvSpPr txBox="1"/>
          <p:nvPr/>
        </p:nvSpPr>
        <p:spPr>
          <a:xfrm>
            <a:off x="3456432" y="2990088"/>
            <a:ext cx="2633472" cy="274320"/>
          </a:xfrm>
          <a:prstGeom prst="rect">
            <a:avLst/>
          </a:prstGeom>
          <a:noFill/>
        </p:spPr>
        <p:txBody>
          <a:bodyPr wrap="square" lIns="0" rIns="0" tIns="0" bIns="0" anchor="t">
            <a:noAutofit/>
          </a:bodyPr>
          <a:lstStyle/>
          <a:p>
            <a:pPr algn="ctr">
              <a:lnSpc>
                <a:spcPct val="115000"/>
              </a:lnSpc>
            </a:pPr>
            <a:r>
              <a:rPr sz="1100" b="1" i="0">
                <a:solidFill>
                  <a:srgbClr val="FFFFFF"/>
                </a:solidFill>
                <a:latin typeface="Inter"/>
              </a:rPr>
              <a:t>Growth  40%</a:t>
            </a:r>
          </a:p>
        </p:txBody>
      </p:sp>
      <p:sp>
        <p:nvSpPr>
          <p:cNvPr id="10" name="TextBox 9"/>
          <p:cNvSpPr txBox="1"/>
          <p:nvPr/>
        </p:nvSpPr>
        <p:spPr>
          <a:xfrm>
            <a:off x="6089904" y="2990088"/>
            <a:ext cx="1316736" cy="274320"/>
          </a:xfrm>
          <a:prstGeom prst="rect">
            <a:avLst/>
          </a:prstGeom>
          <a:noFill/>
        </p:spPr>
        <p:txBody>
          <a:bodyPr wrap="square" lIns="0" rIns="0" tIns="0" bIns="0" anchor="t">
            <a:noAutofit/>
          </a:bodyPr>
          <a:lstStyle/>
          <a:p>
            <a:pPr algn="ctr">
              <a:lnSpc>
                <a:spcPct val="115000"/>
              </a:lnSpc>
            </a:pPr>
            <a:r>
              <a:rPr sz="1100" b="1" i="0">
                <a:solidFill>
                  <a:srgbClr val="FFFFFF"/>
                </a:solidFill>
                <a:latin typeface="Inter"/>
              </a:rPr>
              <a:t>Ops  20%</a:t>
            </a:r>
          </a:p>
        </p:txBody>
      </p:sp>
      <p:sp>
        <p:nvSpPr>
          <p:cNvPr id="11" name="TextBox 10"/>
          <p:cNvSpPr txBox="1"/>
          <p:nvPr/>
        </p:nvSpPr>
        <p:spPr>
          <a:xfrm>
            <a:off x="822960" y="4114800"/>
            <a:ext cx="6583680" cy="320040"/>
          </a:xfrm>
          <a:prstGeom prst="rect">
            <a:avLst/>
          </a:prstGeom>
          <a:noFill/>
        </p:spPr>
        <p:txBody>
          <a:bodyPr wrap="square" lIns="0" rIns="0" tIns="0" bIns="0" anchor="t">
            <a:noAutofit/>
          </a:bodyPr>
          <a:lstStyle/>
          <a:p>
            <a:pPr algn="l">
              <a:lnSpc>
                <a:spcPct val="115000"/>
              </a:lnSpc>
            </a:pPr>
            <a:r>
              <a:rPr sz="1100" b="1" i="0">
                <a:solidFill>
                  <a:srgbClr val="F96167"/>
                </a:solidFill>
                <a:latin typeface="Inter"/>
              </a:rPr>
              <a:t>MILESTONES</a:t>
            </a:r>
          </a:p>
        </p:txBody>
      </p:sp>
      <p:sp>
        <p:nvSpPr>
          <p:cNvPr id="12" name="TextBox 11"/>
          <p:cNvSpPr txBox="1"/>
          <p:nvPr/>
        </p:nvSpPr>
        <p:spPr>
          <a:xfrm>
            <a:off x="822960" y="4526280"/>
            <a:ext cx="6583680" cy="292608"/>
          </a:xfrm>
          <a:prstGeom prst="rect">
            <a:avLst/>
          </a:prstGeom>
          <a:noFill/>
        </p:spPr>
        <p:txBody>
          <a:bodyPr wrap="square" lIns="0" rIns="0" tIns="0" bIns="0" anchor="t">
            <a:noAutofit/>
          </a:bodyPr>
          <a:lstStyle/>
          <a:p>
            <a:pPr algn="l">
              <a:lnSpc>
                <a:spcPct val="115000"/>
              </a:lnSpc>
            </a:pPr>
            <a:r>
              <a:rPr sz="1300" b="0" i="0">
                <a:solidFill>
                  <a:srgbClr val="FFFFFF"/>
                </a:solidFill>
                <a:latin typeface="Inter"/>
              </a:rPr>
              <a:t>→  Product launch</a:t>
            </a:r>
          </a:p>
        </p:txBody>
      </p:sp>
      <p:sp>
        <p:nvSpPr>
          <p:cNvPr id="13" name="TextBox 12"/>
          <p:cNvSpPr txBox="1"/>
          <p:nvPr/>
        </p:nvSpPr>
        <p:spPr>
          <a:xfrm>
            <a:off x="822960" y="4846320"/>
            <a:ext cx="6583680" cy="292608"/>
          </a:xfrm>
          <a:prstGeom prst="rect">
            <a:avLst/>
          </a:prstGeom>
          <a:noFill/>
        </p:spPr>
        <p:txBody>
          <a:bodyPr wrap="square" lIns="0" rIns="0" tIns="0" bIns="0" anchor="t">
            <a:noAutofit/>
          </a:bodyPr>
          <a:lstStyle/>
          <a:p>
            <a:pPr algn="l">
              <a:lnSpc>
                <a:spcPct val="115000"/>
              </a:lnSpc>
            </a:pPr>
            <a:r>
              <a:rPr sz="1300" b="0" i="0">
                <a:solidFill>
                  <a:srgbClr val="FFFFFF"/>
                </a:solidFill>
                <a:latin typeface="Inter"/>
              </a:rPr>
              <a:t>→  Waitlist conversion (&gt;60%)</a:t>
            </a:r>
          </a:p>
        </p:txBody>
      </p:sp>
      <p:sp>
        <p:nvSpPr>
          <p:cNvPr id="14" name="TextBox 13"/>
          <p:cNvSpPr txBox="1"/>
          <p:nvPr/>
        </p:nvSpPr>
        <p:spPr>
          <a:xfrm>
            <a:off x="822960" y="5166360"/>
            <a:ext cx="6583680" cy="292608"/>
          </a:xfrm>
          <a:prstGeom prst="rect">
            <a:avLst/>
          </a:prstGeom>
          <a:noFill/>
        </p:spPr>
        <p:txBody>
          <a:bodyPr wrap="square" lIns="0" rIns="0" tIns="0" bIns="0" anchor="t">
            <a:noAutofit/>
          </a:bodyPr>
          <a:lstStyle/>
          <a:p>
            <a:pPr algn="l">
              <a:lnSpc>
                <a:spcPct val="115000"/>
              </a:lnSpc>
            </a:pPr>
            <a:r>
              <a:rPr sz="1300" b="0" i="0">
                <a:solidFill>
                  <a:srgbClr val="FFFFFF"/>
                </a:solidFill>
                <a:latin typeface="Inter"/>
              </a:rPr>
              <a:t>→  A$[X]k ARR</a:t>
            </a:r>
          </a:p>
        </p:txBody>
      </p:sp>
      <p:sp>
        <p:nvSpPr>
          <p:cNvPr id="15" name="TextBox 14"/>
          <p:cNvSpPr txBox="1"/>
          <p:nvPr/>
        </p:nvSpPr>
        <p:spPr>
          <a:xfrm>
            <a:off x="822960" y="5486400"/>
            <a:ext cx="6583680" cy="292608"/>
          </a:xfrm>
          <a:prstGeom prst="rect">
            <a:avLst/>
          </a:prstGeom>
          <a:noFill/>
        </p:spPr>
        <p:txBody>
          <a:bodyPr wrap="square" lIns="0" rIns="0" tIns="0" bIns="0" anchor="t">
            <a:noAutofit/>
          </a:bodyPr>
          <a:lstStyle/>
          <a:p>
            <a:pPr algn="l">
              <a:lnSpc>
                <a:spcPct val="115000"/>
              </a:lnSpc>
            </a:pPr>
            <a:r>
              <a:rPr sz="1300" b="0" i="0">
                <a:solidFill>
                  <a:srgbClr val="FFFFFF"/>
                </a:solidFill>
                <a:latin typeface="Inter"/>
              </a:rPr>
              <a:t>→  CAC payback proof</a:t>
            </a:r>
          </a:p>
        </p:txBody>
      </p:sp>
      <p:sp>
        <p:nvSpPr>
          <p:cNvPr id="16" name="TextBox 15"/>
          <p:cNvSpPr txBox="1"/>
          <p:nvPr/>
        </p:nvSpPr>
        <p:spPr>
          <a:xfrm>
            <a:off x="822960" y="5897880"/>
            <a:ext cx="6583680" cy="274320"/>
          </a:xfrm>
          <a:prstGeom prst="rect">
            <a:avLst/>
          </a:prstGeom>
          <a:noFill/>
        </p:spPr>
        <p:txBody>
          <a:bodyPr wrap="square" lIns="0" rIns="0" tIns="0" bIns="0" anchor="t">
            <a:noAutofit/>
          </a:bodyPr>
          <a:lstStyle/>
          <a:p>
            <a:pPr algn="l">
              <a:lnSpc>
                <a:spcPct val="115000"/>
              </a:lnSpc>
            </a:pPr>
            <a:r>
              <a:rPr sz="1300" b="0" i="1">
                <a:solidFill>
                  <a:srgbClr val="CBD5E1"/>
                </a:solidFill>
                <a:latin typeface="Inter"/>
              </a:rPr>
              <a:t>Runway: [X] months</a:t>
            </a:r>
          </a:p>
        </p:txBody>
      </p:sp>
      <p:sp>
        <p:nvSpPr>
          <p:cNvPr id="17" name="TextBox 16"/>
          <p:cNvSpPr txBox="1"/>
          <p:nvPr/>
        </p:nvSpPr>
        <p:spPr>
          <a:xfrm>
            <a:off x="7772400" y="1645920"/>
            <a:ext cx="3779215" cy="3200400"/>
          </a:xfrm>
          <a:prstGeom prst="rect">
            <a:avLst/>
          </a:prstGeom>
          <a:noFill/>
        </p:spPr>
        <p:txBody>
          <a:bodyPr wrap="square" lIns="0" rIns="0" tIns="0" bIns="0" anchor="t">
            <a:noAutofit/>
          </a:bodyPr>
          <a:lstStyle/>
          <a:p>
            <a:pPr algn="l">
              <a:lnSpc>
                <a:spcPct val="125000"/>
              </a:lnSpc>
            </a:pPr>
            <a:r>
              <a:rPr sz="2800" b="1" i="0">
                <a:solidFill>
                  <a:srgbClr val="F96167"/>
                </a:solidFill>
                <a:latin typeface="Inter"/>
              </a:rPr>
              <a:t>A generation of Australian children that never fall behind.</a:t>
            </a:r>
          </a:p>
        </p:txBody>
      </p:sp>
      <p:sp>
        <p:nvSpPr>
          <p:cNvPr id="18" name="Rectangle 17"/>
          <p:cNvSpPr/>
          <p:nvPr/>
        </p:nvSpPr>
        <p:spPr>
          <a:xfrm>
            <a:off x="7772400" y="4937760"/>
            <a:ext cx="914400" cy="54864"/>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5074920"/>
            <a:ext cx="3779215" cy="365760"/>
          </a:xfrm>
          <a:prstGeom prst="rect">
            <a:avLst/>
          </a:prstGeom>
          <a:noFill/>
        </p:spPr>
        <p:txBody>
          <a:bodyPr wrap="square" lIns="0" rIns="0" tIns="0" bIns="0" anchor="t">
            <a:noAutofit/>
          </a:bodyPr>
          <a:lstStyle/>
          <a:p>
            <a:pPr algn="l">
              <a:lnSpc>
                <a:spcPct val="115000"/>
              </a:lnSpc>
            </a:pPr>
            <a:r>
              <a:rPr sz="1400" b="0" i="1">
                <a:solidFill>
                  <a:srgbClr val="CBD5E1"/>
                </a:solidFill>
                <a:latin typeface="Inter"/>
              </a:rPr>
              <a:t>That's what we're here to build.</a:t>
            </a:r>
          </a:p>
        </p:txBody>
      </p:sp>
      <p:sp>
        <p:nvSpPr>
          <p:cNvPr id="20" name="TextBox 19"/>
          <p:cNvSpPr txBox="1"/>
          <p:nvPr/>
        </p:nvSpPr>
        <p:spPr>
          <a:xfrm>
            <a:off x="0" y="6492240"/>
            <a:ext cx="12191695" cy="274320"/>
          </a:xfrm>
          <a:prstGeom prst="rect">
            <a:avLst/>
          </a:prstGeom>
          <a:noFill/>
        </p:spPr>
        <p:txBody>
          <a:bodyPr wrap="square" lIns="0" rIns="0" tIns="0" bIns="0" anchor="t">
            <a:noAutofit/>
          </a:bodyPr>
          <a:lstStyle/>
          <a:p>
            <a:pPr algn="ctr">
              <a:lnSpc>
                <a:spcPct val="115000"/>
              </a:lnSpc>
            </a:pPr>
            <a:r>
              <a:rPr sz="1200" b="0" i="0">
                <a:solidFill>
                  <a:srgbClr val="94A3B8"/>
                </a:solidFill>
                <a:latin typeface="Inter"/>
              </a:rPr>
              <a:t>jesse@activedigital.fund  ·  upwise.com.au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