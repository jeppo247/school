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Jesse, founder of Upwise. In the next ten minutes I want to show you a business that I think is the clearest consumer opportunity in Australian education in a generation. Let's start with the problem every Australian parent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parent sitting at the kitchen table. Their Year 3 child hands them a report card that says 'Developing — needs additional support.' They call the school. The teacher is managing 28 kids with one aide and has no time for intervention. This isn't hypothetical. 35% of Australian parents already pay for tutoring to close the gap. They're not buying ambition. They're buying reassurance that their child won't be left behind.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what this slide is not. It's not a hockey-stick forecast or a TAM calculation from a McKinsey report. It's the money Australian parents are spending right now, today, on supplemental learning that isn't built for them. Our job is redirection, not creation.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Bloom's 2-Sigma Problem, 1984: one-on-one mastery tutoring produces outcomes that classroom teaching can't match. We've known this for forty years. We couldn't do anything about it because one tutor per child wasn't economical. That changed, quietly, in the last eighteen months.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minutes a day. Adaptive. Mastery-based. The kid can't jump ahead until they've actually understood. Which means every session builds on solid ground — no accumulating gaps.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deliberate bet. We're not replacing parents. We're not replacing teachers. We're giving parents the one thing they've always lacked: a map. What to say when their child is stuck. What to reinforce at dinner. Where the real gap is. The research — Bloom, Kulik, RAND, the 2025 meta-analysis — consistently finds the strongest outcomes come from AI-plus-human, not AI-alone.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credibility isn't 'we built an AI.' Our credibility is a forty-year research lineage that four generations of learning scientists agree on. Upwise is the first Australian operationalisation of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quadrant Upwise sits in. Now look at how empty it is. Not because it's a bad quadrant — because no Australian incumbent has built for it. Cluey is losing money doing 1:1 human. Kumon is still running physical franchises in 2026. The IXLs and Mathletics of the world won't even look at you as a parent. That's our wedge.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17,000 families. In a country with 1.52 million primary-age households, of which 380,000 already pay for tutoring. This is not a moonshot. This is arithmetic.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parent we've spoken to has the same question: is it safe? Is it just more screen time? Is it going to replace me as the parent? Our answer, on each: closed system, twenty minutes, parent-guided. Not a chatbot. Not an ad-driven app. Not a babysitter.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011680"/>
            <a:ext cx="8229600" cy="1371600"/>
          </a:xfrm>
          <a:prstGeom prst="rect">
            <a:avLst/>
          </a:prstGeom>
          <a:noFill/>
        </p:spPr>
        <p:txBody>
          <a:bodyPr wrap="none">
            <a:spAutoFit/>
          </a:bodyPr>
          <a:lstStyle/>
          <a:p>
            <a:pPr>
              <a:defRPr sz="7200" b="1">
                <a:solidFill>
                  <a:srgbClr val="F8F9FA"/>
                </a:solidFill>
              </a:defRPr>
            </a:pPr>
            <a:r>
              <a:t>Upwise</a:t>
            </a:r>
          </a:p>
        </p:txBody>
      </p:sp>
      <p:sp>
        <p:nvSpPr>
          <p:cNvPr id="3" name="TextBox 2"/>
          <p:cNvSpPr txBox="1"/>
          <p:nvPr/>
        </p:nvSpPr>
        <p:spPr>
          <a:xfrm>
            <a:off x="457200" y="3566160"/>
            <a:ext cx="8229600" cy="1828800"/>
          </a:xfrm>
          <a:prstGeom prst="rect">
            <a:avLst/>
          </a:prstGeom>
          <a:noFill/>
        </p:spPr>
        <p:txBody>
          <a:bodyPr wrap="square">
            <a:spAutoFit/>
          </a:bodyPr>
          <a:lstStyle/>
          <a:p>
            <a:pPr>
              <a:lnSpc>
                <a:spcPct val="140000"/>
              </a:lnSpc>
              <a:defRPr sz="2600">
                <a:solidFill>
                  <a:srgbClr val="C8D5DB"/>
                </a:solidFill>
              </a:defRPr>
            </a:pPr>
            <a:r>
              <a:t>Strong foundations in maths and English — built session by session.</a:t>
            </a:r>
          </a:p>
        </p:txBody>
      </p:sp>
      <p:sp>
        <p:nvSpPr>
          <p:cNvPr id="4" name="Rectangle 3"/>
          <p:cNvSpPr/>
          <p:nvPr/>
        </p:nvSpPr>
        <p:spPr>
          <a:xfrm>
            <a:off x="457200" y="3383280"/>
            <a:ext cx="1097280" cy="73152"/>
          </a:xfrm>
          <a:prstGeom prst="rect">
            <a:avLst/>
          </a:prstGeom>
          <a:solidFill>
            <a:srgbClr val="F96067"/>
          </a:solidFill>
          <a:ln>
            <a:solidFill>
              <a:srgbClr val="F9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126480"/>
            <a:ext cx="8229600" cy="548640"/>
          </a:xfrm>
          <a:prstGeom prst="rect">
            <a:avLst/>
          </a:prstGeom>
          <a:noFill/>
        </p:spPr>
        <p:txBody>
          <a:bodyPr wrap="none">
            <a:spAutoFit/>
          </a:bodyPr>
          <a:lstStyle/>
          <a:p>
            <a:pPr>
              <a:defRPr sz="1200">
                <a:solidFill>
                  <a:srgbClr val="818CF8"/>
                </a:solidFill>
              </a:defRPr>
            </a:pPr>
            <a:r>
              <a:t>Jesse, Founder · April 2026 · upwise.com.au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square">
            <a:spAutoFit/>
          </a:bodyPr>
          <a:lstStyle/>
          <a:p>
            <a:pPr>
              <a:defRPr sz="3200" b="1">
                <a:solidFill>
                  <a:srgbClr val="0F172A"/>
                </a:solidFill>
              </a:defRPr>
            </a:pPr>
            <a:r>
              <a:t>In a class of 28, your child doesn't stand a chance of being seen.</a:t>
            </a:r>
          </a:p>
        </p:txBody>
      </p:sp>
      <p:sp>
        <p:nvSpPr>
          <p:cNvPr id="3" name="TextBox 2"/>
          <p:cNvSpPr txBox="1"/>
          <p:nvPr/>
        </p:nvSpPr>
        <p:spPr>
          <a:xfrm>
            <a:off x="457200" y="1188720"/>
            <a:ext cx="3200400" cy="1645920"/>
          </a:xfrm>
          <a:prstGeom prst="rect">
            <a:avLst/>
          </a:prstGeom>
          <a:noFill/>
        </p:spPr>
        <p:txBody>
          <a:bodyPr wrap="none">
            <a:spAutoFit/>
          </a:bodyPr>
          <a:lstStyle/>
          <a:p>
            <a:pPr>
              <a:defRPr sz="7200" b="1">
                <a:solidFill>
                  <a:srgbClr val="F96067"/>
                </a:solidFill>
              </a:defRPr>
            </a:pPr>
            <a:r>
              <a:t>42%</a:t>
            </a:r>
          </a:p>
        </p:txBody>
      </p:sp>
      <p:sp>
        <p:nvSpPr>
          <p:cNvPr id="4" name="TextBox 3"/>
          <p:cNvSpPr txBox="1"/>
          <p:nvPr/>
        </p:nvSpPr>
        <p:spPr>
          <a:xfrm>
            <a:off x="457200" y="2834640"/>
            <a:ext cx="3200400" cy="548640"/>
          </a:xfrm>
          <a:prstGeom prst="rect">
            <a:avLst/>
          </a:prstGeom>
          <a:noFill/>
        </p:spPr>
        <p:txBody>
          <a:bodyPr wrap="square">
            <a:spAutoFit/>
          </a:bodyPr>
          <a:lstStyle/>
          <a:p>
            <a:pPr>
              <a:lnSpc>
                <a:spcPct val="120000"/>
              </a:lnSpc>
              <a:defRPr sz="1300">
                <a:solidFill>
                  <a:srgbClr val="475569"/>
                </a:solidFill>
              </a:defRPr>
            </a:pPr>
            <a:r>
              <a:t>of Australian schools teach with qualified teacher shortage (2025)</a:t>
            </a:r>
          </a:p>
        </p:txBody>
      </p:sp>
      <p:sp>
        <p:nvSpPr>
          <p:cNvPr id="5" name="TextBox 4"/>
          <p:cNvSpPr txBox="1"/>
          <p:nvPr/>
        </p:nvSpPr>
        <p:spPr>
          <a:xfrm>
            <a:off x="3931920" y="1188720"/>
            <a:ext cx="4754880" cy="4114800"/>
          </a:xfrm>
          <a:prstGeom prst="rect">
            <a:avLst/>
          </a:prstGeom>
          <a:noFill/>
        </p:spPr>
        <p:txBody>
          <a:bodyPr wrap="square">
            <a:spAutoFit/>
          </a:bodyPr>
          <a:lstStyle/>
          <a:p>
            <a:pPr>
              <a:spcAft>
                <a:spcPts val="200"/>
              </a:spcAft>
              <a:defRPr sz="1500" b="1">
                <a:solidFill>
                  <a:srgbClr val="0F172A"/>
                </a:solidFill>
              </a:defRPr>
            </a:pPr>
            <a:r>
              <a:t>82% of primary teachers report their job damages their mental health</a:t>
            </a:r>
          </a:p>
          <a:p>
            <a:pPr>
              <a:spcBef>
                <a:spcPts val="800"/>
              </a:spcBef>
              <a:spcAft>
                <a:spcPts val="200"/>
              </a:spcAft>
              <a:defRPr sz="1500" b="1">
                <a:solidFill>
                  <a:srgbClr val="0F172A"/>
                </a:solidFill>
              </a:defRPr>
            </a:pPr>
            <a:r>
              <a:t>1 in 3 Year 3 students below literacy proficiency</a:t>
            </a:r>
          </a:p>
          <a:p>
            <a:pPr>
              <a:spcBef>
                <a:spcPts val="800"/>
              </a:spcBef>
              <a:spcAft>
                <a:spcPts val="200"/>
              </a:spcAft>
              <a:defRPr sz="1500" b="1">
                <a:solidFill>
                  <a:srgbClr val="F96067"/>
                </a:solidFill>
              </a:defRPr>
            </a:pPr>
            <a:r>
              <a:t>Victoria's A$1.2B catch-up tutoring program 'did not significantly improve outcomes'</a:t>
            </a:r>
          </a:p>
          <a:p>
            <a:pPr>
              <a:spcBef>
                <a:spcPts val="0"/>
              </a:spcBef>
              <a:defRPr sz="1200">
                <a:solidFill>
                  <a:srgbClr val="475569"/>
                </a:solidFill>
              </a:defRPr>
            </a:pPr>
            <a:r>
              <a:t>— Auditor-General, 2024. The problem isn't money. It's the delivery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square">
            <a:spAutoFit/>
          </a:bodyPr>
          <a:lstStyle/>
          <a:p>
            <a:pPr>
              <a:defRPr sz="3200" b="1">
                <a:solidFill>
                  <a:srgbClr val="0F172A"/>
                </a:solidFill>
              </a:defRPr>
            </a:pPr>
            <a:r>
              <a:t>A$2.2 billion is already leaving Australian parents' wallets.</a:t>
            </a:r>
          </a:p>
        </p:txBody>
      </p:sp>
      <p:sp>
        <p:nvSpPr>
          <p:cNvPr id="3" name="TextBox 2"/>
          <p:cNvSpPr txBox="1"/>
          <p:nvPr/>
        </p:nvSpPr>
        <p:spPr>
          <a:xfrm>
            <a:off x="457200" y="1051560"/>
            <a:ext cx="8229600" cy="365760"/>
          </a:xfrm>
          <a:prstGeom prst="rect">
            <a:avLst/>
          </a:prstGeom>
          <a:noFill/>
        </p:spPr>
        <p:txBody>
          <a:bodyPr wrap="none">
            <a:spAutoFit/>
          </a:bodyPr>
          <a:lstStyle/>
          <a:p>
            <a:pPr>
              <a:defRPr sz="1400" i="1">
                <a:solidFill>
                  <a:srgbClr val="475569"/>
                </a:solidFill>
              </a:defRPr>
            </a:pPr>
            <a:r>
              <a:t>Here's what families actually pay for supplemental learning:</a:t>
            </a:r>
          </a:p>
        </p:txBody>
      </p:sp>
      <p:pic>
        <p:nvPicPr>
          <p:cNvPr id="4" name="Picture 3" descr="image.png"/>
          <p:cNvPicPr>
            <a:picLocks noChangeAspect="1"/>
          </p:cNvPicPr>
          <p:nvPr/>
        </p:nvPicPr>
        <p:blipFill>
          <a:blip r:embed="rId2"/>
          <a:stretch>
            <a:fillRect/>
          </a:stretch>
        </p:blipFill>
        <p:spPr>
          <a:xfrm>
            <a:off x="457200" y="1554480"/>
            <a:ext cx="8229600" cy="3200400"/>
          </a:xfrm>
          <a:prstGeom prst="rect">
            <a:avLst/>
          </a:prstGeom>
        </p:spPr>
      </p:pic>
      <p:sp>
        <p:nvSpPr>
          <p:cNvPr id="5" name="TextBox 4"/>
          <p:cNvSpPr txBox="1"/>
          <p:nvPr/>
        </p:nvSpPr>
        <p:spPr>
          <a:xfrm>
            <a:off x="457200" y="4937760"/>
            <a:ext cx="8229600" cy="1645920"/>
          </a:xfrm>
          <a:prstGeom prst="rect">
            <a:avLst/>
          </a:prstGeom>
          <a:noFill/>
        </p:spPr>
        <p:txBody>
          <a:bodyPr wrap="square">
            <a:spAutoFit/>
          </a:bodyPr>
          <a:lstStyle/>
          <a:p>
            <a:pPr>
              <a:spcAft>
                <a:spcPts val="800"/>
              </a:spcAft>
              <a:defRPr sz="1500" b="1">
                <a:solidFill>
                  <a:srgbClr val="0F172A"/>
                </a:solidFill>
              </a:defRPr>
            </a:pPr>
            <a:r>
              <a:t>35% of Australian parents already pay for tutoring. 18% spend A$100–150 per week.</a:t>
            </a:r>
          </a:p>
          <a:p>
            <a:pPr>
              <a:defRPr sz="1300" i="1">
                <a:solidFill>
                  <a:srgbClr val="475569"/>
                </a:solidFill>
              </a:defRPr>
            </a:pPr>
            <a:r>
              <a:t>Our job is redirection, not creation.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F172A"/>
                </a:solidFill>
              </a:defRPr>
            </a:pPr>
            <a:r>
              <a:t>Why Now: Three Forces Converging</a:t>
            </a:r>
          </a:p>
        </p:txBody>
      </p:sp>
      <p:sp>
        <p:nvSpPr>
          <p:cNvPr id="3" name="TextBox 2"/>
          <p:cNvSpPr txBox="1"/>
          <p:nvPr/>
        </p:nvSpPr>
        <p:spPr>
          <a:xfrm>
            <a:off x="457200" y="960120"/>
            <a:ext cx="8229600" cy="274320"/>
          </a:xfrm>
          <a:prstGeom prst="rect">
            <a:avLst/>
          </a:prstGeom>
          <a:noFill/>
        </p:spPr>
        <p:txBody>
          <a:bodyPr wrap="none">
            <a:spAutoFit/>
          </a:bodyPr>
          <a:lstStyle/>
          <a:p>
            <a:pPr>
              <a:defRPr sz="1400" i="1">
                <a:solidFill>
                  <a:srgbClr val="475569"/>
                </a:solidFill>
              </a:defRPr>
            </a:pPr>
            <a:r>
              <a:t>The 2-Sigma solution, finally economical.</a:t>
            </a:r>
          </a:p>
        </p:txBody>
      </p:sp>
      <p:sp>
        <p:nvSpPr>
          <p:cNvPr id="4" name="Rectangle 3"/>
          <p:cNvSpPr/>
          <p:nvPr/>
        </p:nvSpPr>
        <p:spPr>
          <a:xfrm>
            <a:off x="457200" y="1417320"/>
            <a:ext cx="2606040" cy="38404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2240280" cy="457200"/>
          </a:xfrm>
          <a:prstGeom prst="rect">
            <a:avLst/>
          </a:prstGeom>
          <a:noFill/>
        </p:spPr>
        <p:txBody>
          <a:bodyPr wrap="none">
            <a:spAutoFit/>
          </a:bodyPr>
          <a:lstStyle/>
          <a:p>
            <a:pPr>
              <a:defRPr sz="3600" b="1">
                <a:solidFill>
                  <a:srgbClr val="F96067"/>
                </a:solidFill>
              </a:defRPr>
            </a:pPr>
            <a:r>
              <a:t>1</a:t>
            </a:r>
          </a:p>
        </p:txBody>
      </p:sp>
      <p:sp>
        <p:nvSpPr>
          <p:cNvPr id="6" name="TextBox 5"/>
          <p:cNvSpPr txBox="1"/>
          <p:nvPr/>
        </p:nvSpPr>
        <p:spPr>
          <a:xfrm>
            <a:off x="640080" y="2240280"/>
            <a:ext cx="2240280" cy="640080"/>
          </a:xfrm>
          <a:prstGeom prst="rect">
            <a:avLst/>
          </a:prstGeom>
          <a:noFill/>
        </p:spPr>
        <p:txBody>
          <a:bodyPr wrap="square">
            <a:spAutoFit/>
          </a:bodyPr>
          <a:lstStyle/>
          <a:p>
            <a:pPr>
              <a:defRPr sz="1600" b="1">
                <a:solidFill>
                  <a:srgbClr val="0F172A"/>
                </a:solidFill>
              </a:defRPr>
            </a:pPr>
            <a:r>
              <a:t>The Science</a:t>
            </a:r>
          </a:p>
        </p:txBody>
      </p:sp>
      <p:sp>
        <p:nvSpPr>
          <p:cNvPr id="7" name="TextBox 6"/>
          <p:cNvSpPr txBox="1"/>
          <p:nvPr/>
        </p:nvSpPr>
        <p:spPr>
          <a:xfrm>
            <a:off x="640080" y="2971800"/>
            <a:ext cx="2240280" cy="2011680"/>
          </a:xfrm>
          <a:prstGeom prst="rect">
            <a:avLst/>
          </a:prstGeom>
          <a:noFill/>
        </p:spPr>
        <p:txBody>
          <a:bodyPr wrap="square">
            <a:spAutoFit/>
          </a:bodyPr>
          <a:lstStyle/>
          <a:p>
            <a:pPr>
              <a:lnSpc>
                <a:spcPct val="130000"/>
              </a:lnSpc>
              <a:defRPr sz="1200">
                <a:solidFill>
                  <a:srgbClr val="475569"/>
                </a:solidFill>
              </a:defRPr>
            </a:pPr>
            <a:r>
              <a:t>Bloom proved 1:1 mastery tutoring produces +2.0 standard deviations — 40 years of settled science.</a:t>
            </a:r>
          </a:p>
        </p:txBody>
      </p:sp>
      <p:sp>
        <p:nvSpPr>
          <p:cNvPr id="8" name="Rectangle 7"/>
          <p:cNvSpPr/>
          <p:nvPr/>
        </p:nvSpPr>
        <p:spPr>
          <a:xfrm>
            <a:off x="3337560" y="1417320"/>
            <a:ext cx="2606040" cy="38404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0440" y="1691640"/>
            <a:ext cx="2240280" cy="457200"/>
          </a:xfrm>
          <a:prstGeom prst="rect">
            <a:avLst/>
          </a:prstGeom>
          <a:noFill/>
        </p:spPr>
        <p:txBody>
          <a:bodyPr wrap="none">
            <a:spAutoFit/>
          </a:bodyPr>
          <a:lstStyle/>
          <a:p>
            <a:pPr>
              <a:defRPr sz="3600" b="1">
                <a:solidFill>
                  <a:srgbClr val="F96067"/>
                </a:solidFill>
              </a:defRPr>
            </a:pPr>
            <a:r>
              <a:t>2</a:t>
            </a:r>
          </a:p>
        </p:txBody>
      </p:sp>
      <p:sp>
        <p:nvSpPr>
          <p:cNvPr id="10" name="TextBox 9"/>
          <p:cNvSpPr txBox="1"/>
          <p:nvPr/>
        </p:nvSpPr>
        <p:spPr>
          <a:xfrm>
            <a:off x="3520440" y="2240280"/>
            <a:ext cx="2240280" cy="640080"/>
          </a:xfrm>
          <a:prstGeom prst="rect">
            <a:avLst/>
          </a:prstGeom>
          <a:noFill/>
        </p:spPr>
        <p:txBody>
          <a:bodyPr wrap="square">
            <a:spAutoFit/>
          </a:bodyPr>
          <a:lstStyle/>
          <a:p>
            <a:pPr>
              <a:defRPr sz="1600" b="1">
                <a:solidFill>
                  <a:srgbClr val="0F172A"/>
                </a:solidFill>
              </a:defRPr>
            </a:pPr>
            <a:r>
              <a:t>The Economics</a:t>
            </a:r>
          </a:p>
        </p:txBody>
      </p:sp>
      <p:sp>
        <p:nvSpPr>
          <p:cNvPr id="11" name="TextBox 10"/>
          <p:cNvSpPr txBox="1"/>
          <p:nvPr/>
        </p:nvSpPr>
        <p:spPr>
          <a:xfrm>
            <a:off x="3520440" y="2971800"/>
            <a:ext cx="2240280" cy="2011680"/>
          </a:xfrm>
          <a:prstGeom prst="rect">
            <a:avLst/>
          </a:prstGeom>
          <a:noFill/>
        </p:spPr>
        <p:txBody>
          <a:bodyPr wrap="square">
            <a:spAutoFit/>
          </a:bodyPr>
          <a:lstStyle/>
          <a:p>
            <a:pPr>
              <a:lnSpc>
                <a:spcPct val="130000"/>
              </a:lnSpc>
              <a:defRPr sz="1200">
                <a:solidFill>
                  <a:srgbClr val="475569"/>
                </a:solidFill>
              </a:defRPr>
            </a:pPr>
            <a:r>
              <a:t>LLM inference 150–1000× cheaper in 5 years. Personalised tutoring now affordable at consumer subscription price.</a:t>
            </a:r>
          </a:p>
        </p:txBody>
      </p:sp>
      <p:sp>
        <p:nvSpPr>
          <p:cNvPr id="12" name="Rectangle 11"/>
          <p:cNvSpPr/>
          <p:nvPr/>
        </p:nvSpPr>
        <p:spPr>
          <a:xfrm>
            <a:off x="6217920" y="1417320"/>
            <a:ext cx="2606040" cy="38404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691640"/>
            <a:ext cx="2240280" cy="457200"/>
          </a:xfrm>
          <a:prstGeom prst="rect">
            <a:avLst/>
          </a:prstGeom>
          <a:noFill/>
        </p:spPr>
        <p:txBody>
          <a:bodyPr wrap="none">
            <a:spAutoFit/>
          </a:bodyPr>
          <a:lstStyle/>
          <a:p>
            <a:pPr>
              <a:defRPr sz="3600" b="1">
                <a:solidFill>
                  <a:srgbClr val="F96067"/>
                </a:solidFill>
              </a:defRPr>
            </a:pPr>
            <a:r>
              <a:t>3</a:t>
            </a:r>
          </a:p>
        </p:txBody>
      </p:sp>
      <p:sp>
        <p:nvSpPr>
          <p:cNvPr id="14" name="TextBox 13"/>
          <p:cNvSpPr txBox="1"/>
          <p:nvPr/>
        </p:nvSpPr>
        <p:spPr>
          <a:xfrm>
            <a:off x="6400800" y="2240280"/>
            <a:ext cx="2240280" cy="640080"/>
          </a:xfrm>
          <a:prstGeom prst="rect">
            <a:avLst/>
          </a:prstGeom>
          <a:noFill/>
        </p:spPr>
        <p:txBody>
          <a:bodyPr wrap="square">
            <a:spAutoFit/>
          </a:bodyPr>
          <a:lstStyle/>
          <a:p>
            <a:pPr>
              <a:defRPr sz="1600" b="1">
                <a:solidFill>
                  <a:srgbClr val="0F172A"/>
                </a:solidFill>
              </a:defRPr>
            </a:pPr>
            <a:r>
              <a:t>The Adoption</a:t>
            </a:r>
          </a:p>
        </p:txBody>
      </p:sp>
      <p:sp>
        <p:nvSpPr>
          <p:cNvPr id="15" name="TextBox 14"/>
          <p:cNvSpPr txBox="1"/>
          <p:nvPr/>
        </p:nvSpPr>
        <p:spPr>
          <a:xfrm>
            <a:off x="6400800" y="2971800"/>
            <a:ext cx="2240280" cy="2011680"/>
          </a:xfrm>
          <a:prstGeom prst="rect">
            <a:avLst/>
          </a:prstGeom>
          <a:noFill/>
        </p:spPr>
        <p:txBody>
          <a:bodyPr wrap="square">
            <a:spAutoFit/>
          </a:bodyPr>
          <a:lstStyle/>
          <a:p>
            <a:pPr>
              <a:lnSpc>
                <a:spcPct val="130000"/>
              </a:lnSpc>
              <a:defRPr sz="1200">
                <a:solidFill>
                  <a:srgbClr val="475569"/>
                </a:solidFill>
              </a:defRPr>
            </a:pPr>
            <a:r>
              <a:t>Parents normalised digital-first learning during lockdowns. Willingness to pay for purposeful screen education at all-time highs.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F172A"/>
                </a:solidFill>
              </a:defRPr>
            </a:pPr>
            <a:r>
              <a:t>A mastery-based learning coach for every Australian child.</a:t>
            </a:r>
          </a:p>
        </p:txBody>
      </p:sp>
      <p:sp>
        <p:nvSpPr>
          <p:cNvPr id="3" name="Rectangle 2"/>
          <p:cNvSpPr/>
          <p:nvPr/>
        </p:nvSpPr>
        <p:spPr>
          <a:xfrm>
            <a:off x="502920" y="1280160"/>
            <a:ext cx="548640" cy="548640"/>
          </a:xfrm>
          <a:prstGeom prst="rect">
            <a:avLst/>
          </a:prstGeom>
          <a:solidFill>
            <a:srgbClr val="F96067"/>
          </a:solidFill>
          <a:ln>
            <a:solidFill>
              <a:srgbClr val="F9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0"/>
            <a:ext cx="548640" cy="548640"/>
          </a:xfrm>
          <a:prstGeom prst="rect">
            <a:avLst/>
          </a:prstGeom>
          <a:noFill/>
        </p:spPr>
        <p:txBody>
          <a:bodyPr wrap="none" anchor="ctr">
            <a:spAutoFit/>
          </a:bodyPr>
          <a:lstStyle/>
          <a:p>
            <a:pPr algn="ctr">
              <a:defRPr sz="2400" b="1">
                <a:solidFill>
                  <a:srgbClr val="F8F9FA"/>
                </a:solidFill>
              </a:defRPr>
            </a:pPr>
            <a:r>
              <a:t>1</a:t>
            </a:r>
          </a:p>
        </p:txBody>
      </p:sp>
      <p:sp>
        <p:nvSpPr>
          <p:cNvPr id="5" name="TextBox 4"/>
          <p:cNvSpPr txBox="1"/>
          <p:nvPr/>
        </p:nvSpPr>
        <p:spPr>
          <a:xfrm>
            <a:off x="457200" y="2057400"/>
            <a:ext cx="2560320" cy="457200"/>
          </a:xfrm>
          <a:prstGeom prst="rect">
            <a:avLst/>
          </a:prstGeom>
          <a:noFill/>
        </p:spPr>
        <p:txBody>
          <a:bodyPr wrap="square">
            <a:spAutoFit/>
          </a:bodyPr>
          <a:lstStyle/>
          <a:p>
            <a:pPr>
              <a:defRPr sz="1800" b="1">
                <a:solidFill>
                  <a:srgbClr val="0F172A"/>
                </a:solidFill>
              </a:defRPr>
            </a:pPr>
            <a:r>
              <a:t>Diagnose</a:t>
            </a:r>
          </a:p>
        </p:txBody>
      </p:sp>
      <p:sp>
        <p:nvSpPr>
          <p:cNvPr id="6" name="TextBox 5"/>
          <p:cNvSpPr txBox="1"/>
          <p:nvPr/>
        </p:nvSpPr>
        <p:spPr>
          <a:xfrm>
            <a:off x="457200" y="2560320"/>
            <a:ext cx="2560320" cy="1371600"/>
          </a:xfrm>
          <a:prstGeom prst="rect">
            <a:avLst/>
          </a:prstGeom>
          <a:noFill/>
        </p:spPr>
        <p:txBody>
          <a:bodyPr wrap="square">
            <a:spAutoFit/>
          </a:bodyPr>
          <a:lstStyle/>
          <a:p>
            <a:pPr>
              <a:lnSpc>
                <a:spcPct val="130000"/>
              </a:lnSpc>
              <a:defRPr sz="1200">
                <a:solidFill>
                  <a:srgbClr val="475569"/>
                </a:solidFill>
              </a:defRPr>
            </a:pPr>
            <a:r>
              <a:t>Adaptive assessment pinpoints exact learning gaps</a:t>
            </a:r>
          </a:p>
        </p:txBody>
      </p:sp>
      <p:sp>
        <p:nvSpPr>
          <p:cNvPr id="7" name="Rectangle 6"/>
          <p:cNvSpPr/>
          <p:nvPr/>
        </p:nvSpPr>
        <p:spPr>
          <a:xfrm>
            <a:off x="3383280" y="1280160"/>
            <a:ext cx="548640" cy="548640"/>
          </a:xfrm>
          <a:prstGeom prst="rect">
            <a:avLst/>
          </a:prstGeom>
          <a:solidFill>
            <a:srgbClr val="F96067"/>
          </a:solidFill>
          <a:ln>
            <a:solidFill>
              <a:srgbClr val="F9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80" y="1280160"/>
            <a:ext cx="548640" cy="548640"/>
          </a:xfrm>
          <a:prstGeom prst="rect">
            <a:avLst/>
          </a:prstGeom>
          <a:noFill/>
        </p:spPr>
        <p:txBody>
          <a:bodyPr wrap="none" anchor="ctr">
            <a:spAutoFit/>
          </a:bodyPr>
          <a:lstStyle/>
          <a:p>
            <a:pPr algn="ctr">
              <a:defRPr sz="2400" b="1">
                <a:solidFill>
                  <a:srgbClr val="F8F9FA"/>
                </a:solidFill>
              </a:defRPr>
            </a:pPr>
            <a:r>
              <a:t>2</a:t>
            </a:r>
          </a:p>
        </p:txBody>
      </p:sp>
      <p:sp>
        <p:nvSpPr>
          <p:cNvPr id="9" name="TextBox 8"/>
          <p:cNvSpPr txBox="1"/>
          <p:nvPr/>
        </p:nvSpPr>
        <p:spPr>
          <a:xfrm>
            <a:off x="3337560" y="2057400"/>
            <a:ext cx="2560320" cy="457200"/>
          </a:xfrm>
          <a:prstGeom prst="rect">
            <a:avLst/>
          </a:prstGeom>
          <a:noFill/>
        </p:spPr>
        <p:txBody>
          <a:bodyPr wrap="square">
            <a:spAutoFit/>
          </a:bodyPr>
          <a:lstStyle/>
          <a:p>
            <a:pPr>
              <a:defRPr sz="1800" b="1">
                <a:solidFill>
                  <a:srgbClr val="0F172A"/>
                </a:solidFill>
              </a:defRPr>
            </a:pPr>
            <a:r>
              <a:t>Learn</a:t>
            </a:r>
          </a:p>
        </p:txBody>
      </p:sp>
      <p:sp>
        <p:nvSpPr>
          <p:cNvPr id="10" name="TextBox 9"/>
          <p:cNvSpPr txBox="1"/>
          <p:nvPr/>
        </p:nvSpPr>
        <p:spPr>
          <a:xfrm>
            <a:off x="3337560" y="2560320"/>
            <a:ext cx="2560320" cy="1371600"/>
          </a:xfrm>
          <a:prstGeom prst="rect">
            <a:avLst/>
          </a:prstGeom>
          <a:noFill/>
        </p:spPr>
        <p:txBody>
          <a:bodyPr wrap="square">
            <a:spAutoFit/>
          </a:bodyPr>
          <a:lstStyle/>
          <a:p>
            <a:pPr>
              <a:lnSpc>
                <a:spcPct val="130000"/>
              </a:lnSpc>
              <a:defRPr sz="1200">
                <a:solidFill>
                  <a:srgbClr val="475569"/>
                </a:solidFill>
              </a:defRPr>
            </a:pPr>
            <a:r>
              <a:t>20 min/day in the 80% win-rate sweet spot</a:t>
            </a:r>
          </a:p>
        </p:txBody>
      </p:sp>
      <p:sp>
        <p:nvSpPr>
          <p:cNvPr id="11" name="Rectangle 10"/>
          <p:cNvSpPr/>
          <p:nvPr/>
        </p:nvSpPr>
        <p:spPr>
          <a:xfrm>
            <a:off x="6263640" y="1280160"/>
            <a:ext cx="548640" cy="548640"/>
          </a:xfrm>
          <a:prstGeom prst="rect">
            <a:avLst/>
          </a:prstGeom>
          <a:solidFill>
            <a:srgbClr val="F96067"/>
          </a:solidFill>
          <a:ln>
            <a:solidFill>
              <a:srgbClr val="F9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280160"/>
            <a:ext cx="548640" cy="548640"/>
          </a:xfrm>
          <a:prstGeom prst="rect">
            <a:avLst/>
          </a:prstGeom>
          <a:noFill/>
        </p:spPr>
        <p:txBody>
          <a:bodyPr wrap="none" anchor="ctr">
            <a:spAutoFit/>
          </a:bodyPr>
          <a:lstStyle/>
          <a:p>
            <a:pPr algn="ctr">
              <a:defRPr sz="2400" b="1">
                <a:solidFill>
                  <a:srgbClr val="F8F9FA"/>
                </a:solidFill>
              </a:defRPr>
            </a:pPr>
            <a:r>
              <a:t>3</a:t>
            </a:r>
          </a:p>
        </p:txBody>
      </p:sp>
      <p:sp>
        <p:nvSpPr>
          <p:cNvPr id="13" name="TextBox 12"/>
          <p:cNvSpPr txBox="1"/>
          <p:nvPr/>
        </p:nvSpPr>
        <p:spPr>
          <a:xfrm>
            <a:off x="6217920" y="2057400"/>
            <a:ext cx="2560320" cy="457200"/>
          </a:xfrm>
          <a:prstGeom prst="rect">
            <a:avLst/>
          </a:prstGeom>
          <a:noFill/>
        </p:spPr>
        <p:txBody>
          <a:bodyPr wrap="square">
            <a:spAutoFit/>
          </a:bodyPr>
          <a:lstStyle/>
          <a:p>
            <a:pPr>
              <a:defRPr sz="1800" b="1">
                <a:solidFill>
                  <a:srgbClr val="0F172A"/>
                </a:solidFill>
              </a:defRPr>
            </a:pPr>
            <a:r>
              <a:t>Master</a:t>
            </a:r>
          </a:p>
        </p:txBody>
      </p:sp>
      <p:sp>
        <p:nvSpPr>
          <p:cNvPr id="14" name="TextBox 13"/>
          <p:cNvSpPr txBox="1"/>
          <p:nvPr/>
        </p:nvSpPr>
        <p:spPr>
          <a:xfrm>
            <a:off x="6217920" y="2560320"/>
            <a:ext cx="2560320" cy="1371600"/>
          </a:xfrm>
          <a:prstGeom prst="rect">
            <a:avLst/>
          </a:prstGeom>
          <a:noFill/>
        </p:spPr>
        <p:txBody>
          <a:bodyPr wrap="square">
            <a:spAutoFit/>
          </a:bodyPr>
          <a:lstStyle/>
          <a:p>
            <a:pPr>
              <a:lnSpc>
                <a:spcPct val="130000"/>
              </a:lnSpc>
              <a:defRPr sz="1200">
                <a:solidFill>
                  <a:srgbClr val="475569"/>
                </a:solidFill>
              </a:defRPr>
            </a:pPr>
            <a:r>
              <a:t>Skills lock after proven mastery</a:t>
            </a:r>
          </a:p>
        </p:txBody>
      </p:sp>
      <p:sp>
        <p:nvSpPr>
          <p:cNvPr id="15" name="TextBox 14"/>
          <p:cNvSpPr txBox="1"/>
          <p:nvPr/>
        </p:nvSpPr>
        <p:spPr>
          <a:xfrm>
            <a:off x="457200" y="4572000"/>
            <a:ext cx="8229600" cy="1645920"/>
          </a:xfrm>
          <a:prstGeom prst="rect">
            <a:avLst/>
          </a:prstGeom>
          <a:noFill/>
        </p:spPr>
        <p:txBody>
          <a:bodyPr wrap="square">
            <a:spAutoFit/>
          </a:bodyPr>
          <a:lstStyle/>
          <a:p>
            <a:pPr>
              <a:spcAft>
                <a:spcPts val="800"/>
              </a:spcAft>
              <a:defRPr sz="1300">
                <a:solidFill>
                  <a:srgbClr val="0F172A"/>
                </a:solidFill>
              </a:defRPr>
            </a:pPr>
            <a:r>
              <a:t>Scope: Maths, reading, writing, spelling, grammar. Prep–Year 6. ACARA-aligned.</a:t>
            </a:r>
          </a:p>
          <a:p>
            <a:pPr>
              <a:defRPr sz="1300" b="1">
                <a:solidFill>
                  <a:srgbClr val="0F172A"/>
                </a:solidFill>
              </a:defRPr>
            </a:pPr>
            <a:r>
              <a:t>Pricing: A$39/month single child · A$59/month family (up to 4 children)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F172A"/>
                </a:solidFill>
              </a:defRPr>
            </a:pPr>
            <a:r>
              <a:t>The parent is the guide. We give them the map.</a:t>
            </a:r>
          </a:p>
        </p:txBody>
      </p:sp>
      <p:sp>
        <p:nvSpPr>
          <p:cNvPr id="3" name="TextBox 2"/>
          <p:cNvSpPr txBox="1"/>
          <p:nvPr/>
        </p:nvSpPr>
        <p:spPr>
          <a:xfrm>
            <a:off x="457200" y="1097280"/>
            <a:ext cx="4389120" cy="5029200"/>
          </a:xfrm>
          <a:prstGeom prst="rect">
            <a:avLst/>
          </a:prstGeom>
          <a:noFill/>
        </p:spPr>
        <p:txBody>
          <a:bodyPr wrap="square">
            <a:spAutoFit/>
          </a:bodyPr>
          <a:lstStyle/>
          <a:p>
            <a:pPr>
              <a:spcAft>
                <a:spcPts val="400"/>
              </a:spcAft>
              <a:defRPr sz="1400" b="1">
                <a:solidFill>
                  <a:srgbClr val="0F172A"/>
                </a:solidFill>
              </a:defRPr>
            </a:pPr>
            <a:r>
              <a:t>Daily briefing</a:t>
            </a:r>
          </a:p>
          <a:p>
            <a:pPr>
              <a:spcBef>
                <a:spcPts val="0"/>
              </a:spcBef>
              <a:spcAft>
                <a:spcPts val="1200"/>
              </a:spcAft>
              <a:defRPr sz="1200">
                <a:solidFill>
                  <a:srgbClr val="475569"/>
                </a:solidFill>
              </a:defRPr>
            </a:pPr>
            <a:r>
              <a:t>Before each session: what to watch for</a:t>
            </a:r>
          </a:p>
          <a:p>
            <a:pPr>
              <a:spcAft>
                <a:spcPts val="400"/>
              </a:spcAft>
              <a:defRPr sz="1400" b="1">
                <a:solidFill>
                  <a:srgbClr val="0F172A"/>
                </a:solidFill>
              </a:defRPr>
            </a:pPr>
            <a:r>
              <a:t>Real-time nudges</a:t>
            </a:r>
          </a:p>
          <a:p>
            <a:pPr>
              <a:spcBef>
                <a:spcPts val="0"/>
              </a:spcBef>
              <a:spcAft>
                <a:spcPts val="1200"/>
              </a:spcAft>
              <a:defRPr sz="1200">
                <a:solidFill>
                  <a:srgbClr val="475569"/>
                </a:solidFill>
              </a:defRPr>
            </a:pPr>
            <a:r>
              <a:t>Exact wording you can use when stuck</a:t>
            </a:r>
          </a:p>
          <a:p>
            <a:pPr>
              <a:spcAft>
                <a:spcPts val="400"/>
              </a:spcAft>
              <a:defRPr sz="1400" b="1">
                <a:solidFill>
                  <a:srgbClr val="0F172A"/>
                </a:solidFill>
              </a:defRPr>
            </a:pPr>
            <a:r>
              <a:t>Weekly reports</a:t>
            </a:r>
          </a:p>
          <a:p>
            <a:pPr>
              <a:spcBef>
                <a:spcPts val="0"/>
              </a:spcBef>
              <a:spcAft>
                <a:spcPts val="1200"/>
              </a:spcAft>
              <a:defRPr sz="1200">
                <a:solidFill>
                  <a:srgbClr val="475569"/>
                </a:solidFill>
              </a:defRPr>
            </a:pPr>
            <a:r>
              <a:t>Share directly with classroom teacher</a:t>
            </a:r>
          </a:p>
        </p:txBody>
      </p:sp>
      <p:sp>
        <p:nvSpPr>
          <p:cNvPr id="4" name="Rectangle 3"/>
          <p:cNvSpPr/>
          <p:nvPr/>
        </p:nvSpPr>
        <p:spPr>
          <a:xfrm>
            <a:off x="4846320" y="1097280"/>
            <a:ext cx="109728" cy="3200400"/>
          </a:xfrm>
          <a:prstGeom prst="rect">
            <a:avLst/>
          </a:prstGeom>
          <a:solidFill>
            <a:srgbClr val="F96067"/>
          </a:solidFill>
          <a:ln>
            <a:solidFill>
              <a:srgbClr val="F9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0" y="1097280"/>
            <a:ext cx="3657600" cy="3200400"/>
          </a:xfrm>
          <a:prstGeom prst="rect">
            <a:avLst/>
          </a:prstGeom>
          <a:noFill/>
        </p:spPr>
        <p:txBody>
          <a:bodyPr wrap="square">
            <a:spAutoFit/>
          </a:bodyPr>
          <a:lstStyle/>
          <a:p>
            <a:pPr>
              <a:lnSpc>
                <a:spcPct val="140000"/>
              </a:lnSpc>
              <a:spcAft>
                <a:spcPts val="1200"/>
              </a:spcAft>
              <a:defRPr sz="2400" b="1">
                <a:solidFill>
                  <a:srgbClr val="F96067"/>
                </a:solidFill>
              </a:defRPr>
            </a:pPr>
            <a:r>
              <a:t>No teaching degree required.</a:t>
            </a:r>
          </a:p>
          <a:p>
            <a:pPr>
              <a:lnSpc>
                <a:spcPct val="130000"/>
              </a:lnSpc>
              <a:defRPr sz="1200">
                <a:solidFill>
                  <a:srgbClr val="475569"/>
                </a:solidFill>
              </a:defRPr>
            </a:pPr>
            <a:r>
              <a:t>Every incumbent in Australia treats parents as data recipients. We treat them as the guide — which is where the research evidence is strongest.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F172A"/>
                </a:solidFill>
              </a:defRPr>
            </a:pPr>
            <a:r>
              <a:t>This isn't experimental. It's proven. Four times over.</a:t>
            </a:r>
          </a:p>
        </p:txBody>
      </p:sp>
      <p:pic>
        <p:nvPicPr>
          <p:cNvPr id="3" name="Picture 2" descr="image.png"/>
          <p:cNvPicPr>
            <a:picLocks noChangeAspect="1"/>
          </p:cNvPicPr>
          <p:nvPr/>
        </p:nvPicPr>
        <p:blipFill>
          <a:blip r:embed="rId2"/>
          <a:stretch>
            <a:fillRect/>
          </a:stretch>
        </p:blipFill>
        <p:spPr>
          <a:xfrm>
            <a:off x="274320" y="1097280"/>
            <a:ext cx="8595360" cy="3657600"/>
          </a:xfrm>
          <a:prstGeom prst="rect">
            <a:avLst/>
          </a:prstGeom>
        </p:spPr>
      </p:pic>
      <p:sp>
        <p:nvSpPr>
          <p:cNvPr id="4" name="TextBox 3"/>
          <p:cNvSpPr txBox="1"/>
          <p:nvPr/>
        </p:nvSpPr>
        <p:spPr>
          <a:xfrm>
            <a:off x="457200" y="4937760"/>
            <a:ext cx="8229600" cy="1645920"/>
          </a:xfrm>
          <a:prstGeom prst="rect">
            <a:avLst/>
          </a:prstGeom>
          <a:noFill/>
        </p:spPr>
        <p:txBody>
          <a:bodyPr wrap="square">
            <a:spAutoFit/>
          </a:bodyPr>
          <a:lstStyle/>
          <a:p>
            <a:pPr>
              <a:spcAft>
                <a:spcPts val="600"/>
              </a:spcAft>
              <a:defRPr sz="1300" b="1">
                <a:solidFill>
                  <a:srgbClr val="0F172A"/>
                </a:solidFill>
              </a:defRPr>
            </a:pPr>
            <a:r>
              <a:t>Upwise is the first Australian operationalisation of forty years of validated learning science.</a:t>
            </a:r>
          </a:p>
          <a:p>
            <a:pPr>
              <a:defRPr sz="1000" i="1">
                <a:solidFill>
                  <a:srgbClr val="78828C"/>
                </a:solidFill>
              </a:defRPr>
            </a:pPr>
            <a:r>
              <a:t>Sources: Bloom 1984 · Kulik &amp; Kulik 1990 · Pane et al. (RAND) 2014 · 2025 AI tutoring meta-analysis (48 studies)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square">
            <a:spAutoFit/>
          </a:bodyPr>
          <a:lstStyle/>
          <a:p>
            <a:pPr>
              <a:defRPr sz="3200" b="1">
                <a:solidFill>
                  <a:srgbClr val="0F172A"/>
                </a:solidFill>
              </a:defRPr>
            </a:pPr>
            <a:r>
              <a:t>The Empty Quadrant</a:t>
            </a:r>
          </a:p>
        </p:txBody>
      </p:sp>
      <p:cxnSp>
        <p:nvCxnSpPr>
          <p:cNvPr id="3" name="Connector 2"/>
          <p:cNvCxnSpPr/>
          <p:nvPr/>
        </p:nvCxnSpPr>
        <p:spPr>
          <a:xfrm>
            <a:off x="1097280" y="2971800.0"/>
            <a:ext cx="6949440" cy="0.0"/>
          </a:xfrm>
          <a:prstGeom prst="line">
            <a:avLst/>
          </a:prstGeom>
          <a:ln w="1905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572000.0" y="1051560"/>
            <a:ext cx="0.0" cy="3840480"/>
          </a:xfrm>
          <a:prstGeom prst="line">
            <a:avLst/>
          </a:prstGeom>
          <a:ln w="19050">
            <a:solidFill>
              <a:srgbClr val="C8C8C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 y="3291840"/>
            <a:ext cx="1371600" cy="228600"/>
          </a:xfrm>
          <a:prstGeom prst="rect">
            <a:avLst/>
          </a:prstGeom>
          <a:noFill/>
        </p:spPr>
        <p:txBody>
          <a:bodyPr wrap="none">
            <a:spAutoFit/>
          </a:bodyPr>
          <a:lstStyle/>
          <a:p>
            <a:pPr algn="ctr">
              <a:defRPr sz="900">
                <a:solidFill>
                  <a:srgbClr val="94A3B8"/>
                </a:solidFill>
              </a:defRPr>
            </a:pPr>
            <a:r>
              <a:t>Breadth-first</a:t>
            </a:r>
          </a:p>
        </p:txBody>
      </p:sp>
      <p:sp>
        <p:nvSpPr>
          <p:cNvPr id="6" name="TextBox 5"/>
          <p:cNvSpPr txBox="1"/>
          <p:nvPr/>
        </p:nvSpPr>
        <p:spPr>
          <a:xfrm>
            <a:off x="6675120" y="3291840"/>
            <a:ext cx="1371600" cy="228600"/>
          </a:xfrm>
          <a:prstGeom prst="rect">
            <a:avLst/>
          </a:prstGeom>
          <a:noFill/>
        </p:spPr>
        <p:txBody>
          <a:bodyPr wrap="none">
            <a:spAutoFit/>
          </a:bodyPr>
          <a:lstStyle/>
          <a:p>
            <a:pPr algn="ctr">
              <a:defRPr sz="900">
                <a:solidFill>
                  <a:srgbClr val="94A3B8"/>
                </a:solidFill>
              </a:defRPr>
            </a:pPr>
            <a:r>
              <a:t>Mastery-based</a:t>
            </a:r>
          </a:p>
        </p:txBody>
      </p:sp>
      <p:sp>
        <p:nvSpPr>
          <p:cNvPr id="7" name="TextBox 6"/>
          <p:cNvSpPr txBox="1"/>
          <p:nvPr/>
        </p:nvSpPr>
        <p:spPr>
          <a:xfrm>
            <a:off x="3657600" y="4617720"/>
            <a:ext cx="1828800" cy="228600"/>
          </a:xfrm>
          <a:prstGeom prst="rect">
            <a:avLst/>
          </a:prstGeom>
          <a:noFill/>
        </p:spPr>
        <p:txBody>
          <a:bodyPr wrap="none">
            <a:spAutoFit/>
          </a:bodyPr>
          <a:lstStyle/>
          <a:p>
            <a:pPr algn="ctr">
              <a:defRPr sz="900">
                <a:solidFill>
                  <a:srgbClr val="94A3B8"/>
                </a:solidFill>
              </a:defRPr>
            </a:pPr>
            <a:r>
              <a:t>Parent-invisible</a:t>
            </a:r>
          </a:p>
        </p:txBody>
      </p:sp>
      <p:sp>
        <p:nvSpPr>
          <p:cNvPr id="8" name="TextBox 7"/>
          <p:cNvSpPr txBox="1"/>
          <p:nvPr/>
        </p:nvSpPr>
        <p:spPr>
          <a:xfrm>
            <a:off x="3657600" y="731520"/>
            <a:ext cx="1828800" cy="228600"/>
          </a:xfrm>
          <a:prstGeom prst="rect">
            <a:avLst/>
          </a:prstGeom>
          <a:noFill/>
        </p:spPr>
        <p:txBody>
          <a:bodyPr wrap="none">
            <a:spAutoFit/>
          </a:bodyPr>
          <a:lstStyle/>
          <a:p>
            <a:pPr algn="ctr">
              <a:defRPr sz="900">
                <a:solidFill>
                  <a:srgbClr val="94A3B8"/>
                </a:solidFill>
              </a:defRPr>
            </a:pPr>
            <a:r>
              <a:t>Parent-as-guide</a:t>
            </a:r>
          </a:p>
        </p:txBody>
      </p:sp>
      <p:sp>
        <p:nvSpPr>
          <p:cNvPr id="9" name="TextBox 8"/>
          <p:cNvSpPr txBox="1"/>
          <p:nvPr/>
        </p:nvSpPr>
        <p:spPr>
          <a:xfrm>
            <a:off x="1463040" y="3703320"/>
            <a:ext cx="2560320" cy="1097280"/>
          </a:xfrm>
          <a:prstGeom prst="rect">
            <a:avLst/>
          </a:prstGeom>
          <a:noFill/>
        </p:spPr>
        <p:txBody>
          <a:bodyPr wrap="square">
            <a:spAutoFit/>
          </a:bodyPr>
          <a:lstStyle/>
          <a:p>
            <a:pPr>
              <a:lnSpc>
                <a:spcPct val="110000"/>
              </a:lnSpc>
              <a:defRPr sz="900">
                <a:solidFill>
                  <a:srgbClr val="475569"/>
                </a:solidFill>
              </a:defRPr>
            </a:pPr>
            <a:r>
              <a:t>Kumon</a:t>
            </a:r>
            <a:br/>
            <a:r>
              <a:t>Cluey</a:t>
            </a:r>
            <a:br/>
            <a:r>
              <a:t>Matrix</a:t>
            </a:r>
            <a:br/>
            <a:r>
              <a:t>Kip McGrath</a:t>
            </a:r>
          </a:p>
        </p:txBody>
      </p:sp>
      <p:sp>
        <p:nvSpPr>
          <p:cNvPr id="10" name="TextBox 9"/>
          <p:cNvSpPr txBox="1"/>
          <p:nvPr/>
        </p:nvSpPr>
        <p:spPr>
          <a:xfrm>
            <a:off x="5029200" y="3703320"/>
            <a:ext cx="2560320" cy="1097280"/>
          </a:xfrm>
          <a:prstGeom prst="rect">
            <a:avLst/>
          </a:prstGeom>
          <a:noFill/>
        </p:spPr>
        <p:txBody>
          <a:bodyPr wrap="square">
            <a:spAutoFit/>
          </a:bodyPr>
          <a:lstStyle/>
          <a:p>
            <a:pPr>
              <a:lnSpc>
                <a:spcPct val="110000"/>
              </a:lnSpc>
              <a:defRPr sz="900">
                <a:solidFill>
                  <a:srgbClr val="475569"/>
                </a:solidFill>
              </a:defRPr>
            </a:pPr>
            <a:r>
              <a:t>Mathspace</a:t>
            </a:r>
            <a:br/>
            <a:r>
              <a:t>Reading Eggs</a:t>
            </a:r>
            <a:br/>
            <a:r>
              <a:t>Mathletics</a:t>
            </a:r>
            <a:br/>
            <a:r>
              <a:t>Prodigy</a:t>
            </a:r>
          </a:p>
        </p:txBody>
      </p:sp>
      <p:sp>
        <p:nvSpPr>
          <p:cNvPr id="11" name="TextBox 10"/>
          <p:cNvSpPr txBox="1"/>
          <p:nvPr/>
        </p:nvSpPr>
        <p:spPr>
          <a:xfrm>
            <a:off x="1463040" y="1508760"/>
            <a:ext cx="2560320" cy="731520"/>
          </a:xfrm>
          <a:prstGeom prst="rect">
            <a:avLst/>
          </a:prstGeom>
          <a:noFill/>
        </p:spPr>
        <p:txBody>
          <a:bodyPr wrap="none">
            <a:spAutoFit/>
          </a:bodyPr>
          <a:lstStyle/>
          <a:p>
            <a:pPr>
              <a:defRPr sz="900" i="1">
                <a:solidFill>
                  <a:srgbClr val="C8C8C8"/>
                </a:solidFill>
              </a:defRPr>
            </a:pPr>
            <a:r>
              <a:t>(empty)</a:t>
            </a:r>
          </a:p>
        </p:txBody>
      </p:sp>
      <p:sp>
        <p:nvSpPr>
          <p:cNvPr id="12" name="Rectangle 11"/>
          <p:cNvSpPr/>
          <p:nvPr/>
        </p:nvSpPr>
        <p:spPr>
          <a:xfrm>
            <a:off x="4846320" y="1325880"/>
            <a:ext cx="2194560" cy="914400"/>
          </a:xfrm>
          <a:prstGeom prst="rect">
            <a:avLst/>
          </a:prstGeom>
          <a:solidFill>
            <a:srgbClr val="F96067"/>
          </a:solidFill>
          <a:ln w="25400">
            <a:solidFill>
              <a:srgbClr val="F9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60" y="1417320"/>
            <a:ext cx="2011680" cy="731520"/>
          </a:xfrm>
          <a:prstGeom prst="rect">
            <a:avLst/>
          </a:prstGeom>
          <a:noFill/>
        </p:spPr>
        <p:txBody>
          <a:bodyPr wrap="none" anchor="ctr">
            <a:spAutoFit/>
          </a:bodyPr>
          <a:lstStyle/>
          <a:p>
            <a:pPr algn="ctr">
              <a:defRPr sz="1400" b="1">
                <a:solidFill>
                  <a:srgbClr val="F96067"/>
                </a:solidFill>
              </a:defRPr>
            </a:pPr>
            <a:r>
              <a:t>UPWISE</a:t>
            </a:r>
          </a:p>
        </p:txBody>
      </p:sp>
      <p:sp>
        <p:nvSpPr>
          <p:cNvPr id="14" name="TextBox 13"/>
          <p:cNvSpPr txBox="1"/>
          <p:nvPr/>
        </p:nvSpPr>
        <p:spPr>
          <a:xfrm>
            <a:off x="457200" y="5166360"/>
            <a:ext cx="8229600" cy="1371600"/>
          </a:xfrm>
          <a:prstGeom prst="rect">
            <a:avLst/>
          </a:prstGeom>
          <a:noFill/>
        </p:spPr>
        <p:txBody>
          <a:bodyPr wrap="square">
            <a:spAutoFit/>
          </a:bodyPr>
          <a:lstStyle/>
          <a:p>
            <a:pPr>
              <a:lnSpc>
                <a:spcPct val="120000"/>
              </a:lnSpc>
              <a:defRPr sz="1100" i="1">
                <a:solidFill>
                  <a:srgbClr val="475569"/>
                </a:solidFill>
              </a:defRPr>
            </a:pPr>
            <a:r>
              <a:t>Cluey (ASX:CLU): FY25 net loss A$5.5M — 1:1 human labour is broken. No Australian incumbent owns the top-right quadrant.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F172A"/>
                </a:solidFill>
              </a:defRPr>
            </a:pPr>
            <a:r>
              <a:t>17,100 active families = A$10M ARR.</a:t>
            </a:r>
          </a:p>
        </p:txBody>
      </p:sp>
      <p:sp>
        <p:nvSpPr>
          <p:cNvPr id="3" name="TextBox 2"/>
          <p:cNvSpPr txBox="1"/>
          <p:nvPr/>
        </p:nvSpPr>
        <p:spPr>
          <a:xfrm>
            <a:off x="457200" y="1097280"/>
            <a:ext cx="3657600" cy="1828800"/>
          </a:xfrm>
          <a:prstGeom prst="rect">
            <a:avLst/>
          </a:prstGeom>
          <a:noFill/>
        </p:spPr>
        <p:txBody>
          <a:bodyPr wrap="none">
            <a:spAutoFit/>
          </a:bodyPr>
          <a:lstStyle/>
          <a:p>
            <a:pPr>
              <a:defRPr sz="6400" b="1">
                <a:solidFill>
                  <a:srgbClr val="F96067"/>
                </a:solidFill>
              </a:defRPr>
            </a:pPr>
            <a:r>
              <a:t>1.1%</a:t>
            </a:r>
          </a:p>
        </p:txBody>
      </p:sp>
      <p:sp>
        <p:nvSpPr>
          <p:cNvPr id="4" name="TextBox 3"/>
          <p:cNvSpPr txBox="1"/>
          <p:nvPr/>
        </p:nvSpPr>
        <p:spPr>
          <a:xfrm>
            <a:off x="457200" y="2834640"/>
            <a:ext cx="3657600" cy="731520"/>
          </a:xfrm>
          <a:prstGeom prst="rect">
            <a:avLst/>
          </a:prstGeom>
          <a:noFill/>
        </p:spPr>
        <p:txBody>
          <a:bodyPr wrap="square">
            <a:spAutoFit/>
          </a:bodyPr>
          <a:lstStyle/>
          <a:p>
            <a:pPr>
              <a:lnSpc>
                <a:spcPct val="120000"/>
              </a:lnSpc>
              <a:defRPr sz="1300">
                <a:solidFill>
                  <a:srgbClr val="475569"/>
                </a:solidFill>
              </a:defRPr>
            </a:pPr>
            <a:r>
              <a:t>of Australia's 1.52M primary-aged households</a:t>
            </a:r>
          </a:p>
        </p:txBody>
      </p:sp>
      <p:sp>
        <p:nvSpPr>
          <p:cNvPr id="5" name="TextBox 4"/>
          <p:cNvSpPr txBox="1"/>
          <p:nvPr/>
        </p:nvSpPr>
        <p:spPr>
          <a:xfrm>
            <a:off x="4572000" y="1097280"/>
            <a:ext cx="4114800" cy="3657600"/>
          </a:xfrm>
          <a:prstGeom prst="rect">
            <a:avLst/>
          </a:prstGeom>
          <a:noFill/>
        </p:spPr>
        <p:txBody>
          <a:bodyPr wrap="square">
            <a:spAutoFit/>
          </a:bodyPr>
          <a:lstStyle/>
          <a:p>
            <a:pPr>
              <a:spcAft>
                <a:spcPts val="600"/>
              </a:spcAft>
              <a:defRPr sz="1400" b="1">
                <a:solidFill>
                  <a:srgbClr val="0F172A"/>
                </a:solidFill>
              </a:defRPr>
            </a:pPr>
            <a:r>
              <a:t>Unit economics</a:t>
            </a:r>
          </a:p>
          <a:p>
            <a:pPr>
              <a:spcBef>
                <a:spcPts val="400"/>
              </a:spcBef>
              <a:spcAft>
                <a:spcPts val="200"/>
              </a:spcAft>
              <a:defRPr sz="1100" b="1">
                <a:solidFill>
                  <a:srgbClr val="0F172A"/>
                </a:solidFill>
              </a:defRPr>
            </a:pPr>
            <a:r>
              <a:t>Software gross margins:</a:t>
            </a:r>
          </a:p>
          <a:p>
            <a:pPr>
              <a:spcBef>
                <a:spcPts val="0"/>
              </a:spcBef>
              <a:spcAft>
                <a:spcPts val="600"/>
              </a:spcAft>
              <a:defRPr sz="1000">
                <a:solidFill>
                  <a:srgbClr val="475569"/>
                </a:solidFill>
              </a:defRPr>
            </a:pPr>
            <a:r>
              <a:t>75–80%</a:t>
            </a:r>
          </a:p>
          <a:p>
            <a:pPr>
              <a:spcBef>
                <a:spcPts val="400"/>
              </a:spcBef>
              <a:spcAft>
                <a:spcPts val="200"/>
              </a:spcAft>
              <a:defRPr sz="1100" b="1">
                <a:solidFill>
                  <a:srgbClr val="0F172A"/>
                </a:solidFill>
              </a:defRPr>
            </a:pPr>
            <a:r>
              <a:t>LLM cost:</a:t>
            </a:r>
          </a:p>
          <a:p>
            <a:pPr>
              <a:spcBef>
                <a:spcPts val="0"/>
              </a:spcBef>
              <a:spcAft>
                <a:spcPts val="600"/>
              </a:spcAft>
              <a:defRPr sz="1000">
                <a:solidFill>
                  <a:srgbClr val="475569"/>
                </a:solidFill>
              </a:defRPr>
            </a:pPr>
            <a:r>
              <a:t>continues to fall</a:t>
            </a:r>
          </a:p>
          <a:p>
            <a:pPr>
              <a:spcBef>
                <a:spcPts val="400"/>
              </a:spcBef>
              <a:spcAft>
                <a:spcPts val="200"/>
              </a:spcAft>
              <a:defRPr sz="1100" b="1">
                <a:solidFill>
                  <a:srgbClr val="0F172A"/>
                </a:solidFill>
              </a:defRPr>
            </a:pPr>
            <a:r>
              <a:t>CAC payback:</a:t>
            </a:r>
          </a:p>
          <a:p>
            <a:pPr>
              <a:spcBef>
                <a:spcPts val="0"/>
              </a:spcBef>
              <a:spcAft>
                <a:spcPts val="600"/>
              </a:spcAft>
              <a:defRPr sz="1000">
                <a:solidFill>
                  <a:srgbClr val="475569"/>
                </a:solidFill>
              </a:defRPr>
            </a:pPr>
            <a:r>
              <a:t>&lt;12 months target</a:t>
            </a:r>
          </a:p>
          <a:p>
            <a:pPr>
              <a:spcBef>
                <a:spcPts val="400"/>
              </a:spcBef>
              <a:spcAft>
                <a:spcPts val="200"/>
              </a:spcAft>
              <a:defRPr sz="1100" b="1">
                <a:solidFill>
                  <a:srgbClr val="0F172A"/>
                </a:solidFill>
              </a:defRPr>
            </a:pPr>
            <a:r>
              <a:t>Comparables:</a:t>
            </a:r>
          </a:p>
          <a:p>
            <a:pPr>
              <a:spcBef>
                <a:spcPts val="0"/>
              </a:spcBef>
              <a:spcAft>
                <a:spcPts val="600"/>
              </a:spcAft>
              <a:defRPr sz="1000">
                <a:solidFill>
                  <a:srgbClr val="475569"/>
                </a:solidFill>
              </a:defRPr>
            </a:pPr>
            <a:r>
              <a:t>3P Learning A$110M on software. Mathspace bootstrapped profitable.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F172A"/>
                </a:solidFill>
              </a:defRPr>
            </a:pPr>
            <a:r>
              <a:t>Safe AI. Australian-built. Parent-visible.</a:t>
            </a:r>
          </a:p>
        </p:txBody>
      </p:sp>
      <p:sp>
        <p:nvSpPr>
          <p:cNvPr id="3" name="Rectangle 2"/>
          <p:cNvSpPr/>
          <p:nvPr/>
        </p:nvSpPr>
        <p:spPr>
          <a:xfrm>
            <a:off x="457200" y="1143000"/>
            <a:ext cx="1554480" cy="29260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1371600"/>
            <a:ext cx="822960" cy="822960"/>
          </a:xfrm>
          <a:prstGeom prst="rect">
            <a:avLst/>
          </a:prstGeom>
          <a:solidFill>
            <a:srgbClr val="F96067"/>
          </a:solidFill>
          <a:ln>
            <a:solidFill>
              <a:srgbClr val="F9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2331720"/>
            <a:ext cx="1280160" cy="731520"/>
          </a:xfrm>
          <a:prstGeom prst="rect">
            <a:avLst/>
          </a:prstGeom>
          <a:noFill/>
        </p:spPr>
        <p:txBody>
          <a:bodyPr wrap="square">
            <a:spAutoFit/>
          </a:bodyPr>
          <a:lstStyle/>
          <a:p>
            <a:pPr>
              <a:defRPr sz="1100" b="1">
                <a:solidFill>
                  <a:srgbClr val="0F172A"/>
                </a:solidFill>
              </a:defRPr>
            </a:pPr>
            <a:r>
              <a:t>Closed system</a:t>
            </a:r>
          </a:p>
        </p:txBody>
      </p:sp>
      <p:sp>
        <p:nvSpPr>
          <p:cNvPr id="6" name="TextBox 5"/>
          <p:cNvSpPr txBox="1"/>
          <p:nvPr/>
        </p:nvSpPr>
        <p:spPr>
          <a:xfrm>
            <a:off x="594360" y="3108960"/>
            <a:ext cx="1280160" cy="822960"/>
          </a:xfrm>
          <a:prstGeom prst="rect">
            <a:avLst/>
          </a:prstGeom>
          <a:noFill/>
        </p:spPr>
        <p:txBody>
          <a:bodyPr wrap="square">
            <a:spAutoFit/>
          </a:bodyPr>
          <a:lstStyle/>
          <a:p>
            <a:pPr>
              <a:lnSpc>
                <a:spcPct val="120000"/>
              </a:lnSpc>
              <a:defRPr sz="900">
                <a:solidFill>
                  <a:srgbClr val="475569"/>
                </a:solidFill>
              </a:defRPr>
            </a:pPr>
            <a:r>
              <a:t>No open chat, no ads</a:t>
            </a:r>
          </a:p>
        </p:txBody>
      </p:sp>
      <p:sp>
        <p:nvSpPr>
          <p:cNvPr id="7" name="Rectangle 6"/>
          <p:cNvSpPr/>
          <p:nvPr/>
        </p:nvSpPr>
        <p:spPr>
          <a:xfrm>
            <a:off x="2148840" y="1143000"/>
            <a:ext cx="1554480" cy="29260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468880" y="1371600"/>
            <a:ext cx="822960" cy="822960"/>
          </a:xfrm>
          <a:prstGeom prst="rect">
            <a:avLst/>
          </a:prstGeom>
          <a:solidFill>
            <a:srgbClr val="F96067"/>
          </a:solidFill>
          <a:ln>
            <a:solidFill>
              <a:srgbClr val="F9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0" y="2331720"/>
            <a:ext cx="1280160" cy="731520"/>
          </a:xfrm>
          <a:prstGeom prst="rect">
            <a:avLst/>
          </a:prstGeom>
          <a:noFill/>
        </p:spPr>
        <p:txBody>
          <a:bodyPr wrap="square">
            <a:spAutoFit/>
          </a:bodyPr>
          <a:lstStyle/>
          <a:p>
            <a:pPr>
              <a:defRPr sz="1100" b="1">
                <a:solidFill>
                  <a:srgbClr val="0F172A"/>
                </a:solidFill>
              </a:defRPr>
            </a:pPr>
            <a:r>
              <a:t>20-minute sessions</a:t>
            </a:r>
          </a:p>
        </p:txBody>
      </p:sp>
      <p:sp>
        <p:nvSpPr>
          <p:cNvPr id="10" name="TextBox 9"/>
          <p:cNvSpPr txBox="1"/>
          <p:nvPr/>
        </p:nvSpPr>
        <p:spPr>
          <a:xfrm>
            <a:off x="2286000" y="3108960"/>
            <a:ext cx="1280160" cy="822960"/>
          </a:xfrm>
          <a:prstGeom prst="rect">
            <a:avLst/>
          </a:prstGeom>
          <a:noFill/>
        </p:spPr>
        <p:txBody>
          <a:bodyPr wrap="square">
            <a:spAutoFit/>
          </a:bodyPr>
          <a:lstStyle/>
          <a:p>
            <a:pPr>
              <a:lnSpc>
                <a:spcPct val="120000"/>
              </a:lnSpc>
              <a:defRPr sz="900">
                <a:solidFill>
                  <a:srgbClr val="475569"/>
                </a:solidFill>
              </a:defRPr>
            </a:pPr>
            <a:r>
              <a:t>Less screen than games</a:t>
            </a:r>
          </a:p>
        </p:txBody>
      </p:sp>
      <p:sp>
        <p:nvSpPr>
          <p:cNvPr id="11" name="Rectangle 10"/>
          <p:cNvSpPr/>
          <p:nvPr/>
        </p:nvSpPr>
        <p:spPr>
          <a:xfrm>
            <a:off x="3840480" y="1143000"/>
            <a:ext cx="1554480" cy="29260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60520" y="1371600"/>
            <a:ext cx="822960" cy="822960"/>
          </a:xfrm>
          <a:prstGeom prst="rect">
            <a:avLst/>
          </a:prstGeom>
          <a:solidFill>
            <a:srgbClr val="F96067"/>
          </a:solidFill>
          <a:ln>
            <a:solidFill>
              <a:srgbClr val="F9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77640" y="2331720"/>
            <a:ext cx="1280160" cy="731520"/>
          </a:xfrm>
          <a:prstGeom prst="rect">
            <a:avLst/>
          </a:prstGeom>
          <a:noFill/>
        </p:spPr>
        <p:txBody>
          <a:bodyPr wrap="square">
            <a:spAutoFit/>
          </a:bodyPr>
          <a:lstStyle/>
          <a:p>
            <a:pPr>
              <a:defRPr sz="1100" b="1">
                <a:solidFill>
                  <a:srgbClr val="0F172A"/>
                </a:solidFill>
              </a:defRPr>
            </a:pPr>
            <a:r>
              <a:t>Parent-visible</a:t>
            </a:r>
          </a:p>
        </p:txBody>
      </p:sp>
      <p:sp>
        <p:nvSpPr>
          <p:cNvPr id="14" name="TextBox 13"/>
          <p:cNvSpPr txBox="1"/>
          <p:nvPr/>
        </p:nvSpPr>
        <p:spPr>
          <a:xfrm>
            <a:off x="3977640" y="3108960"/>
            <a:ext cx="1280160" cy="822960"/>
          </a:xfrm>
          <a:prstGeom prst="rect">
            <a:avLst/>
          </a:prstGeom>
          <a:noFill/>
        </p:spPr>
        <p:txBody>
          <a:bodyPr wrap="square">
            <a:spAutoFit/>
          </a:bodyPr>
          <a:lstStyle/>
          <a:p>
            <a:pPr>
              <a:lnSpc>
                <a:spcPct val="120000"/>
              </a:lnSpc>
              <a:defRPr sz="900">
                <a:solidFill>
                  <a:srgbClr val="475569"/>
                </a:solidFill>
              </a:defRPr>
            </a:pPr>
            <a:r>
              <a:t>Mandatory, not optional</a:t>
            </a:r>
          </a:p>
        </p:txBody>
      </p:sp>
      <p:sp>
        <p:nvSpPr>
          <p:cNvPr id="15" name="Rectangle 14"/>
          <p:cNvSpPr/>
          <p:nvPr/>
        </p:nvSpPr>
        <p:spPr>
          <a:xfrm>
            <a:off x="5532120" y="1143000"/>
            <a:ext cx="1554480" cy="29260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52160" y="1371600"/>
            <a:ext cx="822960" cy="822960"/>
          </a:xfrm>
          <a:prstGeom prst="rect">
            <a:avLst/>
          </a:prstGeom>
          <a:solidFill>
            <a:srgbClr val="F96067"/>
          </a:solidFill>
          <a:ln>
            <a:solidFill>
              <a:srgbClr val="F9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0" y="2331720"/>
            <a:ext cx="1280160" cy="731520"/>
          </a:xfrm>
          <a:prstGeom prst="rect">
            <a:avLst/>
          </a:prstGeom>
          <a:noFill/>
        </p:spPr>
        <p:txBody>
          <a:bodyPr wrap="square">
            <a:spAutoFit/>
          </a:bodyPr>
          <a:lstStyle/>
          <a:p>
            <a:pPr>
              <a:defRPr sz="1100" b="1">
                <a:solidFill>
                  <a:srgbClr val="0F172A"/>
                </a:solidFill>
              </a:defRPr>
            </a:pPr>
            <a:r>
              <a:t>Australian-operated</a:t>
            </a:r>
          </a:p>
        </p:txBody>
      </p:sp>
      <p:sp>
        <p:nvSpPr>
          <p:cNvPr id="18" name="TextBox 17"/>
          <p:cNvSpPr txBox="1"/>
          <p:nvPr/>
        </p:nvSpPr>
        <p:spPr>
          <a:xfrm>
            <a:off x="5669280" y="3108960"/>
            <a:ext cx="1280160" cy="822960"/>
          </a:xfrm>
          <a:prstGeom prst="rect">
            <a:avLst/>
          </a:prstGeom>
          <a:noFill/>
        </p:spPr>
        <p:txBody>
          <a:bodyPr wrap="square">
            <a:spAutoFit/>
          </a:bodyPr>
          <a:lstStyle/>
          <a:p>
            <a:pPr>
              <a:lnSpc>
                <a:spcPct val="120000"/>
              </a:lnSpc>
              <a:defRPr sz="900">
                <a:solidFill>
                  <a:srgbClr val="475569"/>
                </a:solidFill>
              </a:defRPr>
            </a:pPr>
            <a:r>
              <a:t>Data stays in AU</a:t>
            </a:r>
          </a:p>
        </p:txBody>
      </p:sp>
      <p:sp>
        <p:nvSpPr>
          <p:cNvPr id="19" name="Rectangle 18"/>
          <p:cNvSpPr/>
          <p:nvPr/>
        </p:nvSpPr>
        <p:spPr>
          <a:xfrm>
            <a:off x="7223760" y="1143000"/>
            <a:ext cx="1554480" cy="29260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543800" y="1371600"/>
            <a:ext cx="822960" cy="822960"/>
          </a:xfrm>
          <a:prstGeom prst="rect">
            <a:avLst/>
          </a:prstGeom>
          <a:solidFill>
            <a:srgbClr val="F96067"/>
          </a:solidFill>
          <a:ln>
            <a:solidFill>
              <a:srgbClr val="F9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0920" y="2331720"/>
            <a:ext cx="1280160" cy="731520"/>
          </a:xfrm>
          <a:prstGeom prst="rect">
            <a:avLst/>
          </a:prstGeom>
          <a:noFill/>
        </p:spPr>
        <p:txBody>
          <a:bodyPr wrap="square">
            <a:spAutoFit/>
          </a:bodyPr>
          <a:lstStyle/>
          <a:p>
            <a:pPr>
              <a:defRPr sz="1100" b="1">
                <a:solidFill>
                  <a:srgbClr val="0F172A"/>
                </a:solidFill>
              </a:defRPr>
            </a:pPr>
            <a:r>
              <a:t>eSafety aligned</a:t>
            </a:r>
          </a:p>
        </p:txBody>
      </p:sp>
      <p:sp>
        <p:nvSpPr>
          <p:cNvPr id="22" name="TextBox 21"/>
          <p:cNvSpPr txBox="1"/>
          <p:nvPr/>
        </p:nvSpPr>
        <p:spPr>
          <a:xfrm>
            <a:off x="7360920" y="3108960"/>
            <a:ext cx="1280160" cy="822960"/>
          </a:xfrm>
          <a:prstGeom prst="rect">
            <a:avLst/>
          </a:prstGeom>
          <a:noFill/>
        </p:spPr>
        <p:txBody>
          <a:bodyPr wrap="square">
            <a:spAutoFit/>
          </a:bodyPr>
          <a:lstStyle/>
          <a:p>
            <a:pPr>
              <a:lnSpc>
                <a:spcPct val="120000"/>
              </a:lnSpc>
              <a:defRPr sz="900">
                <a:solidFill>
                  <a:srgbClr val="475569"/>
                </a:solidFill>
              </a:defRPr>
            </a:pPr>
            <a:r>
              <a:t>Designed to Commissioner guidance</a:t>
            </a:r>
          </a:p>
        </p:txBody>
      </p:sp>
      <p:sp>
        <p:nvSpPr>
          <p:cNvPr id="23" name="TextBox 22"/>
          <p:cNvSpPr txBox="1"/>
          <p:nvPr/>
        </p:nvSpPr>
        <p:spPr>
          <a:xfrm>
            <a:off x="457200" y="4389120"/>
            <a:ext cx="8229600" cy="2103120"/>
          </a:xfrm>
          <a:prstGeom prst="rect">
            <a:avLst/>
          </a:prstGeom>
          <a:noFill/>
        </p:spPr>
        <p:txBody>
          <a:bodyPr wrap="square">
            <a:spAutoFit/>
          </a:bodyPr>
          <a:lstStyle/>
          <a:p>
            <a:pPr>
              <a:lnSpc>
                <a:spcPct val="130000"/>
              </a:lnSpc>
              <a:defRPr sz="1300">
                <a:solidFill>
                  <a:srgbClr val="0F172A"/>
                </a:solidFill>
              </a:defRPr>
            </a:pPr>
            <a:r>
              <a:t>The parents most concerned about AI safety are the ones most willing to pay once convinced. We don't dodge their concern — we lead with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