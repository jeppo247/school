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Jesse, founder of Upwise. In the next ten minutes I want to show you a business that I think is the clearest consumer opportunity in Australian education in a generation. Let's start with the problem every Australian parent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a parent sitting at the kitchen table. Their Year 3 child hands them a report card that says 'Developing — needs additional support.' They call the school. The teacher is managing 28 kids with one aide and has no time for intervention. This isn't hypothetical. 35% of Australian parents already pay for tutoring to close the gap. They're not buying ambition. They're buying reassurance that their child won't be left behind.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what this slide is not. It's not a hockey-stick forecast or a TAM calculation from a McKinsey report. It's the money Australian parents are spending right now, today, on supplemental learning that isn't built for them. Our job is redirection, not creation.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Bloom's 2-Sigma Problem, 1984: one-on-one mastery tutoring produces outcomes that classroom teaching can't match. We've known this for forty years. We couldn't do anything about it because one tutor per child wasn't economical. That changed, quietly, in the last eighteen months.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 minutes a day. Adaptive. Mastery-based. The kid can't jump ahead until they've actually understood. Which means every session builds on solid ground — no accumulating gaps.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deliberate bet. We're not replacing parents. We're not replacing teachers. We're giving parents the one thing they've always lacked: a map. What to say when their child is stuck. What to reinforce at dinner. Where the real gap is. The research — Bloom, Kulik, RAND, the 2025 meta-analysis — consistently finds the strongest outcomes come from AI-plus-human, not AI-alone.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credibility isn't 'we built an AI.' Our credibility is a forty-year research lineage that four generations of learning scientists agree on. Upwise is the first Australian operationalisation of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011680"/>
            <a:ext cx="8229600" cy="1371600"/>
          </a:xfrm>
          <a:prstGeom prst="rect">
            <a:avLst/>
          </a:prstGeom>
          <a:noFill/>
        </p:spPr>
        <p:txBody>
          <a:bodyPr wrap="none">
            <a:spAutoFit/>
          </a:bodyPr>
          <a:lstStyle/>
          <a:p>
            <a:pPr>
              <a:defRPr sz="7200" b="1">
                <a:solidFill>
                  <a:srgbClr val="F8F9FA"/>
                </a:solidFill>
              </a:defRPr>
            </a:pPr>
            <a:r>
              <a:t>Upwise</a:t>
            </a:r>
          </a:p>
        </p:txBody>
      </p:sp>
      <p:sp>
        <p:nvSpPr>
          <p:cNvPr id="3" name="TextBox 2"/>
          <p:cNvSpPr txBox="1"/>
          <p:nvPr/>
        </p:nvSpPr>
        <p:spPr>
          <a:xfrm>
            <a:off x="457200" y="3566160"/>
            <a:ext cx="8229600" cy="1828800"/>
          </a:xfrm>
          <a:prstGeom prst="rect">
            <a:avLst/>
          </a:prstGeom>
          <a:noFill/>
        </p:spPr>
        <p:txBody>
          <a:bodyPr wrap="square">
            <a:spAutoFit/>
          </a:bodyPr>
          <a:lstStyle/>
          <a:p>
            <a:pPr>
              <a:lnSpc>
                <a:spcPct val="140000"/>
              </a:lnSpc>
              <a:defRPr sz="2600">
                <a:solidFill>
                  <a:srgbClr val="C8D5DB"/>
                </a:solidFill>
              </a:defRPr>
            </a:pPr>
            <a:r>
              <a:t>Strong foundations in maths and English — built session by session.</a:t>
            </a:r>
          </a:p>
        </p:txBody>
      </p:sp>
      <p:sp>
        <p:nvSpPr>
          <p:cNvPr id="4" name="Rectangle 3"/>
          <p:cNvSpPr/>
          <p:nvPr/>
        </p:nvSpPr>
        <p:spPr>
          <a:xfrm>
            <a:off x="457200" y="3383280"/>
            <a:ext cx="1097280" cy="73152"/>
          </a:xfrm>
          <a:prstGeom prst="rect">
            <a:avLst/>
          </a:prstGeom>
          <a:solidFill>
            <a:srgbClr val="F96067"/>
          </a:solidFill>
          <a:ln>
            <a:solidFill>
              <a:srgbClr val="F960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126480"/>
            <a:ext cx="8229600" cy="548640"/>
          </a:xfrm>
          <a:prstGeom prst="rect">
            <a:avLst/>
          </a:prstGeom>
          <a:noFill/>
        </p:spPr>
        <p:txBody>
          <a:bodyPr wrap="none">
            <a:spAutoFit/>
          </a:bodyPr>
          <a:lstStyle/>
          <a:p>
            <a:pPr>
              <a:defRPr sz="1200">
                <a:solidFill>
                  <a:srgbClr val="818CF8"/>
                </a:solidFill>
              </a:defRPr>
            </a:pPr>
            <a:r>
              <a:t>Jesse, Founder · April 2026 · upwise.com.au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365760"/>
            <a:ext cx="8229600" cy="548640"/>
          </a:xfrm>
          <a:prstGeom prst="rect">
            <a:avLst/>
          </a:prstGeom>
          <a:noFill/>
        </p:spPr>
        <p:txBody>
          <a:bodyPr wrap="square">
            <a:spAutoFit/>
          </a:bodyPr>
          <a:lstStyle/>
          <a:p>
            <a:pPr>
              <a:defRPr sz="3200" b="1">
                <a:solidFill>
                  <a:srgbClr val="0F172A"/>
                </a:solidFill>
              </a:defRPr>
            </a:pPr>
            <a:r>
              <a:t>In a class of 28, your child doesn't stand a chance of being seen.</a:t>
            </a:r>
          </a:p>
        </p:txBody>
      </p:sp>
      <p:sp>
        <p:nvSpPr>
          <p:cNvPr id="3" name="TextBox 2"/>
          <p:cNvSpPr txBox="1"/>
          <p:nvPr/>
        </p:nvSpPr>
        <p:spPr>
          <a:xfrm>
            <a:off x="457200" y="1188720"/>
            <a:ext cx="3200400" cy="1645920"/>
          </a:xfrm>
          <a:prstGeom prst="rect">
            <a:avLst/>
          </a:prstGeom>
          <a:noFill/>
        </p:spPr>
        <p:txBody>
          <a:bodyPr wrap="none">
            <a:spAutoFit/>
          </a:bodyPr>
          <a:lstStyle/>
          <a:p>
            <a:pPr>
              <a:defRPr sz="7200" b="1">
                <a:solidFill>
                  <a:srgbClr val="F96067"/>
                </a:solidFill>
              </a:defRPr>
            </a:pPr>
            <a:r>
              <a:t>42%</a:t>
            </a:r>
          </a:p>
        </p:txBody>
      </p:sp>
      <p:sp>
        <p:nvSpPr>
          <p:cNvPr id="4" name="TextBox 3"/>
          <p:cNvSpPr txBox="1"/>
          <p:nvPr/>
        </p:nvSpPr>
        <p:spPr>
          <a:xfrm>
            <a:off x="457200" y="2834640"/>
            <a:ext cx="3200400" cy="548640"/>
          </a:xfrm>
          <a:prstGeom prst="rect">
            <a:avLst/>
          </a:prstGeom>
          <a:noFill/>
        </p:spPr>
        <p:txBody>
          <a:bodyPr wrap="square">
            <a:spAutoFit/>
          </a:bodyPr>
          <a:lstStyle/>
          <a:p>
            <a:pPr>
              <a:lnSpc>
                <a:spcPct val="120000"/>
              </a:lnSpc>
              <a:defRPr sz="1300">
                <a:solidFill>
                  <a:srgbClr val="475569"/>
                </a:solidFill>
              </a:defRPr>
            </a:pPr>
            <a:r>
              <a:t>of Australian schools teach with qualified teacher shortage (2025)</a:t>
            </a:r>
          </a:p>
        </p:txBody>
      </p:sp>
      <p:sp>
        <p:nvSpPr>
          <p:cNvPr id="5" name="TextBox 4"/>
          <p:cNvSpPr txBox="1"/>
          <p:nvPr/>
        </p:nvSpPr>
        <p:spPr>
          <a:xfrm>
            <a:off x="3931920" y="1188720"/>
            <a:ext cx="4754880" cy="4114800"/>
          </a:xfrm>
          <a:prstGeom prst="rect">
            <a:avLst/>
          </a:prstGeom>
          <a:noFill/>
        </p:spPr>
        <p:txBody>
          <a:bodyPr wrap="square">
            <a:spAutoFit/>
          </a:bodyPr>
          <a:lstStyle/>
          <a:p>
            <a:pPr>
              <a:spcAft>
                <a:spcPts val="200"/>
              </a:spcAft>
              <a:defRPr sz="1500" b="1">
                <a:solidFill>
                  <a:srgbClr val="0F172A"/>
                </a:solidFill>
              </a:defRPr>
            </a:pPr>
            <a:r>
              <a:t>82% of primary teachers report their job damages their mental health</a:t>
            </a:r>
          </a:p>
          <a:p>
            <a:pPr>
              <a:spcBef>
                <a:spcPts val="800"/>
              </a:spcBef>
              <a:spcAft>
                <a:spcPts val="200"/>
              </a:spcAft>
              <a:defRPr sz="1500" b="1">
                <a:solidFill>
                  <a:srgbClr val="0F172A"/>
                </a:solidFill>
              </a:defRPr>
            </a:pPr>
            <a:r>
              <a:t>1 in 3 Year 3 students below literacy proficiency</a:t>
            </a:r>
          </a:p>
          <a:p>
            <a:pPr>
              <a:spcBef>
                <a:spcPts val="800"/>
              </a:spcBef>
              <a:spcAft>
                <a:spcPts val="200"/>
              </a:spcAft>
              <a:defRPr sz="1500" b="1">
                <a:solidFill>
                  <a:srgbClr val="F96067"/>
                </a:solidFill>
              </a:defRPr>
            </a:pPr>
            <a:r>
              <a:t>Victoria's A$1.2B catch-up tutoring program 'did not significantly improve outcomes'</a:t>
            </a:r>
          </a:p>
          <a:p>
            <a:pPr>
              <a:spcBef>
                <a:spcPts val="0"/>
              </a:spcBef>
              <a:defRPr sz="1200">
                <a:solidFill>
                  <a:srgbClr val="475569"/>
                </a:solidFill>
              </a:defRPr>
            </a:pPr>
            <a:r>
              <a:t>— Auditor-General, 2024. The problem isn't money. It's the delivery model.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365760"/>
            <a:ext cx="8229600" cy="548640"/>
          </a:xfrm>
          <a:prstGeom prst="rect">
            <a:avLst/>
          </a:prstGeom>
          <a:noFill/>
        </p:spPr>
        <p:txBody>
          <a:bodyPr wrap="square">
            <a:spAutoFit/>
          </a:bodyPr>
          <a:lstStyle/>
          <a:p>
            <a:pPr>
              <a:defRPr sz="3200" b="1">
                <a:solidFill>
                  <a:srgbClr val="0F172A"/>
                </a:solidFill>
              </a:defRPr>
            </a:pPr>
            <a:r>
              <a:t>A$2.2 billion is already leaving Australian parents' wallets.</a:t>
            </a:r>
          </a:p>
        </p:txBody>
      </p:sp>
      <p:sp>
        <p:nvSpPr>
          <p:cNvPr id="3" name="TextBox 2"/>
          <p:cNvSpPr txBox="1"/>
          <p:nvPr/>
        </p:nvSpPr>
        <p:spPr>
          <a:xfrm>
            <a:off x="457200" y="1051560"/>
            <a:ext cx="8229600" cy="365760"/>
          </a:xfrm>
          <a:prstGeom prst="rect">
            <a:avLst/>
          </a:prstGeom>
          <a:noFill/>
        </p:spPr>
        <p:txBody>
          <a:bodyPr wrap="none">
            <a:spAutoFit/>
          </a:bodyPr>
          <a:lstStyle/>
          <a:p>
            <a:pPr>
              <a:defRPr sz="1400" i="1">
                <a:solidFill>
                  <a:srgbClr val="475569"/>
                </a:solidFill>
              </a:defRPr>
            </a:pPr>
            <a:r>
              <a:t>Here's what families actually pay for supplemental learning:</a:t>
            </a:r>
          </a:p>
        </p:txBody>
      </p:sp>
      <p:pic>
        <p:nvPicPr>
          <p:cNvPr id="4" name="Picture 3" descr="image.png"/>
          <p:cNvPicPr>
            <a:picLocks noChangeAspect="1"/>
          </p:cNvPicPr>
          <p:nvPr/>
        </p:nvPicPr>
        <p:blipFill>
          <a:blip r:embed="rId2"/>
          <a:stretch>
            <a:fillRect/>
          </a:stretch>
        </p:blipFill>
        <p:spPr>
          <a:xfrm>
            <a:off x="457200" y="1554480"/>
            <a:ext cx="8229600" cy="3200400"/>
          </a:xfrm>
          <a:prstGeom prst="rect">
            <a:avLst/>
          </a:prstGeom>
        </p:spPr>
      </p:pic>
      <p:sp>
        <p:nvSpPr>
          <p:cNvPr id="5" name="TextBox 4"/>
          <p:cNvSpPr txBox="1"/>
          <p:nvPr/>
        </p:nvSpPr>
        <p:spPr>
          <a:xfrm>
            <a:off x="457200" y="4937760"/>
            <a:ext cx="8229600" cy="1645920"/>
          </a:xfrm>
          <a:prstGeom prst="rect">
            <a:avLst/>
          </a:prstGeom>
          <a:noFill/>
        </p:spPr>
        <p:txBody>
          <a:bodyPr wrap="square">
            <a:spAutoFit/>
          </a:bodyPr>
          <a:lstStyle/>
          <a:p>
            <a:pPr>
              <a:spcAft>
                <a:spcPts val="800"/>
              </a:spcAft>
              <a:defRPr sz="1500" b="1">
                <a:solidFill>
                  <a:srgbClr val="0F172A"/>
                </a:solidFill>
              </a:defRPr>
            </a:pPr>
            <a:r>
              <a:t>35% of Australian parents already pay for tutoring. 18% spend A$100–150 per week.</a:t>
            </a:r>
          </a:p>
          <a:p>
            <a:pPr>
              <a:defRPr sz="1300" i="1">
                <a:solidFill>
                  <a:srgbClr val="475569"/>
                </a:solidFill>
              </a:defRPr>
            </a:pPr>
            <a:r>
              <a:t>Our job is redirection, not creation.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3200" b="1">
                <a:solidFill>
                  <a:srgbClr val="0F172A"/>
                </a:solidFill>
              </a:defRPr>
            </a:pPr>
            <a:r>
              <a:t>Why Now: Three Forces Converging</a:t>
            </a:r>
          </a:p>
        </p:txBody>
      </p:sp>
      <p:sp>
        <p:nvSpPr>
          <p:cNvPr id="3" name="TextBox 2"/>
          <p:cNvSpPr txBox="1"/>
          <p:nvPr/>
        </p:nvSpPr>
        <p:spPr>
          <a:xfrm>
            <a:off x="457200" y="960120"/>
            <a:ext cx="8229600" cy="274320"/>
          </a:xfrm>
          <a:prstGeom prst="rect">
            <a:avLst/>
          </a:prstGeom>
          <a:noFill/>
        </p:spPr>
        <p:txBody>
          <a:bodyPr wrap="none">
            <a:spAutoFit/>
          </a:bodyPr>
          <a:lstStyle/>
          <a:p>
            <a:pPr>
              <a:defRPr sz="1400" i="1">
                <a:solidFill>
                  <a:srgbClr val="475569"/>
                </a:solidFill>
              </a:defRPr>
            </a:pPr>
            <a:r>
              <a:t>The 2-Sigma solution, finally economical.</a:t>
            </a:r>
          </a:p>
        </p:txBody>
      </p:sp>
      <p:sp>
        <p:nvSpPr>
          <p:cNvPr id="4" name="Rectangle 3"/>
          <p:cNvSpPr/>
          <p:nvPr/>
        </p:nvSpPr>
        <p:spPr>
          <a:xfrm>
            <a:off x="457200" y="1417320"/>
            <a:ext cx="2606040" cy="3840480"/>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91640"/>
            <a:ext cx="2240280" cy="457200"/>
          </a:xfrm>
          <a:prstGeom prst="rect">
            <a:avLst/>
          </a:prstGeom>
          <a:noFill/>
        </p:spPr>
        <p:txBody>
          <a:bodyPr wrap="none">
            <a:spAutoFit/>
          </a:bodyPr>
          <a:lstStyle/>
          <a:p>
            <a:pPr>
              <a:defRPr sz="3600" b="1">
                <a:solidFill>
                  <a:srgbClr val="F96067"/>
                </a:solidFill>
              </a:defRPr>
            </a:pPr>
            <a:r>
              <a:t>1</a:t>
            </a:r>
          </a:p>
        </p:txBody>
      </p:sp>
      <p:sp>
        <p:nvSpPr>
          <p:cNvPr id="6" name="TextBox 5"/>
          <p:cNvSpPr txBox="1"/>
          <p:nvPr/>
        </p:nvSpPr>
        <p:spPr>
          <a:xfrm>
            <a:off x="640080" y="2240280"/>
            <a:ext cx="2240280" cy="640080"/>
          </a:xfrm>
          <a:prstGeom prst="rect">
            <a:avLst/>
          </a:prstGeom>
          <a:noFill/>
        </p:spPr>
        <p:txBody>
          <a:bodyPr wrap="square">
            <a:spAutoFit/>
          </a:bodyPr>
          <a:lstStyle/>
          <a:p>
            <a:pPr>
              <a:defRPr sz="1600" b="1">
                <a:solidFill>
                  <a:srgbClr val="0F172A"/>
                </a:solidFill>
              </a:defRPr>
            </a:pPr>
            <a:r>
              <a:t>The Science</a:t>
            </a:r>
          </a:p>
        </p:txBody>
      </p:sp>
      <p:sp>
        <p:nvSpPr>
          <p:cNvPr id="7" name="TextBox 6"/>
          <p:cNvSpPr txBox="1"/>
          <p:nvPr/>
        </p:nvSpPr>
        <p:spPr>
          <a:xfrm>
            <a:off x="640080" y="2971800"/>
            <a:ext cx="2240280" cy="2011680"/>
          </a:xfrm>
          <a:prstGeom prst="rect">
            <a:avLst/>
          </a:prstGeom>
          <a:noFill/>
        </p:spPr>
        <p:txBody>
          <a:bodyPr wrap="square">
            <a:spAutoFit/>
          </a:bodyPr>
          <a:lstStyle/>
          <a:p>
            <a:pPr>
              <a:lnSpc>
                <a:spcPct val="130000"/>
              </a:lnSpc>
              <a:defRPr sz="1200">
                <a:solidFill>
                  <a:srgbClr val="475569"/>
                </a:solidFill>
              </a:defRPr>
            </a:pPr>
            <a:r>
              <a:t>Bloom proved 1:1 mastery tutoring produces +2.0 standard deviations — 40 years of settled science.</a:t>
            </a:r>
          </a:p>
        </p:txBody>
      </p:sp>
      <p:sp>
        <p:nvSpPr>
          <p:cNvPr id="8" name="Rectangle 7"/>
          <p:cNvSpPr/>
          <p:nvPr/>
        </p:nvSpPr>
        <p:spPr>
          <a:xfrm>
            <a:off x="3337560" y="1417320"/>
            <a:ext cx="2606040" cy="3840480"/>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20440" y="1691640"/>
            <a:ext cx="2240280" cy="457200"/>
          </a:xfrm>
          <a:prstGeom prst="rect">
            <a:avLst/>
          </a:prstGeom>
          <a:noFill/>
        </p:spPr>
        <p:txBody>
          <a:bodyPr wrap="none">
            <a:spAutoFit/>
          </a:bodyPr>
          <a:lstStyle/>
          <a:p>
            <a:pPr>
              <a:defRPr sz="3600" b="1">
                <a:solidFill>
                  <a:srgbClr val="F96067"/>
                </a:solidFill>
              </a:defRPr>
            </a:pPr>
            <a:r>
              <a:t>2</a:t>
            </a:r>
          </a:p>
        </p:txBody>
      </p:sp>
      <p:sp>
        <p:nvSpPr>
          <p:cNvPr id="10" name="TextBox 9"/>
          <p:cNvSpPr txBox="1"/>
          <p:nvPr/>
        </p:nvSpPr>
        <p:spPr>
          <a:xfrm>
            <a:off x="3520440" y="2240280"/>
            <a:ext cx="2240280" cy="640080"/>
          </a:xfrm>
          <a:prstGeom prst="rect">
            <a:avLst/>
          </a:prstGeom>
          <a:noFill/>
        </p:spPr>
        <p:txBody>
          <a:bodyPr wrap="square">
            <a:spAutoFit/>
          </a:bodyPr>
          <a:lstStyle/>
          <a:p>
            <a:pPr>
              <a:defRPr sz="1600" b="1">
                <a:solidFill>
                  <a:srgbClr val="0F172A"/>
                </a:solidFill>
              </a:defRPr>
            </a:pPr>
            <a:r>
              <a:t>The Economics</a:t>
            </a:r>
          </a:p>
        </p:txBody>
      </p:sp>
      <p:sp>
        <p:nvSpPr>
          <p:cNvPr id="11" name="TextBox 10"/>
          <p:cNvSpPr txBox="1"/>
          <p:nvPr/>
        </p:nvSpPr>
        <p:spPr>
          <a:xfrm>
            <a:off x="3520440" y="2971800"/>
            <a:ext cx="2240280" cy="2011680"/>
          </a:xfrm>
          <a:prstGeom prst="rect">
            <a:avLst/>
          </a:prstGeom>
          <a:noFill/>
        </p:spPr>
        <p:txBody>
          <a:bodyPr wrap="square">
            <a:spAutoFit/>
          </a:bodyPr>
          <a:lstStyle/>
          <a:p>
            <a:pPr>
              <a:lnSpc>
                <a:spcPct val="130000"/>
              </a:lnSpc>
              <a:defRPr sz="1200">
                <a:solidFill>
                  <a:srgbClr val="475569"/>
                </a:solidFill>
              </a:defRPr>
            </a:pPr>
            <a:r>
              <a:t>LLM inference 150–1000× cheaper in 5 years. Personalised tutoring now affordable at consumer subscription price.</a:t>
            </a:r>
          </a:p>
        </p:txBody>
      </p:sp>
      <p:sp>
        <p:nvSpPr>
          <p:cNvPr id="12" name="Rectangle 11"/>
          <p:cNvSpPr/>
          <p:nvPr/>
        </p:nvSpPr>
        <p:spPr>
          <a:xfrm>
            <a:off x="6217920" y="1417320"/>
            <a:ext cx="2606040" cy="3840480"/>
          </a:xfrm>
          <a:prstGeom prst="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691640"/>
            <a:ext cx="2240280" cy="457200"/>
          </a:xfrm>
          <a:prstGeom prst="rect">
            <a:avLst/>
          </a:prstGeom>
          <a:noFill/>
        </p:spPr>
        <p:txBody>
          <a:bodyPr wrap="none">
            <a:spAutoFit/>
          </a:bodyPr>
          <a:lstStyle/>
          <a:p>
            <a:pPr>
              <a:defRPr sz="3600" b="1">
                <a:solidFill>
                  <a:srgbClr val="F96067"/>
                </a:solidFill>
              </a:defRPr>
            </a:pPr>
            <a:r>
              <a:t>3</a:t>
            </a:r>
          </a:p>
        </p:txBody>
      </p:sp>
      <p:sp>
        <p:nvSpPr>
          <p:cNvPr id="14" name="TextBox 13"/>
          <p:cNvSpPr txBox="1"/>
          <p:nvPr/>
        </p:nvSpPr>
        <p:spPr>
          <a:xfrm>
            <a:off x="6400800" y="2240280"/>
            <a:ext cx="2240280" cy="640080"/>
          </a:xfrm>
          <a:prstGeom prst="rect">
            <a:avLst/>
          </a:prstGeom>
          <a:noFill/>
        </p:spPr>
        <p:txBody>
          <a:bodyPr wrap="square">
            <a:spAutoFit/>
          </a:bodyPr>
          <a:lstStyle/>
          <a:p>
            <a:pPr>
              <a:defRPr sz="1600" b="1">
                <a:solidFill>
                  <a:srgbClr val="0F172A"/>
                </a:solidFill>
              </a:defRPr>
            </a:pPr>
            <a:r>
              <a:t>The Adoption</a:t>
            </a:r>
          </a:p>
        </p:txBody>
      </p:sp>
      <p:sp>
        <p:nvSpPr>
          <p:cNvPr id="15" name="TextBox 14"/>
          <p:cNvSpPr txBox="1"/>
          <p:nvPr/>
        </p:nvSpPr>
        <p:spPr>
          <a:xfrm>
            <a:off x="6400800" y="2971800"/>
            <a:ext cx="2240280" cy="2011680"/>
          </a:xfrm>
          <a:prstGeom prst="rect">
            <a:avLst/>
          </a:prstGeom>
          <a:noFill/>
        </p:spPr>
        <p:txBody>
          <a:bodyPr wrap="square">
            <a:spAutoFit/>
          </a:bodyPr>
          <a:lstStyle/>
          <a:p>
            <a:pPr>
              <a:lnSpc>
                <a:spcPct val="130000"/>
              </a:lnSpc>
              <a:defRPr sz="1200">
                <a:solidFill>
                  <a:srgbClr val="475569"/>
                </a:solidFill>
              </a:defRPr>
            </a:pPr>
            <a:r>
              <a:t>Parents normalised digital-first learning during lockdowns. Willingness to pay for purposeful screen education at all-time highs.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3200" b="1">
                <a:solidFill>
                  <a:srgbClr val="0F172A"/>
                </a:solidFill>
              </a:defRPr>
            </a:pPr>
            <a:r>
              <a:t>A mastery-based learning coach for every Australian child.</a:t>
            </a:r>
          </a:p>
        </p:txBody>
      </p:sp>
      <p:sp>
        <p:nvSpPr>
          <p:cNvPr id="3" name="Rectangle 2"/>
          <p:cNvSpPr/>
          <p:nvPr/>
        </p:nvSpPr>
        <p:spPr>
          <a:xfrm>
            <a:off x="502920" y="1280160"/>
            <a:ext cx="548640" cy="548640"/>
          </a:xfrm>
          <a:prstGeom prst="rect">
            <a:avLst/>
          </a:prstGeom>
          <a:solidFill>
            <a:srgbClr val="F96067"/>
          </a:solidFill>
          <a:ln>
            <a:solidFill>
              <a:srgbClr val="F960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80160"/>
            <a:ext cx="548640" cy="548640"/>
          </a:xfrm>
          <a:prstGeom prst="rect">
            <a:avLst/>
          </a:prstGeom>
          <a:noFill/>
        </p:spPr>
        <p:txBody>
          <a:bodyPr wrap="none" anchor="ctr">
            <a:spAutoFit/>
          </a:bodyPr>
          <a:lstStyle/>
          <a:p>
            <a:pPr algn="ctr">
              <a:defRPr sz="2400" b="1">
                <a:solidFill>
                  <a:srgbClr val="F8F9FA"/>
                </a:solidFill>
              </a:defRPr>
            </a:pPr>
            <a:r>
              <a:t>1</a:t>
            </a:r>
          </a:p>
        </p:txBody>
      </p:sp>
      <p:sp>
        <p:nvSpPr>
          <p:cNvPr id="5" name="TextBox 4"/>
          <p:cNvSpPr txBox="1"/>
          <p:nvPr/>
        </p:nvSpPr>
        <p:spPr>
          <a:xfrm>
            <a:off x="457200" y="2057400"/>
            <a:ext cx="2560320" cy="457200"/>
          </a:xfrm>
          <a:prstGeom prst="rect">
            <a:avLst/>
          </a:prstGeom>
          <a:noFill/>
        </p:spPr>
        <p:txBody>
          <a:bodyPr wrap="square">
            <a:spAutoFit/>
          </a:bodyPr>
          <a:lstStyle/>
          <a:p>
            <a:pPr>
              <a:defRPr sz="1800" b="1">
                <a:solidFill>
                  <a:srgbClr val="0F172A"/>
                </a:solidFill>
              </a:defRPr>
            </a:pPr>
            <a:r>
              <a:t>Diagnose</a:t>
            </a:r>
          </a:p>
        </p:txBody>
      </p:sp>
      <p:sp>
        <p:nvSpPr>
          <p:cNvPr id="6" name="TextBox 5"/>
          <p:cNvSpPr txBox="1"/>
          <p:nvPr/>
        </p:nvSpPr>
        <p:spPr>
          <a:xfrm>
            <a:off x="457200" y="2560320"/>
            <a:ext cx="2560320" cy="1371600"/>
          </a:xfrm>
          <a:prstGeom prst="rect">
            <a:avLst/>
          </a:prstGeom>
          <a:noFill/>
        </p:spPr>
        <p:txBody>
          <a:bodyPr wrap="square">
            <a:spAutoFit/>
          </a:bodyPr>
          <a:lstStyle/>
          <a:p>
            <a:pPr>
              <a:lnSpc>
                <a:spcPct val="130000"/>
              </a:lnSpc>
              <a:defRPr sz="1200">
                <a:solidFill>
                  <a:srgbClr val="475569"/>
                </a:solidFill>
              </a:defRPr>
            </a:pPr>
            <a:r>
              <a:t>Adaptive assessment pinpoints exact learning gaps</a:t>
            </a:r>
          </a:p>
        </p:txBody>
      </p:sp>
      <p:sp>
        <p:nvSpPr>
          <p:cNvPr id="7" name="Rectangle 6"/>
          <p:cNvSpPr/>
          <p:nvPr/>
        </p:nvSpPr>
        <p:spPr>
          <a:xfrm>
            <a:off x="3383280" y="1280160"/>
            <a:ext cx="548640" cy="548640"/>
          </a:xfrm>
          <a:prstGeom prst="rect">
            <a:avLst/>
          </a:prstGeom>
          <a:solidFill>
            <a:srgbClr val="F96067"/>
          </a:solidFill>
          <a:ln>
            <a:solidFill>
              <a:srgbClr val="F960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3280" y="1280160"/>
            <a:ext cx="548640" cy="548640"/>
          </a:xfrm>
          <a:prstGeom prst="rect">
            <a:avLst/>
          </a:prstGeom>
          <a:noFill/>
        </p:spPr>
        <p:txBody>
          <a:bodyPr wrap="none" anchor="ctr">
            <a:spAutoFit/>
          </a:bodyPr>
          <a:lstStyle/>
          <a:p>
            <a:pPr algn="ctr">
              <a:defRPr sz="2400" b="1">
                <a:solidFill>
                  <a:srgbClr val="F8F9FA"/>
                </a:solidFill>
              </a:defRPr>
            </a:pPr>
            <a:r>
              <a:t>2</a:t>
            </a:r>
          </a:p>
        </p:txBody>
      </p:sp>
      <p:sp>
        <p:nvSpPr>
          <p:cNvPr id="9" name="TextBox 8"/>
          <p:cNvSpPr txBox="1"/>
          <p:nvPr/>
        </p:nvSpPr>
        <p:spPr>
          <a:xfrm>
            <a:off x="3337560" y="2057400"/>
            <a:ext cx="2560320" cy="457200"/>
          </a:xfrm>
          <a:prstGeom prst="rect">
            <a:avLst/>
          </a:prstGeom>
          <a:noFill/>
        </p:spPr>
        <p:txBody>
          <a:bodyPr wrap="square">
            <a:spAutoFit/>
          </a:bodyPr>
          <a:lstStyle/>
          <a:p>
            <a:pPr>
              <a:defRPr sz="1800" b="1">
                <a:solidFill>
                  <a:srgbClr val="0F172A"/>
                </a:solidFill>
              </a:defRPr>
            </a:pPr>
            <a:r>
              <a:t>Learn</a:t>
            </a:r>
          </a:p>
        </p:txBody>
      </p:sp>
      <p:sp>
        <p:nvSpPr>
          <p:cNvPr id="10" name="TextBox 9"/>
          <p:cNvSpPr txBox="1"/>
          <p:nvPr/>
        </p:nvSpPr>
        <p:spPr>
          <a:xfrm>
            <a:off x="3337560" y="2560320"/>
            <a:ext cx="2560320" cy="1371600"/>
          </a:xfrm>
          <a:prstGeom prst="rect">
            <a:avLst/>
          </a:prstGeom>
          <a:noFill/>
        </p:spPr>
        <p:txBody>
          <a:bodyPr wrap="square">
            <a:spAutoFit/>
          </a:bodyPr>
          <a:lstStyle/>
          <a:p>
            <a:pPr>
              <a:lnSpc>
                <a:spcPct val="130000"/>
              </a:lnSpc>
              <a:defRPr sz="1200">
                <a:solidFill>
                  <a:srgbClr val="475569"/>
                </a:solidFill>
              </a:defRPr>
            </a:pPr>
            <a:r>
              <a:t>20 min/day in the 80% win-rate sweet spot</a:t>
            </a:r>
          </a:p>
        </p:txBody>
      </p:sp>
      <p:sp>
        <p:nvSpPr>
          <p:cNvPr id="11" name="Rectangle 10"/>
          <p:cNvSpPr/>
          <p:nvPr/>
        </p:nvSpPr>
        <p:spPr>
          <a:xfrm>
            <a:off x="6263640" y="1280160"/>
            <a:ext cx="548640" cy="548640"/>
          </a:xfrm>
          <a:prstGeom prst="rect">
            <a:avLst/>
          </a:prstGeom>
          <a:solidFill>
            <a:srgbClr val="F96067"/>
          </a:solidFill>
          <a:ln>
            <a:solidFill>
              <a:srgbClr val="F960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1280160"/>
            <a:ext cx="548640" cy="548640"/>
          </a:xfrm>
          <a:prstGeom prst="rect">
            <a:avLst/>
          </a:prstGeom>
          <a:noFill/>
        </p:spPr>
        <p:txBody>
          <a:bodyPr wrap="none" anchor="ctr">
            <a:spAutoFit/>
          </a:bodyPr>
          <a:lstStyle/>
          <a:p>
            <a:pPr algn="ctr">
              <a:defRPr sz="2400" b="1">
                <a:solidFill>
                  <a:srgbClr val="F8F9FA"/>
                </a:solidFill>
              </a:defRPr>
            </a:pPr>
            <a:r>
              <a:t>3</a:t>
            </a:r>
          </a:p>
        </p:txBody>
      </p:sp>
      <p:sp>
        <p:nvSpPr>
          <p:cNvPr id="13" name="TextBox 12"/>
          <p:cNvSpPr txBox="1"/>
          <p:nvPr/>
        </p:nvSpPr>
        <p:spPr>
          <a:xfrm>
            <a:off x="6217920" y="2057400"/>
            <a:ext cx="2560320" cy="457200"/>
          </a:xfrm>
          <a:prstGeom prst="rect">
            <a:avLst/>
          </a:prstGeom>
          <a:noFill/>
        </p:spPr>
        <p:txBody>
          <a:bodyPr wrap="square">
            <a:spAutoFit/>
          </a:bodyPr>
          <a:lstStyle/>
          <a:p>
            <a:pPr>
              <a:defRPr sz="1800" b="1">
                <a:solidFill>
                  <a:srgbClr val="0F172A"/>
                </a:solidFill>
              </a:defRPr>
            </a:pPr>
            <a:r>
              <a:t>Master</a:t>
            </a:r>
          </a:p>
        </p:txBody>
      </p:sp>
      <p:sp>
        <p:nvSpPr>
          <p:cNvPr id="14" name="TextBox 13"/>
          <p:cNvSpPr txBox="1"/>
          <p:nvPr/>
        </p:nvSpPr>
        <p:spPr>
          <a:xfrm>
            <a:off x="6217920" y="2560320"/>
            <a:ext cx="2560320" cy="1371600"/>
          </a:xfrm>
          <a:prstGeom prst="rect">
            <a:avLst/>
          </a:prstGeom>
          <a:noFill/>
        </p:spPr>
        <p:txBody>
          <a:bodyPr wrap="square">
            <a:spAutoFit/>
          </a:bodyPr>
          <a:lstStyle/>
          <a:p>
            <a:pPr>
              <a:lnSpc>
                <a:spcPct val="130000"/>
              </a:lnSpc>
              <a:defRPr sz="1200">
                <a:solidFill>
                  <a:srgbClr val="475569"/>
                </a:solidFill>
              </a:defRPr>
            </a:pPr>
            <a:r>
              <a:t>Skills lock after proven mastery</a:t>
            </a:r>
          </a:p>
        </p:txBody>
      </p:sp>
      <p:sp>
        <p:nvSpPr>
          <p:cNvPr id="15" name="TextBox 14"/>
          <p:cNvSpPr txBox="1"/>
          <p:nvPr/>
        </p:nvSpPr>
        <p:spPr>
          <a:xfrm>
            <a:off x="457200" y="4572000"/>
            <a:ext cx="8229600" cy="1645920"/>
          </a:xfrm>
          <a:prstGeom prst="rect">
            <a:avLst/>
          </a:prstGeom>
          <a:noFill/>
        </p:spPr>
        <p:txBody>
          <a:bodyPr wrap="square">
            <a:spAutoFit/>
          </a:bodyPr>
          <a:lstStyle/>
          <a:p>
            <a:pPr>
              <a:spcAft>
                <a:spcPts val="800"/>
              </a:spcAft>
              <a:defRPr sz="1300">
                <a:solidFill>
                  <a:srgbClr val="0F172A"/>
                </a:solidFill>
              </a:defRPr>
            </a:pPr>
            <a:r>
              <a:t>Scope: Maths, reading, writing, spelling, grammar. Prep–Year 6. ACARA-aligned.</a:t>
            </a:r>
          </a:p>
          <a:p>
            <a:pPr>
              <a:defRPr sz="1300" b="1">
                <a:solidFill>
                  <a:srgbClr val="0F172A"/>
                </a:solidFill>
              </a:defRPr>
            </a:pPr>
            <a:r>
              <a:t>Pricing: A$39/month single child · A$59/month family (up to 4 children)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3200" b="1">
                <a:solidFill>
                  <a:srgbClr val="0F172A"/>
                </a:solidFill>
              </a:defRPr>
            </a:pPr>
            <a:r>
              <a:t>The parent is the guide. We give them the map.</a:t>
            </a:r>
          </a:p>
        </p:txBody>
      </p:sp>
      <p:sp>
        <p:nvSpPr>
          <p:cNvPr id="3" name="TextBox 2"/>
          <p:cNvSpPr txBox="1"/>
          <p:nvPr/>
        </p:nvSpPr>
        <p:spPr>
          <a:xfrm>
            <a:off x="457200" y="1097280"/>
            <a:ext cx="4389120" cy="5029200"/>
          </a:xfrm>
          <a:prstGeom prst="rect">
            <a:avLst/>
          </a:prstGeom>
          <a:noFill/>
        </p:spPr>
        <p:txBody>
          <a:bodyPr wrap="square">
            <a:spAutoFit/>
          </a:bodyPr>
          <a:lstStyle/>
          <a:p>
            <a:pPr>
              <a:spcAft>
                <a:spcPts val="400"/>
              </a:spcAft>
              <a:defRPr sz="1400" b="1">
                <a:solidFill>
                  <a:srgbClr val="0F172A"/>
                </a:solidFill>
              </a:defRPr>
            </a:pPr>
            <a:r>
              <a:t>Daily briefing</a:t>
            </a:r>
          </a:p>
          <a:p>
            <a:pPr>
              <a:spcBef>
                <a:spcPts val="0"/>
              </a:spcBef>
              <a:spcAft>
                <a:spcPts val="1200"/>
              </a:spcAft>
              <a:defRPr sz="1200">
                <a:solidFill>
                  <a:srgbClr val="475569"/>
                </a:solidFill>
              </a:defRPr>
            </a:pPr>
            <a:r>
              <a:t>Before each session: what to watch for</a:t>
            </a:r>
          </a:p>
          <a:p>
            <a:pPr>
              <a:spcAft>
                <a:spcPts val="400"/>
              </a:spcAft>
              <a:defRPr sz="1400" b="1">
                <a:solidFill>
                  <a:srgbClr val="0F172A"/>
                </a:solidFill>
              </a:defRPr>
            </a:pPr>
            <a:r>
              <a:t>Real-time nudges</a:t>
            </a:r>
          </a:p>
          <a:p>
            <a:pPr>
              <a:spcBef>
                <a:spcPts val="0"/>
              </a:spcBef>
              <a:spcAft>
                <a:spcPts val="1200"/>
              </a:spcAft>
              <a:defRPr sz="1200">
                <a:solidFill>
                  <a:srgbClr val="475569"/>
                </a:solidFill>
              </a:defRPr>
            </a:pPr>
            <a:r>
              <a:t>Exact wording you can use when stuck</a:t>
            </a:r>
          </a:p>
          <a:p>
            <a:pPr>
              <a:spcAft>
                <a:spcPts val="400"/>
              </a:spcAft>
              <a:defRPr sz="1400" b="1">
                <a:solidFill>
                  <a:srgbClr val="0F172A"/>
                </a:solidFill>
              </a:defRPr>
            </a:pPr>
            <a:r>
              <a:t>Weekly reports</a:t>
            </a:r>
          </a:p>
          <a:p>
            <a:pPr>
              <a:spcBef>
                <a:spcPts val="0"/>
              </a:spcBef>
              <a:spcAft>
                <a:spcPts val="1200"/>
              </a:spcAft>
              <a:defRPr sz="1200">
                <a:solidFill>
                  <a:srgbClr val="475569"/>
                </a:solidFill>
              </a:defRPr>
            </a:pPr>
            <a:r>
              <a:t>Share directly with classroom teacher</a:t>
            </a:r>
          </a:p>
        </p:txBody>
      </p:sp>
      <p:sp>
        <p:nvSpPr>
          <p:cNvPr id="4" name="Rectangle 3"/>
          <p:cNvSpPr/>
          <p:nvPr/>
        </p:nvSpPr>
        <p:spPr>
          <a:xfrm>
            <a:off x="4846320" y="1097280"/>
            <a:ext cx="109728" cy="3200400"/>
          </a:xfrm>
          <a:prstGeom prst="rect">
            <a:avLst/>
          </a:prstGeom>
          <a:solidFill>
            <a:srgbClr val="F96067"/>
          </a:solidFill>
          <a:ln>
            <a:solidFill>
              <a:srgbClr val="F960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0" y="1097280"/>
            <a:ext cx="3657600" cy="3200400"/>
          </a:xfrm>
          <a:prstGeom prst="rect">
            <a:avLst/>
          </a:prstGeom>
          <a:noFill/>
        </p:spPr>
        <p:txBody>
          <a:bodyPr wrap="square">
            <a:spAutoFit/>
          </a:bodyPr>
          <a:lstStyle/>
          <a:p>
            <a:pPr>
              <a:lnSpc>
                <a:spcPct val="140000"/>
              </a:lnSpc>
              <a:spcAft>
                <a:spcPts val="1200"/>
              </a:spcAft>
              <a:defRPr sz="2400" b="1">
                <a:solidFill>
                  <a:srgbClr val="F96067"/>
                </a:solidFill>
              </a:defRPr>
            </a:pPr>
            <a:r>
              <a:t>No teaching degree required.</a:t>
            </a:r>
          </a:p>
          <a:p>
            <a:pPr>
              <a:lnSpc>
                <a:spcPct val="130000"/>
              </a:lnSpc>
              <a:defRPr sz="1200">
                <a:solidFill>
                  <a:srgbClr val="475569"/>
                </a:solidFill>
              </a:defRPr>
            </a:pPr>
            <a:r>
              <a:t>Every incumbent in Australia treats parents as data recipients. We treat them as the guide — which is where the research evidence is strongest.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TextBox 1"/>
          <p:cNvSpPr txBox="1"/>
          <p:nvPr/>
        </p:nvSpPr>
        <p:spPr>
          <a:xfrm>
            <a:off x="457200" y="365760"/>
            <a:ext cx="8229600" cy="548640"/>
          </a:xfrm>
          <a:prstGeom prst="rect">
            <a:avLst/>
          </a:prstGeom>
          <a:noFill/>
        </p:spPr>
        <p:txBody>
          <a:bodyPr wrap="none">
            <a:spAutoFit/>
          </a:bodyPr>
          <a:lstStyle/>
          <a:p>
            <a:pPr>
              <a:defRPr sz="3200" b="1">
                <a:solidFill>
                  <a:srgbClr val="0F172A"/>
                </a:solidFill>
              </a:defRPr>
            </a:pPr>
            <a:r>
              <a:t>This isn't experimental. It's proven. Four times over.</a:t>
            </a:r>
          </a:p>
        </p:txBody>
      </p:sp>
      <p:pic>
        <p:nvPicPr>
          <p:cNvPr id="3" name="Picture 2" descr="image.png"/>
          <p:cNvPicPr>
            <a:picLocks noChangeAspect="1"/>
          </p:cNvPicPr>
          <p:nvPr/>
        </p:nvPicPr>
        <p:blipFill>
          <a:blip r:embed="rId2"/>
          <a:stretch>
            <a:fillRect/>
          </a:stretch>
        </p:blipFill>
        <p:spPr>
          <a:xfrm>
            <a:off x="274320" y="1097280"/>
            <a:ext cx="8595360" cy="3657600"/>
          </a:xfrm>
          <a:prstGeom prst="rect">
            <a:avLst/>
          </a:prstGeom>
        </p:spPr>
      </p:pic>
      <p:sp>
        <p:nvSpPr>
          <p:cNvPr id="4" name="TextBox 3"/>
          <p:cNvSpPr txBox="1"/>
          <p:nvPr/>
        </p:nvSpPr>
        <p:spPr>
          <a:xfrm>
            <a:off x="457200" y="4937760"/>
            <a:ext cx="8229600" cy="1645920"/>
          </a:xfrm>
          <a:prstGeom prst="rect">
            <a:avLst/>
          </a:prstGeom>
          <a:noFill/>
        </p:spPr>
        <p:txBody>
          <a:bodyPr wrap="square">
            <a:spAutoFit/>
          </a:bodyPr>
          <a:lstStyle/>
          <a:p>
            <a:pPr>
              <a:spcAft>
                <a:spcPts val="600"/>
              </a:spcAft>
              <a:defRPr sz="1300" b="1">
                <a:solidFill>
                  <a:srgbClr val="0F172A"/>
                </a:solidFill>
              </a:defRPr>
            </a:pPr>
            <a:r>
              <a:t>Upwise is the first Australian operationalisation of forty years of validated learning science.</a:t>
            </a:r>
          </a:p>
          <a:p>
            <a:pPr>
              <a:defRPr sz="1000" i="1">
                <a:solidFill>
                  <a:srgbClr val="78828C"/>
                </a:solidFill>
              </a:defRPr>
            </a:pPr>
            <a:r>
              <a:t>Sources: Bloom 1984 · Kulik &amp; Kulik 1990 · Pane et al. (RAND) 2014 · 2025 AI tutoring meta-analysis (48 studies)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