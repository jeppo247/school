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Jesse, founder of Upwise. In the next ten minutes I want to show you a business that I think is the clearest consumer opportunity in Australian education in a generation. Let's start with the problem every Australian parent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parent sitting at the kitchen table. Their Year 3 child hands them a report card that says 'Developing — needs additional support.' They call the school. The teacher is managing 28 kids with one aide and has no time for intervention. This isn't hypothetical. 35% of Australian parents already pay for tutoring to close the gap. They're not buying ambition. They're buying reassurance that their child won't be left behind.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what this slide is not. It's not a hockey-stick forecast or a TAM calculation from a McKinsey report. It's the money Australian parents are spending right now, today, on supplemental learning that isn't built for them. Our job is redirection, not creation.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Bloom's 2-Sigma Problem, 1984: one-on-one mastery tutoring produces outcomes that classroom teaching can't match. We've known this for forty years. We couldn't do anything about it because one tutor per child wasn't economical. That changed, quietly, in the last eighteen months.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011680"/>
            <a:ext cx="8229600" cy="1371600"/>
          </a:xfrm>
          <a:prstGeom prst="rect">
            <a:avLst/>
          </a:prstGeom>
          <a:noFill/>
        </p:spPr>
        <p:txBody>
          <a:bodyPr wrap="none">
            <a:spAutoFit/>
          </a:bodyPr>
          <a:lstStyle/>
          <a:p>
            <a:pPr>
              <a:defRPr sz="7200" b="1">
                <a:solidFill>
                  <a:srgbClr val="F8F9FA"/>
                </a:solidFill>
              </a:defRPr>
            </a:pPr>
            <a:r>
              <a:t>Upwise</a:t>
            </a:r>
          </a:p>
        </p:txBody>
      </p:sp>
      <p:sp>
        <p:nvSpPr>
          <p:cNvPr id="3" name="TextBox 2"/>
          <p:cNvSpPr txBox="1"/>
          <p:nvPr/>
        </p:nvSpPr>
        <p:spPr>
          <a:xfrm>
            <a:off x="457200" y="3566160"/>
            <a:ext cx="8229600" cy="1828800"/>
          </a:xfrm>
          <a:prstGeom prst="rect">
            <a:avLst/>
          </a:prstGeom>
          <a:noFill/>
        </p:spPr>
        <p:txBody>
          <a:bodyPr wrap="square">
            <a:spAutoFit/>
          </a:bodyPr>
          <a:lstStyle/>
          <a:p>
            <a:pPr>
              <a:lnSpc>
                <a:spcPct val="140000"/>
              </a:lnSpc>
              <a:defRPr sz="2600">
                <a:solidFill>
                  <a:srgbClr val="C8D5DB"/>
                </a:solidFill>
              </a:defRPr>
            </a:pPr>
            <a:r>
              <a:t>Strong foundations in maths and English — built session by session.</a:t>
            </a:r>
          </a:p>
        </p:txBody>
      </p:sp>
      <p:sp>
        <p:nvSpPr>
          <p:cNvPr id="4" name="Rectangle 3"/>
          <p:cNvSpPr/>
          <p:nvPr/>
        </p:nvSpPr>
        <p:spPr>
          <a:xfrm>
            <a:off x="457200" y="3383280"/>
            <a:ext cx="1097280" cy="73152"/>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126480"/>
            <a:ext cx="8229600" cy="548640"/>
          </a:xfrm>
          <a:prstGeom prst="rect">
            <a:avLst/>
          </a:prstGeom>
          <a:noFill/>
        </p:spPr>
        <p:txBody>
          <a:bodyPr wrap="none">
            <a:spAutoFit/>
          </a:bodyPr>
          <a:lstStyle/>
          <a:p>
            <a:pPr>
              <a:defRPr sz="1200">
                <a:solidFill>
                  <a:srgbClr val="818CF8"/>
                </a:solidFill>
              </a:defRPr>
            </a:pPr>
            <a:r>
              <a:t>Jesse, Founder · April 2026 · upwise.com.au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square">
            <a:spAutoFit/>
          </a:bodyPr>
          <a:lstStyle/>
          <a:p>
            <a:pPr>
              <a:defRPr sz="3200" b="1">
                <a:solidFill>
                  <a:srgbClr val="0F172A"/>
                </a:solidFill>
              </a:defRPr>
            </a:pPr>
            <a:r>
              <a:t>In a class of 28, your child doesn't stand a chance of being seen.</a:t>
            </a:r>
          </a:p>
        </p:txBody>
      </p:sp>
      <p:sp>
        <p:nvSpPr>
          <p:cNvPr id="3" name="TextBox 2"/>
          <p:cNvSpPr txBox="1"/>
          <p:nvPr/>
        </p:nvSpPr>
        <p:spPr>
          <a:xfrm>
            <a:off x="457200" y="1188720"/>
            <a:ext cx="3200400" cy="1645920"/>
          </a:xfrm>
          <a:prstGeom prst="rect">
            <a:avLst/>
          </a:prstGeom>
          <a:noFill/>
        </p:spPr>
        <p:txBody>
          <a:bodyPr wrap="none">
            <a:spAutoFit/>
          </a:bodyPr>
          <a:lstStyle/>
          <a:p>
            <a:pPr>
              <a:defRPr sz="7200" b="1">
                <a:solidFill>
                  <a:srgbClr val="F96067"/>
                </a:solidFill>
              </a:defRPr>
            </a:pPr>
            <a:r>
              <a:t>42%</a:t>
            </a:r>
          </a:p>
        </p:txBody>
      </p:sp>
      <p:sp>
        <p:nvSpPr>
          <p:cNvPr id="4" name="TextBox 3"/>
          <p:cNvSpPr txBox="1"/>
          <p:nvPr/>
        </p:nvSpPr>
        <p:spPr>
          <a:xfrm>
            <a:off x="457200" y="2834640"/>
            <a:ext cx="3200400" cy="548640"/>
          </a:xfrm>
          <a:prstGeom prst="rect">
            <a:avLst/>
          </a:prstGeom>
          <a:noFill/>
        </p:spPr>
        <p:txBody>
          <a:bodyPr wrap="square">
            <a:spAutoFit/>
          </a:bodyPr>
          <a:lstStyle/>
          <a:p>
            <a:pPr>
              <a:lnSpc>
                <a:spcPct val="120000"/>
              </a:lnSpc>
              <a:defRPr sz="1300">
                <a:solidFill>
                  <a:srgbClr val="475569"/>
                </a:solidFill>
              </a:defRPr>
            </a:pPr>
            <a:r>
              <a:t>of Australian schools teach with qualified teacher shortage (2025)</a:t>
            </a:r>
          </a:p>
        </p:txBody>
      </p:sp>
      <p:sp>
        <p:nvSpPr>
          <p:cNvPr id="5" name="TextBox 4"/>
          <p:cNvSpPr txBox="1"/>
          <p:nvPr/>
        </p:nvSpPr>
        <p:spPr>
          <a:xfrm>
            <a:off x="3931920" y="1188720"/>
            <a:ext cx="4754880" cy="4114800"/>
          </a:xfrm>
          <a:prstGeom prst="rect">
            <a:avLst/>
          </a:prstGeom>
          <a:noFill/>
        </p:spPr>
        <p:txBody>
          <a:bodyPr wrap="square">
            <a:spAutoFit/>
          </a:bodyPr>
          <a:lstStyle/>
          <a:p>
            <a:pPr>
              <a:spcAft>
                <a:spcPts val="200"/>
              </a:spcAft>
              <a:defRPr sz="1500" b="1">
                <a:solidFill>
                  <a:srgbClr val="0F172A"/>
                </a:solidFill>
              </a:defRPr>
            </a:pPr>
            <a:r>
              <a:t>82% of primary teachers report their job damages their mental health</a:t>
            </a:r>
          </a:p>
          <a:p>
            <a:pPr>
              <a:spcBef>
                <a:spcPts val="800"/>
              </a:spcBef>
              <a:spcAft>
                <a:spcPts val="200"/>
              </a:spcAft>
              <a:defRPr sz="1500" b="1">
                <a:solidFill>
                  <a:srgbClr val="0F172A"/>
                </a:solidFill>
              </a:defRPr>
            </a:pPr>
            <a:r>
              <a:t>1 in 3 Year 3 students below literacy proficiency</a:t>
            </a:r>
          </a:p>
          <a:p>
            <a:pPr>
              <a:spcBef>
                <a:spcPts val="800"/>
              </a:spcBef>
              <a:spcAft>
                <a:spcPts val="200"/>
              </a:spcAft>
              <a:defRPr sz="1500" b="1">
                <a:solidFill>
                  <a:srgbClr val="F96067"/>
                </a:solidFill>
              </a:defRPr>
            </a:pPr>
            <a:r>
              <a:t>Victoria's A$1.2B catch-up tutoring program 'did not significantly improve outcomes'</a:t>
            </a:r>
          </a:p>
          <a:p>
            <a:pPr>
              <a:spcBef>
                <a:spcPts val="0"/>
              </a:spcBef>
              <a:defRPr sz="1200">
                <a:solidFill>
                  <a:srgbClr val="475569"/>
                </a:solidFill>
              </a:defRPr>
            </a:pPr>
            <a:r>
              <a:t>— Auditor-General, 2024. The problem isn't money. It's the delivery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square">
            <a:spAutoFit/>
          </a:bodyPr>
          <a:lstStyle/>
          <a:p>
            <a:pPr>
              <a:defRPr sz="3200" b="1">
                <a:solidFill>
                  <a:srgbClr val="0F172A"/>
                </a:solidFill>
              </a:defRPr>
            </a:pPr>
            <a:r>
              <a:t>A$2.2 billion is already leaving Australian parents' wallets.</a:t>
            </a:r>
          </a:p>
        </p:txBody>
      </p:sp>
      <p:sp>
        <p:nvSpPr>
          <p:cNvPr id="3" name="TextBox 2"/>
          <p:cNvSpPr txBox="1"/>
          <p:nvPr/>
        </p:nvSpPr>
        <p:spPr>
          <a:xfrm>
            <a:off x="457200" y="1051560"/>
            <a:ext cx="8229600" cy="365760"/>
          </a:xfrm>
          <a:prstGeom prst="rect">
            <a:avLst/>
          </a:prstGeom>
          <a:noFill/>
        </p:spPr>
        <p:txBody>
          <a:bodyPr wrap="none">
            <a:spAutoFit/>
          </a:bodyPr>
          <a:lstStyle/>
          <a:p>
            <a:pPr>
              <a:defRPr sz="1400" i="1">
                <a:solidFill>
                  <a:srgbClr val="475569"/>
                </a:solidFill>
              </a:defRPr>
            </a:pPr>
            <a:r>
              <a:t>Here's what families actually pay for supplemental learning:</a:t>
            </a:r>
          </a:p>
        </p:txBody>
      </p:sp>
      <p:pic>
        <p:nvPicPr>
          <p:cNvPr id="4" name="Picture 3" descr="image.png"/>
          <p:cNvPicPr>
            <a:picLocks noChangeAspect="1"/>
          </p:cNvPicPr>
          <p:nvPr/>
        </p:nvPicPr>
        <p:blipFill>
          <a:blip r:embed="rId2"/>
          <a:stretch>
            <a:fillRect/>
          </a:stretch>
        </p:blipFill>
        <p:spPr>
          <a:xfrm>
            <a:off x="457200" y="1554480"/>
            <a:ext cx="8229600" cy="3200400"/>
          </a:xfrm>
          <a:prstGeom prst="rect">
            <a:avLst/>
          </a:prstGeom>
        </p:spPr>
      </p:pic>
      <p:sp>
        <p:nvSpPr>
          <p:cNvPr id="5" name="TextBox 4"/>
          <p:cNvSpPr txBox="1"/>
          <p:nvPr/>
        </p:nvSpPr>
        <p:spPr>
          <a:xfrm>
            <a:off x="457200" y="4937760"/>
            <a:ext cx="8229600" cy="1645920"/>
          </a:xfrm>
          <a:prstGeom prst="rect">
            <a:avLst/>
          </a:prstGeom>
          <a:noFill/>
        </p:spPr>
        <p:txBody>
          <a:bodyPr wrap="square">
            <a:spAutoFit/>
          </a:bodyPr>
          <a:lstStyle/>
          <a:p>
            <a:pPr>
              <a:spcAft>
                <a:spcPts val="800"/>
              </a:spcAft>
              <a:defRPr sz="1500" b="1">
                <a:solidFill>
                  <a:srgbClr val="0F172A"/>
                </a:solidFill>
              </a:defRPr>
            </a:pPr>
            <a:r>
              <a:t>35% of Australian parents already pay for tutoring. 18% spend A$100–150 per week.</a:t>
            </a:r>
          </a:p>
          <a:p>
            <a:pPr>
              <a:defRPr sz="1300" i="1">
                <a:solidFill>
                  <a:srgbClr val="475569"/>
                </a:solidFill>
              </a:defRPr>
            </a:pPr>
            <a:r>
              <a:t>Our job is redirection, not creation.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F172A"/>
                </a:solidFill>
              </a:defRPr>
            </a:pPr>
            <a:r>
              <a:t>Why Now: Three Forces Converging</a:t>
            </a:r>
          </a:p>
        </p:txBody>
      </p:sp>
      <p:sp>
        <p:nvSpPr>
          <p:cNvPr id="3" name="TextBox 2"/>
          <p:cNvSpPr txBox="1"/>
          <p:nvPr/>
        </p:nvSpPr>
        <p:spPr>
          <a:xfrm>
            <a:off x="457200" y="960120"/>
            <a:ext cx="8229600" cy="274320"/>
          </a:xfrm>
          <a:prstGeom prst="rect">
            <a:avLst/>
          </a:prstGeom>
          <a:noFill/>
        </p:spPr>
        <p:txBody>
          <a:bodyPr wrap="none">
            <a:spAutoFit/>
          </a:bodyPr>
          <a:lstStyle/>
          <a:p>
            <a:pPr>
              <a:defRPr sz="1400" i="1">
                <a:solidFill>
                  <a:srgbClr val="475569"/>
                </a:solidFill>
              </a:defRPr>
            </a:pPr>
            <a:r>
              <a:t>The 2-Sigma solution, finally economical.</a:t>
            </a:r>
          </a:p>
        </p:txBody>
      </p:sp>
      <p:sp>
        <p:nvSpPr>
          <p:cNvPr id="4" name="Rectangle 3"/>
          <p:cNvSpPr/>
          <p:nvPr/>
        </p:nvSpPr>
        <p:spPr>
          <a:xfrm>
            <a:off x="457200" y="1417320"/>
            <a:ext cx="2606040" cy="38404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2240280" cy="457200"/>
          </a:xfrm>
          <a:prstGeom prst="rect">
            <a:avLst/>
          </a:prstGeom>
          <a:noFill/>
        </p:spPr>
        <p:txBody>
          <a:bodyPr wrap="none">
            <a:spAutoFit/>
          </a:bodyPr>
          <a:lstStyle/>
          <a:p>
            <a:pPr>
              <a:defRPr sz="3600" b="1">
                <a:solidFill>
                  <a:srgbClr val="F96067"/>
                </a:solidFill>
              </a:defRPr>
            </a:pPr>
            <a:r>
              <a:t>1</a:t>
            </a:r>
          </a:p>
        </p:txBody>
      </p:sp>
      <p:sp>
        <p:nvSpPr>
          <p:cNvPr id="6" name="TextBox 5"/>
          <p:cNvSpPr txBox="1"/>
          <p:nvPr/>
        </p:nvSpPr>
        <p:spPr>
          <a:xfrm>
            <a:off x="640080" y="2240280"/>
            <a:ext cx="2240280" cy="640080"/>
          </a:xfrm>
          <a:prstGeom prst="rect">
            <a:avLst/>
          </a:prstGeom>
          <a:noFill/>
        </p:spPr>
        <p:txBody>
          <a:bodyPr wrap="square">
            <a:spAutoFit/>
          </a:bodyPr>
          <a:lstStyle/>
          <a:p>
            <a:pPr>
              <a:defRPr sz="1600" b="1">
                <a:solidFill>
                  <a:srgbClr val="0F172A"/>
                </a:solidFill>
              </a:defRPr>
            </a:pPr>
            <a:r>
              <a:t>The Science</a:t>
            </a:r>
          </a:p>
        </p:txBody>
      </p:sp>
      <p:sp>
        <p:nvSpPr>
          <p:cNvPr id="7" name="TextBox 6"/>
          <p:cNvSpPr txBox="1"/>
          <p:nvPr/>
        </p:nvSpPr>
        <p:spPr>
          <a:xfrm>
            <a:off x="640080" y="2971800"/>
            <a:ext cx="2240280" cy="2011680"/>
          </a:xfrm>
          <a:prstGeom prst="rect">
            <a:avLst/>
          </a:prstGeom>
          <a:noFill/>
        </p:spPr>
        <p:txBody>
          <a:bodyPr wrap="square">
            <a:spAutoFit/>
          </a:bodyPr>
          <a:lstStyle/>
          <a:p>
            <a:pPr>
              <a:lnSpc>
                <a:spcPct val="130000"/>
              </a:lnSpc>
              <a:defRPr sz="1200">
                <a:solidFill>
                  <a:srgbClr val="475569"/>
                </a:solidFill>
              </a:defRPr>
            </a:pPr>
            <a:r>
              <a:t>Bloom proved 1:1 mastery tutoring produces +2.0 standard deviations — 40 years of settled science.</a:t>
            </a:r>
          </a:p>
        </p:txBody>
      </p:sp>
      <p:sp>
        <p:nvSpPr>
          <p:cNvPr id="8" name="Rectangle 7"/>
          <p:cNvSpPr/>
          <p:nvPr/>
        </p:nvSpPr>
        <p:spPr>
          <a:xfrm>
            <a:off x="3337560" y="1417320"/>
            <a:ext cx="2606040" cy="38404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0440" y="1691640"/>
            <a:ext cx="2240280" cy="457200"/>
          </a:xfrm>
          <a:prstGeom prst="rect">
            <a:avLst/>
          </a:prstGeom>
          <a:noFill/>
        </p:spPr>
        <p:txBody>
          <a:bodyPr wrap="none">
            <a:spAutoFit/>
          </a:bodyPr>
          <a:lstStyle/>
          <a:p>
            <a:pPr>
              <a:defRPr sz="3600" b="1">
                <a:solidFill>
                  <a:srgbClr val="F96067"/>
                </a:solidFill>
              </a:defRPr>
            </a:pPr>
            <a:r>
              <a:t>2</a:t>
            </a:r>
          </a:p>
        </p:txBody>
      </p:sp>
      <p:sp>
        <p:nvSpPr>
          <p:cNvPr id="10" name="TextBox 9"/>
          <p:cNvSpPr txBox="1"/>
          <p:nvPr/>
        </p:nvSpPr>
        <p:spPr>
          <a:xfrm>
            <a:off x="3520440" y="2240280"/>
            <a:ext cx="2240280" cy="640080"/>
          </a:xfrm>
          <a:prstGeom prst="rect">
            <a:avLst/>
          </a:prstGeom>
          <a:noFill/>
        </p:spPr>
        <p:txBody>
          <a:bodyPr wrap="square">
            <a:spAutoFit/>
          </a:bodyPr>
          <a:lstStyle/>
          <a:p>
            <a:pPr>
              <a:defRPr sz="1600" b="1">
                <a:solidFill>
                  <a:srgbClr val="0F172A"/>
                </a:solidFill>
              </a:defRPr>
            </a:pPr>
            <a:r>
              <a:t>The Economics</a:t>
            </a:r>
          </a:p>
        </p:txBody>
      </p:sp>
      <p:sp>
        <p:nvSpPr>
          <p:cNvPr id="11" name="TextBox 10"/>
          <p:cNvSpPr txBox="1"/>
          <p:nvPr/>
        </p:nvSpPr>
        <p:spPr>
          <a:xfrm>
            <a:off x="3520440" y="2971800"/>
            <a:ext cx="2240280" cy="2011680"/>
          </a:xfrm>
          <a:prstGeom prst="rect">
            <a:avLst/>
          </a:prstGeom>
          <a:noFill/>
        </p:spPr>
        <p:txBody>
          <a:bodyPr wrap="square">
            <a:spAutoFit/>
          </a:bodyPr>
          <a:lstStyle/>
          <a:p>
            <a:pPr>
              <a:lnSpc>
                <a:spcPct val="130000"/>
              </a:lnSpc>
              <a:defRPr sz="1200">
                <a:solidFill>
                  <a:srgbClr val="475569"/>
                </a:solidFill>
              </a:defRPr>
            </a:pPr>
            <a:r>
              <a:t>LLM inference 150–1000× cheaper in 5 years. Personalised tutoring now affordable at consumer subscription price.</a:t>
            </a:r>
          </a:p>
        </p:txBody>
      </p:sp>
      <p:sp>
        <p:nvSpPr>
          <p:cNvPr id="12" name="Rectangle 11"/>
          <p:cNvSpPr/>
          <p:nvPr/>
        </p:nvSpPr>
        <p:spPr>
          <a:xfrm>
            <a:off x="6217920" y="1417320"/>
            <a:ext cx="2606040" cy="38404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691640"/>
            <a:ext cx="2240280" cy="457200"/>
          </a:xfrm>
          <a:prstGeom prst="rect">
            <a:avLst/>
          </a:prstGeom>
          <a:noFill/>
        </p:spPr>
        <p:txBody>
          <a:bodyPr wrap="none">
            <a:spAutoFit/>
          </a:bodyPr>
          <a:lstStyle/>
          <a:p>
            <a:pPr>
              <a:defRPr sz="3600" b="1">
                <a:solidFill>
                  <a:srgbClr val="F96067"/>
                </a:solidFill>
              </a:defRPr>
            </a:pPr>
            <a:r>
              <a:t>3</a:t>
            </a:r>
          </a:p>
        </p:txBody>
      </p:sp>
      <p:sp>
        <p:nvSpPr>
          <p:cNvPr id="14" name="TextBox 13"/>
          <p:cNvSpPr txBox="1"/>
          <p:nvPr/>
        </p:nvSpPr>
        <p:spPr>
          <a:xfrm>
            <a:off x="6400800" y="2240280"/>
            <a:ext cx="2240280" cy="640080"/>
          </a:xfrm>
          <a:prstGeom prst="rect">
            <a:avLst/>
          </a:prstGeom>
          <a:noFill/>
        </p:spPr>
        <p:txBody>
          <a:bodyPr wrap="square">
            <a:spAutoFit/>
          </a:bodyPr>
          <a:lstStyle/>
          <a:p>
            <a:pPr>
              <a:defRPr sz="1600" b="1">
                <a:solidFill>
                  <a:srgbClr val="0F172A"/>
                </a:solidFill>
              </a:defRPr>
            </a:pPr>
            <a:r>
              <a:t>The Adoption</a:t>
            </a:r>
          </a:p>
        </p:txBody>
      </p:sp>
      <p:sp>
        <p:nvSpPr>
          <p:cNvPr id="15" name="TextBox 14"/>
          <p:cNvSpPr txBox="1"/>
          <p:nvPr/>
        </p:nvSpPr>
        <p:spPr>
          <a:xfrm>
            <a:off x="6400800" y="2971800"/>
            <a:ext cx="2240280" cy="2011680"/>
          </a:xfrm>
          <a:prstGeom prst="rect">
            <a:avLst/>
          </a:prstGeom>
          <a:noFill/>
        </p:spPr>
        <p:txBody>
          <a:bodyPr wrap="square">
            <a:spAutoFit/>
          </a:bodyPr>
          <a:lstStyle/>
          <a:p>
            <a:pPr>
              <a:lnSpc>
                <a:spcPct val="130000"/>
              </a:lnSpc>
              <a:defRPr sz="1200">
                <a:solidFill>
                  <a:srgbClr val="475569"/>
                </a:solidFill>
              </a:defRPr>
            </a:pPr>
            <a:r>
              <a:t>Parents normalised digital-first learning during lockdowns. Willingness to pay for purposeful screen education at all-time highs.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